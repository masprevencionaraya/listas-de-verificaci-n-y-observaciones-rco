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27261fb3-197e-93d5-9045-57fa2a6cbb0c}">
          <p14:sldIdLst>
            <p14:sldId id="256"/>
          </p14:sldIdLst>
        </p14:section>
        <p14:section name="Resumen" id="{f66d5133-ee38-5aba-682c-87b423485f97}">
          <p14:sldIdLst>
            <p14:sldId id="257"/>
          </p14:sldIdLst>
        </p14:section>
        <p14:section name="Hallazgo 1 · Extensión eléctrica" id="{4772f9e5-e646-a2be-fee3-701fa8a3782b}">
          <p14:sldIdLst>
            <p14:sldId id="258"/>
            <p14:sldId id="259"/>
            <p14:sldId id="260"/>
          </p14:sldIdLst>
        </p14:section>
        <p14:section name="Hallazgo 2 · Extintor" id="{ebd8b9d1-1808-9161-e766-d023a0ec6328}">
          <p14:sldIdLst>
            <p14:sldId id="261"/>
          </p14:sldIdLst>
        </p14:section>
        <p14:section name="Plan de acción" id="{06dd9297-99d7-5f7a-2514-78e95b818442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F2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56692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Inspección de Seguridad · 28-10-2026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jpg"/><Relationship Id="rId5" Type="http://schemas.openxmlformats.org/officeDocument/2006/relationships/image" Target="../media/image-4-5.jp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vo círculo"/>
          <p:cNvSpPr/>
          <p:nvPr/>
        </p:nvSpPr>
        <p:spPr>
          <a:xfrm>
            <a:off x="548640" y="548640"/>
            <a:ext cx="685800" cy="6858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3" name="Motivo 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720090"/>
            <a:ext cx="342900" cy="34290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Inspección de Seguridad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292608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Sala eléctrica · Registro fotográfico 28-10-2026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Observaciones: instalación eléctrica provisoria y equipos de extinción</a:t>
            </a:r>
            <a:endParaRPr lang="en-US" sz="1600" dirty="0"/>
          </a:p>
        </p:txBody>
      </p:sp>
      <p:pic>
        <p:nvPicPr>
          <p:cNvPr id="6" name="Foto portada" descr="/tmp/claude-0/-home-user-Listas-de-Verificaci-n-y-Observaciones-RCO/95db64e0-5329-5eb7-9b55-a408b631852a/scratchpad/img/p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3680" y="0"/>
            <a:ext cx="256032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Dos observaciones detectadas en terreno</a:t>
            </a:r>
            <a:endParaRPr lang="en-US" sz="2600" dirty="0"/>
          </a:p>
        </p:txBody>
      </p:sp>
      <p:sp>
        <p:nvSpPr>
          <p:cNvPr id="3" name="Tarjeta 01"/>
          <p:cNvSpPr/>
          <p:nvPr/>
        </p:nvSpPr>
        <p:spPr>
          <a:xfrm>
            <a:off x="457200" y="114300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FCE8E8"/>
          </a:solidFill>
          <a:ln w="12700">
            <a:solidFill>
              <a:srgbClr val="FCE8E8"/>
            </a:solidFill>
            <a:prstDash val="solid"/>
          </a:ln>
        </p:spPr>
      </p:sp>
      <p:sp>
        <p:nvSpPr>
          <p:cNvPr id="4" name="Hallazgo 01 círculo"/>
          <p:cNvSpPr/>
          <p:nvPr/>
        </p:nvSpPr>
        <p:spPr>
          <a:xfrm>
            <a:off x="777240" y="1417320"/>
            <a:ext cx="731520" cy="73152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pic>
        <p:nvPicPr>
          <p:cNvPr id="5" name="Hallazgo 01 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6002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200400" y="141732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2860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Extensión eléctrica mal tendida y en contacto con metal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1546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Cables y derivadores apoyados sobre andamio, bandejas y puertas de tableros metálicos.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97764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RIESGO ALTO</a:t>
            </a:r>
            <a:endParaRPr lang="en-US" sz="1200" dirty="0"/>
          </a:p>
        </p:txBody>
      </p:sp>
      <p:sp>
        <p:nvSpPr>
          <p:cNvPr id="10" name="Tarjeta 02"/>
          <p:cNvSpPr/>
          <p:nvPr/>
        </p:nvSpPr>
        <p:spPr>
          <a:xfrm>
            <a:off x="4663440" y="114300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11" name="Hallazgo 02 círculo"/>
          <p:cNvSpPr/>
          <p:nvPr/>
        </p:nvSpPr>
        <p:spPr>
          <a:xfrm>
            <a:off x="4983480" y="1417320"/>
            <a:ext cx="731520" cy="731520"/>
          </a:xfrm>
          <a:prstGeom prst="ellipse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pic>
        <p:nvPicPr>
          <p:cNvPr id="12" name="Hallazgo 02 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6002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06640" y="141732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000" dirty="0"/>
          </a:p>
        </p:txBody>
      </p:sp>
      <p:sp>
        <p:nvSpPr>
          <p:cNvPr id="14" name="Text 10"/>
          <p:cNvSpPr txBox="1"/>
          <p:nvPr/>
        </p:nvSpPr>
        <p:spPr>
          <a:xfrm>
            <a:off x="4983480" y="22860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Extintor sin tarjeta de revisión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4983480" y="31546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No es posible verificar su última mantención ni su vigencia de carga.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4983480" y="397764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RIESGO MEDIO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01 · Extensión tendida sobre estructura metálica</a:t>
            </a:r>
            <a:endParaRPr lang="en-US" sz="2600" dirty="0"/>
          </a:p>
        </p:txBody>
      </p:sp>
      <p:pic>
        <p:nvPicPr>
          <p:cNvPr id="3" name="Foto bandejas y andamio" descr="/tmp/claude-0/-home-user-Listas-de-Verificaci-n-y-Observaciones-RCO/95db64e0-5329-5eb7-9b55-a408b631852a/scratchpad/img/p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51560"/>
            <a:ext cx="2651760" cy="3520440"/>
          </a:xfrm>
          <a:prstGeom prst="rect">
            <a:avLst/>
          </a:prstGeom>
        </p:spPr>
      </p:pic>
      <p:pic>
        <p:nvPicPr>
          <p:cNvPr id="4" name="Foto pasillo de tableros" descr="/tmp/claude-0/-home-user-Listas-de-Verificaci-n-y-Observaciones-RCO/95db64e0-5329-5eb7-9b55-a408b631852a/scratchpad/img/p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91840" y="1051560"/>
            <a:ext cx="2651760" cy="35204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263640" y="10515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se observó</a:t>
            </a:r>
            <a:endParaRPr lang="en-US" sz="1600" dirty="0"/>
          </a:p>
        </p:txBody>
      </p:sp>
      <p:sp>
        <p:nvSpPr>
          <p:cNvPr id="6" name="Text 2"/>
          <p:cNvSpPr txBox="1"/>
          <p:nvPr/>
        </p:nvSpPr>
        <p:spPr>
          <a:xfrm>
            <a:off x="6263640" y="1417320"/>
            <a:ext cx="2423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Extensión colgando desde bandejas portaconductores y luminarias, sin soporte aislante.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Cable apoyado y amarrado sobre tubos del andamio.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Recorrido aéreo sin orden, cruzando el pasillo de tableros.</a:t>
            </a:r>
            <a:endParaRPr lang="en-US" sz="1400" dirty="0"/>
          </a:p>
        </p:txBody>
      </p:sp>
      <p:sp>
        <p:nvSpPr>
          <p:cNvPr id="7" name="Nivel de riesgo"/>
          <p:cNvSpPr txBox="1"/>
          <p:nvPr/>
        </p:nvSpPr>
        <p:spPr>
          <a:xfrm>
            <a:off x="6263640" y="4242816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RIESGO ALTO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01 · Derivadores colgando sobre tableros</a:t>
            </a:r>
            <a:endParaRPr lang="en-US" sz="2600" dirty="0"/>
          </a:p>
        </p:txBody>
      </p:sp>
      <p:sp>
        <p:nvSpPr>
          <p:cNvPr id="3" name="Punto 1 círculo"/>
          <p:cNvSpPr/>
          <p:nvPr/>
        </p:nvSpPr>
        <p:spPr>
          <a:xfrm>
            <a:off x="457200" y="1097280"/>
            <a:ext cx="548640" cy="548640"/>
          </a:xfrm>
          <a:prstGeom prst="ellipse">
            <a:avLst/>
          </a:prstGeom>
          <a:solidFill>
            <a:srgbClr val="FCE8E8"/>
          </a:solidFill>
          <a:ln w="12700">
            <a:solidFill>
              <a:srgbClr val="FCE8E8"/>
            </a:solidFill>
            <a:prstDash val="solid"/>
          </a:ln>
        </p:spPr>
      </p:sp>
      <p:pic>
        <p:nvPicPr>
          <p:cNvPr id="4" name="Punto 1 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34440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0789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Conexiones expuestas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139903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Enchufes y derivador industrial suspendidos del propio cable, sin fijación.</a:t>
            </a:r>
            <a:endParaRPr lang="en-US" sz="1400" dirty="0"/>
          </a:p>
        </p:txBody>
      </p:sp>
      <p:sp>
        <p:nvSpPr>
          <p:cNvPr id="7" name="Punto 2 círculo"/>
          <p:cNvSpPr/>
          <p:nvPr/>
        </p:nvSpPr>
        <p:spPr>
          <a:xfrm>
            <a:off x="457200" y="2240280"/>
            <a:ext cx="548640" cy="548640"/>
          </a:xfrm>
          <a:prstGeom prst="ellipse">
            <a:avLst/>
          </a:prstGeom>
          <a:solidFill>
            <a:srgbClr val="FCE8E8"/>
          </a:solidFill>
          <a:ln w="12700">
            <a:solidFill>
              <a:srgbClr val="FCE8E8"/>
            </a:solidFill>
            <a:prstDash val="solid"/>
          </a:ln>
        </p:spPr>
      </p:sp>
      <p:pic>
        <p:nvPicPr>
          <p:cNvPr id="8" name="Punto 2 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3774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22219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Contacto con metal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188720" y="254203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Uniones apoyadas en la carcasa metálica de los tableros energizados.</a:t>
            </a:r>
            <a:endParaRPr lang="en-US" sz="1400" dirty="0"/>
          </a:p>
        </p:txBody>
      </p:sp>
      <p:sp>
        <p:nvSpPr>
          <p:cNvPr id="11" name="Punto 3 círculo"/>
          <p:cNvSpPr/>
          <p:nvPr/>
        </p:nvSpPr>
        <p:spPr>
          <a:xfrm>
            <a:off x="457200" y="3383280"/>
            <a:ext cx="548640" cy="548640"/>
          </a:xfrm>
          <a:prstGeom prst="ellipse">
            <a:avLst/>
          </a:prstGeom>
          <a:solidFill>
            <a:srgbClr val="FCE8E8"/>
          </a:solidFill>
          <a:ln w="12700">
            <a:solidFill>
              <a:srgbClr val="FCE8E8"/>
            </a:solidFill>
            <a:prstDash val="solid"/>
          </a:ln>
        </p:spPr>
      </p:sp>
      <p:pic>
        <p:nvPicPr>
          <p:cNvPr id="12" name="Punto 3 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52044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33649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Esfuerzo mecánico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188720" y="368503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El peso cuelga del conductor: tensión en terminales y daño a la aislación.</a:t>
            </a:r>
            <a:endParaRPr lang="en-US" sz="1400" dirty="0"/>
          </a:p>
        </p:txBody>
      </p:sp>
      <p:pic>
        <p:nvPicPr>
          <p:cNvPr id="15" name="Foto derivador" descr="/tmp/claude-0/-home-user-Listas-de-Verificaci-n-y-Observaciones-RCO/95db64e0-5329-5eb7-9b55-a408b631852a/scratchpad/img/p3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754880" y="1051560"/>
            <a:ext cx="1874520" cy="3520440"/>
          </a:xfrm>
          <a:prstGeom prst="rect">
            <a:avLst/>
          </a:prstGeom>
        </p:spPr>
      </p:pic>
      <p:pic>
        <p:nvPicPr>
          <p:cNvPr id="16" name="Foto enchufes en tablero" descr="/tmp/claude-0/-home-user-Listas-de-Verificaci-n-y-Observaciones-RCO/95db64e0-5329-5eb7-9b55-a408b631852a/scratchpad/img/p4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812280" y="1051560"/>
            <a:ext cx="1874520" cy="3520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01 · Riesgo asociado y medidas correctivas</a:t>
            </a:r>
            <a:endParaRPr lang="en-US" sz="2600" dirty="0"/>
          </a:p>
        </p:txBody>
      </p:sp>
      <p:sp>
        <p:nvSpPr>
          <p:cNvPr id="3" name="Panel riesgo"/>
          <p:cNvSpPr/>
          <p:nvPr/>
        </p:nvSpPr>
        <p:spPr>
          <a:xfrm>
            <a:off x="457200" y="1051560"/>
            <a:ext cx="3108960" cy="3520440"/>
          </a:xfrm>
          <a:prstGeom prst="roundRect">
            <a:avLst>
              <a:gd name="adj" fmla="val 3529"/>
            </a:avLst>
          </a:prstGeom>
          <a:solidFill>
            <a:srgbClr val="FCE8E8"/>
          </a:solidFill>
          <a:ln w="12700">
            <a:solidFill>
              <a:srgbClr val="FCE8E8"/>
            </a:solidFill>
            <a:prstDash val="solid"/>
          </a:ln>
        </p:spPr>
      </p:sp>
      <p:pic>
        <p:nvPicPr>
          <p:cNvPr id="4" name="Icono riesg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874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Contacto eléctrico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28600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 daño en la aislación puede energizar el andamio o la carcasa del tablero y exponer al trabajador a contacto eléctrico indirecto, además de cortocircuito e inicio de incendio.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931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Ref.: DS 594, Art. 39 — instalaciones eléctricas protegidas, aisladas y mantenidas.</a:t>
            </a:r>
            <a:endParaRPr lang="en-US" sz="1000" dirty="0"/>
          </a:p>
        </p:txBody>
      </p:sp>
      <p:sp>
        <p:nvSpPr>
          <p:cNvPr id="8" name="Medida 1"/>
          <p:cNvSpPr/>
          <p:nvPr/>
        </p:nvSpPr>
        <p:spPr>
          <a:xfrm>
            <a:off x="3840480" y="1051560"/>
            <a:ext cx="2286000" cy="1645920"/>
          </a:xfrm>
          <a:prstGeom prst="roundRect">
            <a:avLst>
              <a:gd name="adj" fmla="val 5556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9" name="Medida 1 círculo"/>
          <p:cNvSpPr/>
          <p:nvPr/>
        </p:nvSpPr>
        <p:spPr>
          <a:xfrm>
            <a:off x="4023360" y="1234440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10" name="Medida 1 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7660" y="134874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7720" y="1234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Retirar del metal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4023360" y="18288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Despejar el cable de andamio, bandejas y tableros.</a:t>
            </a:r>
            <a:endParaRPr lang="en-US" sz="1200" dirty="0"/>
          </a:p>
        </p:txBody>
      </p:sp>
      <p:sp>
        <p:nvSpPr>
          <p:cNvPr id="13" name="Medida 2"/>
          <p:cNvSpPr/>
          <p:nvPr/>
        </p:nvSpPr>
        <p:spPr>
          <a:xfrm>
            <a:off x="6309360" y="1051560"/>
            <a:ext cx="2286000" cy="1645920"/>
          </a:xfrm>
          <a:prstGeom prst="roundRect">
            <a:avLst>
              <a:gd name="adj" fmla="val 5556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4" name="Medida 2 círculo"/>
          <p:cNvSpPr/>
          <p:nvPr/>
        </p:nvSpPr>
        <p:spPr>
          <a:xfrm>
            <a:off x="6492240" y="1234440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15" name="Medida 2 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540" y="134874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86600" y="1234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Soporte aislante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492240" y="18288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Tender en altura con ganchos o colgadores no conductores.</a:t>
            </a:r>
            <a:endParaRPr lang="en-US" sz="1200" dirty="0"/>
          </a:p>
        </p:txBody>
      </p:sp>
      <p:sp>
        <p:nvSpPr>
          <p:cNvPr id="18" name="Medida 3"/>
          <p:cNvSpPr/>
          <p:nvPr/>
        </p:nvSpPr>
        <p:spPr>
          <a:xfrm>
            <a:off x="3840480" y="2880360"/>
            <a:ext cx="2286000" cy="1645920"/>
          </a:xfrm>
          <a:prstGeom prst="roundRect">
            <a:avLst>
              <a:gd name="adj" fmla="val 5556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9" name="Medida 3 círculo"/>
          <p:cNvSpPr/>
          <p:nvPr/>
        </p:nvSpPr>
        <p:spPr>
          <a:xfrm>
            <a:off x="4023360" y="3063240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20" name="Medida 3 i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7660" y="31775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617720" y="3063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Inspeccionar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4023360" y="36576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Revisar aislación, enchufes y derivador; retirar si hay daño.</a:t>
            </a:r>
            <a:endParaRPr lang="en-US" sz="1200" dirty="0"/>
          </a:p>
        </p:txBody>
      </p:sp>
      <p:sp>
        <p:nvSpPr>
          <p:cNvPr id="23" name="Medida 4"/>
          <p:cNvSpPr/>
          <p:nvPr/>
        </p:nvSpPr>
        <p:spPr>
          <a:xfrm>
            <a:off x="6309360" y="2880360"/>
            <a:ext cx="2286000" cy="1645920"/>
          </a:xfrm>
          <a:prstGeom prst="roundRect">
            <a:avLst>
              <a:gd name="adj" fmla="val 5556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24" name="Medida 4 círculo"/>
          <p:cNvSpPr/>
          <p:nvPr/>
        </p:nvSpPr>
        <p:spPr>
          <a:xfrm>
            <a:off x="6492240" y="3063240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25" name="Medida 4 i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6540" y="317754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086600" y="3063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de color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6492240" y="36576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Verificar inspección vigente y protección diferencial en origen.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02 · Extintor sin tarjeta de revisión</a:t>
            </a:r>
            <a:endParaRPr lang="en-US" sz="2600" dirty="0"/>
          </a:p>
        </p:txBody>
      </p:sp>
      <p:sp>
        <p:nvSpPr>
          <p:cNvPr id="3" name="Marco foto extintor"/>
          <p:cNvSpPr/>
          <p:nvPr/>
        </p:nvSpPr>
        <p:spPr>
          <a:xfrm>
            <a:off x="457200" y="1051560"/>
            <a:ext cx="2651760" cy="3520440"/>
          </a:xfrm>
          <a:prstGeom prst="roundRect">
            <a:avLst>
              <a:gd name="adj" fmla="val 4138"/>
            </a:avLst>
          </a:prstGeom>
          <a:solidFill>
            <a:srgbClr val="F1F2F4"/>
          </a:solidFill>
          <a:ln w="12700">
            <a:solidFill>
              <a:srgbClr val="6B7280"/>
            </a:solidFill>
            <a:prstDash val="dash"/>
          </a:ln>
        </p:spPr>
      </p:sp>
      <p:pic>
        <p:nvPicPr>
          <p:cNvPr id="4" name="Icono cámar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22402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880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Insertar fotografía del extintor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3429000" y="105156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se observó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3429000" y="141732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El extintor no cuenta con tarjeta de control de mantención. No se puede verificar fecha de última revisión, vigencia de carga ni empresa certificadora.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429000" y="228600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3429000" y="265176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Ante un amago de incendio el equipo podría no operar (baja presión, agente vencido), sin capacidad de primera respuesta en una sala con equipos energizados.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429000" y="352044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Ref.: DS 594, Art. 51 — revisión, control y mantención preventiva al menos una vez al año por servicio técnico autorizado.</a:t>
            </a:r>
            <a:endParaRPr lang="en-US" sz="1000" dirty="0"/>
          </a:p>
        </p:txBody>
      </p:sp>
      <p:sp>
        <p:nvSpPr>
          <p:cNvPr id="11" name="Nivel de riesgo"/>
          <p:cNvSpPr txBox="1"/>
          <p:nvPr/>
        </p:nvSpPr>
        <p:spPr>
          <a:xfrm>
            <a:off x="3429000" y="4242816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RIESGO MEDIO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Plan de acción y seguimiento</a:t>
            </a:r>
            <a:endParaRPr lang="en-US" sz="2600" dirty="0"/>
          </a:p>
        </p:txBody>
      </p:sp>
      <p:graphicFrame>
        <p:nvGraphicFramePr>
          <p:cNvPr id="8" name="Tabla plan de acció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4114800"/>
                <a:gridCol w="1554480"/>
                <a:gridCol w="914400"/>
                <a:gridCol w="11887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Medida correctiva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Plazo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Retirar extensión del contacto con andamio, bandejas y tableros; tender con soportes aislantes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 eléctrico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Inmediato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Inspeccionar aislación, enchufes y derivador; retirar elementos dañados y verificar código de color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Eléctrico autorizado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Reemplazar o enviar el extintor a mantención y colocar tarjeta de revisión vigente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Prevención de Riesgos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Revisar tarjetas de todos los extintores del área e incorporarlos al control mensual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Prevención de Riesgos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semana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speccion Seguridad">
  <a:themeElements>
    <a:clrScheme name="Inspeccion Seguridad">
      <a:dk1>
        <a:srgbClr val="1F2329"/>
      </a:dk1>
      <a:lt1>
        <a:srgbClr val="FFFFFF"/>
      </a:lt1>
      <a:dk2>
        <a:srgbClr val="3A3F47"/>
      </a:dk2>
      <a:lt2>
        <a:srgbClr val="F1F2F4"/>
      </a:lt2>
      <a:accent1>
        <a:srgbClr val="F2A900"/>
      </a:accent1>
      <a:accent2>
        <a:srgbClr val="C62828"/>
      </a:accent2>
      <a:accent3>
        <a:srgbClr val="2E7D32"/>
      </a:accent3>
      <a:accent4>
        <a:srgbClr val="6B7280"/>
      </a:accent4>
      <a:accent5>
        <a:srgbClr val="FCE8E8"/>
      </a:accent5>
      <a:accent6>
        <a:srgbClr val="FFF4D6"/>
      </a:accent6>
      <a:hlink>
        <a:srgbClr val="1565C0"/>
      </a:hlink>
      <a:folHlink>
        <a:srgbClr val="6B7280"/>
      </a:folHlink>
    </a:clrScheme>
    <a:fontScheme name="Inspeccion Segurida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Inspección de Seguridad</dc:title>
  <dc:subject>PptxGenJS Presentation</dc:subject>
  <dc:creator>Prevención de Riesgos</dc:creator>
  <cp:lastModifiedBy>Prevención de Riesgos</cp:lastModifiedBy>
  <cp:revision>1</cp:revision>
  <dcterms:created xsi:type="dcterms:W3CDTF">2026-10-29T02:07:02Z</dcterms:created>
  <dcterms:modified xsi:type="dcterms:W3CDTF">2026-10-29T02:07:02Z</dcterms:modified>
</cp:coreProperties>
</file>