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D7192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669280" cy="56692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94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 ·  CC-146  ·  SSOMA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868680" cy="868680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247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Vigía de Incendios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en Caliente — Aplicación correcta del procedimiento SIGO-P-025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48920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8C10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48920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SIGO-P-025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48920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62D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86000" y="48920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04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489204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62D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4892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07-04-2026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6235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NFPA 51B (2024) y en el procedimiento corporativo Codelco SIGO-P-025. Curso dirigido a supervisores, ejecutores y vigías designados para trabajos en caliente.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curso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612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1847088"/>
            <a:ext cx="1002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el rol del Vigía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121408"/>
            <a:ext cx="10021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quién puede ejercer la función de Vigía de Incendios, su exclusividad y su autoridad para detener el trabajo.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612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962656"/>
            <a:ext cx="1002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Regla de los 11 metros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3236976"/>
            <a:ext cx="10021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controlar materiales combustibles e inflamables en el radio de riesgo del trabajo en caliente.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05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1612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4078224"/>
            <a:ext cx="1002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 vigilancia y el monitoreo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4352544"/>
            <a:ext cx="10021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correctamente los tiempos mínimos de vigilancia (1 hora) y monitoreo posterior, según la Tabla N°1.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566928" cy="566928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21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612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5193792"/>
            <a:ext cx="1002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Permiso de Trabajo en Caliente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16736" y="5468112"/>
            <a:ext cx="10021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y verificar correctamente el formulario SIGO-F-007 antes, durante y después del trabajo.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y alcance del procedimiento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91440"/>
          </a:xfrm>
          <a:prstGeom prst="rect">
            <a:avLst/>
          </a:prstGeom>
          <a:solidFill>
            <a:srgbClr val="D719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NFPA 51B (2024)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internacional para la prevención de incendios durante operaciones de soldadura, corte y otros trabajos en caliente.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2240280"/>
            <a:ext cx="50292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423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 Global 10-03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9260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de referencia para el control de riesgos de incendio en trabajos con fuentes de ignición.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240280"/>
            <a:ext cx="50292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2423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SIGO-F-007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9260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oficial — Permiso de Trabajo en Caliente. Debe emitirse en 3 copias idénticas y trazables.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0835640" cy="1234440"/>
          </a:xfrm>
          <a:prstGeom prst="roundRect">
            <a:avLst>
              <a:gd name="adj" fmla="val 7407"/>
            </a:avLst>
          </a:prstGeom>
          <a:solidFill>
            <a:srgbClr val="8C101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00600"/>
            <a:ext cx="10195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C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procedimiento aplica a toda la Corporación, en todo trabajo con riesgo de incendio o explosión que utilice equipos o herramientas que generen calor, chispas, llamas abiertas, escorias o material incandescente (soldadura, oxicorte, esmerilado, torchado, entre otros).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Trabajo en Caliente?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20262F"/>
          </a:solidFill>
          <a:ln w="19050">
            <a:solidFill>
              <a:srgbClr val="D719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tarea o actividad que implica la utilización de llamas abiertas, o que libera calor o produce material incandescente (chispas).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generar una fuente de ignición con potencial de incendio en presencia de materiales combustibles o inflamables.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actividades que requieren Permiso de Trabajo en Caliente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57016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438144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y/u oxicorte de metales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9664" y="3557016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98264" y="3438144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metales con sistemas eléctricos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90688" y="3557016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19288" y="3438144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Acanalado, calentamiento o limpieza con llama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1363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Esmeriles y herramientas que produzcan chispas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9664" y="4032504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98264" y="391363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Chorro de arena, picado de metales o concreto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90688" y="4032504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19288" y="391363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neumáticas que generen calor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07992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389120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Astillado, desgarrado o cortado por impacto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9664" y="4507992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98264" y="4389120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Calentadores y estufas eléctricas industriales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90688" y="4507992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19288" y="4389120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Cautines eléctricos industriales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64608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de tambores usados (corte)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69664" y="4983480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398264" y="4864608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Perforación de cañerías y recipientes a presión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90688" y="4983480"/>
            <a:ext cx="100584" cy="100584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19288" y="4864608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Termofusión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del procedimiento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756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 Responsable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Área o Equipo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y valida el Permiso de Trabajo en Caliente. Verifica que se hayan tomado todas las medidas de control antes de autorizar.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91072" y="1874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20756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 Responsable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Tarea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7432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 tarea, realiza el Análisis de Riesgo (ART) y solicita la firma del responsable del área. Firma el Permiso.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1596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 de Brigada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Emergencia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83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la brigada (propia o profesional) y coordina la primera respuesta ante una situación de incendio.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91072" y="4114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431596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Asesor de Seguridad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Codelco / Contratista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4983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Asesora en materias de seguridad y salud ocupacional conforme a los lineamientos corporativos vigentes.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Vigilante de Incendio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20262F"/>
          </a:solidFill>
          <a:ln w="25400">
            <a:solidFill>
              <a:srgbClr val="D71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👁️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94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Vigilante de Incendio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“Trabajador designado por el Supervisor responsable de la tarea, capacitado y acreditado sobre riesgos de incendios y uso de extintores.”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404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responsabilidad es evaluar continuamente las áreas de trabajo, manteniendo las condiciones seguras contra incendio y respondiendo a emergencias durante las operaciones de trabajo en caliente, cumpliendo con el tiempo asignado en concordancia con las medidas de control identificadas en el ART.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96912" y="1828800"/>
            <a:ext cx="4343400" cy="1965960"/>
          </a:xfrm>
          <a:prstGeom prst="roundRect">
            <a:avLst>
              <a:gd name="adj" fmla="val 5581"/>
            </a:avLst>
          </a:prstGeom>
          <a:solidFill>
            <a:srgbClr val="262D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52944" y="1993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Incendios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552944" y="239572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adicional inmediata al término de la vigilancia. Puede realizarla el mismo vigía u otro trabajador designado, con conocimiento, capacitación y acreditación en riesgos de incendio. Los tiempos se especifican en la Tabla N°01.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96912" y="4069080"/>
            <a:ext cx="4343400" cy="1920240"/>
          </a:xfrm>
          <a:prstGeom prst="roundRect">
            <a:avLst>
              <a:gd name="adj" fmla="val 5714"/>
            </a:avLst>
          </a:prstGeom>
          <a:solidFill>
            <a:srgbClr val="262D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52944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Ignición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552944" y="463600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capaz de iniciar la combustión de un material combustible o inflamable. Cualquier chispa, escoria o material que, en combinación con oxígeno o combustible, pueda crear peligro de incendio y/o explosión.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previos al trabajo en caliente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6712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6791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Purgado / Drenado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1546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retira todo remanente del producto contenido en un equipo o recipiente.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7208" y="196596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08376" y="216712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08376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6791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1546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sustituye el producto del proceso por otro inerte, sin riesgo de combustión.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65776" y="196596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66944" y="216712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66944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26791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Inertizado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31546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un gas inerte para desplazar y neutralizar vapores combustibles o tóxicos.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24344" y="196596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25512" y="216712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25512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26791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Ventilado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31546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gases han sido desplazados y barridos, asegurando respiración segura.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82912" y="196596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216712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840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747504" y="26791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Enfriado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47504" y="31546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fue sometido a reducción gradual de temperatura hasta un nivel seguro.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8C101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4590288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Atmósfera Peligrosa: 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C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gases o vapores inflamables que puede originar explosión o inflamación — LEL en exceso de 10%, concentración de oxígeno menor a 19,5%, sustancias peligrosas sobre los límites permisibles, o riesgo inmediato para las condiciones de vida y salud.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DEL VIGÍA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puede ser Vigía de Incendios?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12331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103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Debe cumplir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6517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Designado formalmente por el Supervisor responsable de la tarea.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3101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331012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Capacitado y acreditado en riesgos de incendio y uso de extintores.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96849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9684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exclusiva a la función de vigilancia mientras dure el trabajo.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62686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462686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 en el punto de trabajo de manera permanente.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5285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52852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el procedimiento de emergencia y la ubicación de alarmas.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187452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331414"/>
          </a:solidFill>
          <a:ln w="19050">
            <a:solidFill>
              <a:srgbClr val="D719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103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puede ser vigía / no puede hacer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26517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ejecuta directamente el trabajo en caliente que originó el permiso (ej. el propio soldador).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520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3520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otras funciones o tareas mientras ejerce la vigilancia.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389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21424" y="43891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Ausentarse del punto de trabajo, aunque tenga apoyos o funciones complementarias.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257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21424" y="52578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maniobras de rescate al interior de espacios confinados: solo debe avisar de inmediato al Supervisor.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Responsabilidades del Vigía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📘</a:t>
            </a:r>
            <a:endParaRPr lang="en-US" sz="156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47088"/>
            <a:ext cx="10040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instrucción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12140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los trabajadores estén instruidos en este procedimiento antes de iniciar sus labores.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🚪</a:t>
            </a:r>
            <a:endParaRPr lang="en-US" sz="156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944368"/>
            <a:ext cx="10040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ingreso y salida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1868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 y controlar el ingreso/salida de los trabajadores autorizados al área de trabajo en caliente.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🧯</a:t>
            </a:r>
            <a:endParaRPr lang="en-US" sz="156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041648"/>
            <a:ext cx="10040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el área y zonas adyacentes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31596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área de trabajo, niveles superiores e inferiores, durante al menos 1 hora después de finalizado el trabajo.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🧯</a:t>
            </a:r>
            <a:endParaRPr lang="en-US" sz="156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138928"/>
            <a:ext cx="10040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 extintor y comunicación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41324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con extintor portátil en el área y estar equipado con sistema de comunicación para emergencias.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Responsabilidades del Vigía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156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47088"/>
            <a:ext cx="10040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aviso inmediato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12140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de inmediato al Supervisor Ejecutor ante cualquier incidente o necesidad de auxilio, sin realizar maniobras de rescate.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🛑</a:t>
            </a:r>
            <a:endParaRPr lang="en-US" sz="156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944368"/>
            <a:ext cx="10040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para detener el trabajo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1868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detener el trabajo en caliente ante condiciones peligrosas, independiente del cargo que ocupe.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56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041648"/>
            <a:ext cx="10040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de control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31596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responsable de mantener una planilla de control con el detalle de todas las actividades realizadas.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56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138928"/>
            <a:ext cx="10040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vigías adicionales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41324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materiales combustibles no pueden ser observados directamente, se debe designar más de un vigía.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RIESGO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de los 11 metros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materiales combustibles e inflamables deben ser alejados a una distancia mínima de 11 metros del punto donde se realiza el trabajo en caliente. Lo que no se pueda trasladar debe cubrirse con mantas ignífugas o barreras contra fuego.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218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puertas, sellar orificios en pisos y apagar transportadores cercanos.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548640" y="39410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8221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Reubicar el material combustible o separarlo con barreras aprobadas.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45445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4256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al vigía con extintor, equipado con sistema de comunicación.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48640" y="51480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029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responsable del permiso puede extender la regla (viento, altura, etc.).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400800" y="2714854"/>
            <a:ext cx="4663440" cy="2891333"/>
          </a:xfrm>
          <a:prstGeom prst="ellipse">
            <a:avLst/>
          </a:prstGeom>
          <a:solidFill>
            <a:srgbClr val="20262F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229600" y="3931920"/>
            <a:ext cx="1005840" cy="502920"/>
          </a:xfrm>
          <a:prstGeom prst="ellipse">
            <a:avLst/>
          </a:prstGeom>
          <a:solidFill>
            <a:srgbClr val="262D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76488" y="3593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4087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trabajo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caliente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🧯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0287000" y="4224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Vigía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32520" y="4114800"/>
            <a:ext cx="2194560" cy="0"/>
          </a:xfrm>
          <a:prstGeom prst="line">
            <a:avLst/>
          </a:prstGeom>
          <a:noFill/>
          <a:ln w="15875">
            <a:solidFill>
              <a:srgbClr val="F59E0B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9189720" y="3776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 (35 ft)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77077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Ilustración conceptual de la Regla de los 11 m — referencia NFPA 51B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CONTROL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y monitoreo posteriores al trabajo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20262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— mínimo fijo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hora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Siempre, tras finalizar el trabajo en caliente — en todo tipo de construcción y actividad (ver Tabla N°01).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91072" y="18288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20262F"/>
          </a:solidFill>
          <a:ln w="19050">
            <a:solidFill>
              <a:srgbClr val="D719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5392" y="2011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— hasta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2286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a 5 horas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Varía según el tipo de construcción y de actividad (Tabla N°01), como monitoreo adicional posterior a la vigilancia.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monitoreo posterior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0599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Detectores de humo con transmisión remota a personal permanente.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5171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fijas o portátiles homologadas (idealmente infrarrojas).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9743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de trabajadores capacitados en la zona intervenida.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54315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de vigilancia cada 15 minutos en la zona de trabajo.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794760"/>
            <a:ext cx="5376672" cy="2331720"/>
          </a:xfrm>
          <a:prstGeom prst="roundRect">
            <a:avLst>
              <a:gd name="adj" fmla="val 3922"/>
            </a:avLst>
          </a:prstGeom>
          <a:solidFill>
            <a:srgbClr val="262D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10528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permanentes (talleres, maestranzas)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43484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lugares habilitados de forma permanente para trabajos en caliente, el rol de vigía recae en los mismos trabajadores que ejecutan la tarea, quienes deben aplicar igualmente todos los controles y responsabilidades del Vigía contra Incendio.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N°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posterior según construcción y actividad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vigilancia directa es siempre de 1 hora mínimo. La tabla indica las horas de MONITOREO adicional posterior.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3566160"/>
        </p:xfrm>
        <a:graphic>
          <a:graphicData uri="http://schemas.openxmlformats.org/drawingml/2006/table">
            <a:tbl>
              <a:tblPr/>
              <a:tblGrid>
                <a:gridCol w="4480560"/>
                <a:gridCol w="2203704"/>
                <a:gridCol w="2203704"/>
                <a:gridCol w="2203704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de actividad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0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combustible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A (acero-horm.)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0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Combustible sin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espacios ocultos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0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Combustible con espacios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ocultos desprotegidos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01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Materiales combustibles dentro de equipos cerrados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Oficinas / áreas industriales, carga combustible limitada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 industriales, carga combustible moderada a importante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 de acopio / bodegas / almacenamiento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Excepción: almacenamiento a granel (incendio de crecimiento lento)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SIGO-P-025 Rev.04, Tabla N°01. Los tiempos pueden extenderse o acortarse según condiciones de riesgo.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 de Trabajo en Caliente (SIGO-F-007)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comenzar, se debe realizar el Análisis de Riesgo del Trabajo (ART) y revisar todas las medidas de control y mitigación para evitar un incendio y/o explosión.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331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4140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ART se encuentra realizado y disponible?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331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8712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¿Están designados y registrados el/los vigías del fuego? ¿Están capacitados?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331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3284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aplicó la Regla de los 11 metros?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331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7856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instalaron barreras duras y señalética para segregar el área?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331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42428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verificó el estado de los sistemas contra incendio disponibles?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331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47000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identificaron las vías de evacuación, despejadas e iluminadas?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331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51572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Chequeo de atmósfera con detector de gas (si aplica).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8C101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8064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alguna respuesta es NO, el permiso NO puede aprobarse y el trabajo no puede realizarse.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554480"/>
            <a:ext cx="4343400" cy="4297680"/>
          </a:xfrm>
          <a:prstGeom prst="roundRect">
            <a:avLst>
              <a:gd name="adj" fmla="val 2553"/>
            </a:avLst>
          </a:prstGeom>
          <a:solidFill>
            <a:srgbClr val="20262F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71232" y="1737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permiso — 3 copias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71232" y="2240280"/>
            <a:ext cx="457200" cy="457200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57123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11312" y="22128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247802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Supervisor del área.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71232" y="3200400"/>
            <a:ext cx="457200" cy="457200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57123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11312" y="31729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copia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211312" y="34381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Líder de Brigada de Emergencia (trabajos de gran envergadura).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71232" y="4160520"/>
            <a:ext cx="457200" cy="457200"/>
          </a:xfrm>
          <a:prstGeom prst="ellipse">
            <a:avLst/>
          </a:prstGeom>
          <a:solidFill>
            <a:srgbClr val="D7192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57123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211312" y="4133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copia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211312" y="43982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el lugar de trabajo, con el supervisor y el personal ejecutor.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571232" y="51663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Autorizaciones requeridas: Supervisor Responsable del Área, Supervisor Responsable de la Tarea, Experto en Prevención de Riesgos, Vigía de Incendio y ejecutores (declaran haber leído y entendido).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Tarjeta resumen — Antes / Durante / Después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9584" cy="4297680"/>
          </a:xfrm>
          <a:prstGeom prst="roundRect">
            <a:avLst>
              <a:gd name="adj" fmla="val 3109"/>
            </a:avLst>
          </a:prstGeom>
          <a:solidFill>
            <a:srgbClr val="20262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2958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6032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Confirmo mi designación formal y capacitación vigente.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42900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 el ART y las medidas de control definidas.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2976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Verifico la Regla de los 11 metros en el área.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166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16636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 extintor ABC y equipo de comunicación.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4256" y="1828800"/>
            <a:ext cx="3529584" cy="4297680"/>
          </a:xfrm>
          <a:prstGeom prst="roundRect">
            <a:avLst>
              <a:gd name="adj" fmla="val 3109"/>
            </a:avLst>
          </a:prstGeom>
          <a:solidFill>
            <a:srgbClr val="20262F"/>
          </a:solidFill>
          <a:ln w="19050">
            <a:solidFill>
              <a:srgbClr val="D719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828800"/>
            <a:ext cx="3529584" cy="502920"/>
          </a:xfrm>
          <a:prstGeom prst="rect">
            <a:avLst/>
          </a:prstGeom>
          <a:solidFill>
            <a:srgbClr val="D719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34256" y="182880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56032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exclusiva: no ejecuto otras tareas.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37176" y="342900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Permanezco en el punto de trabajo en todo momento.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37176" y="42976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 el área y los niveles superior e inferior.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62856" y="5166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37176" y="516636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Detengo el trabajo ante cualquier condición insegura.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9872" y="1828800"/>
            <a:ext cx="3529584" cy="4297680"/>
          </a:xfrm>
          <a:prstGeom prst="roundRect">
            <a:avLst>
              <a:gd name="adj" fmla="val 3109"/>
            </a:avLst>
          </a:prstGeom>
          <a:solidFill>
            <a:srgbClr val="20262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19872" y="1828800"/>
            <a:ext cx="352958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19872" y="182880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48472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22792" y="256032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Vigilo el área al menos 1 hora tras finalizar.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348472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22792" y="342900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Coordino el monitoreo posterior según Tabla N°01.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622792" y="42976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Verifico que no queden esquirlas ni focos de calor.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348472" y="5166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622792" y="516636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 la planilla de control de actividades.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D7192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669280" cy="56692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34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vigía de incendios es el último control antes de una emergencia.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exclusividad, permanencia y autoridad para detener el trabajo son las que evitan que una chispa se convierta en un incendio.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45262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8C10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45262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SIGO-P-025 Rev.04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45262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62D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51760" y="4526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SIGO-F-007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45262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62D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4526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NFPA 51B 2024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  ·  Equipo SSOMA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SALFA MONTAJES CC-146</a:t>
            </a:r>
            <a:pPr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Curso Vigía de Incendios  ·  SIGO-P-025 Rev.04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SALFA MONTAJES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Vigia de Incendios</dc:title>
  <dc:subject>Curso Vigia de Incendios - SIGO-P-025 Rev.04</dc:subject>
  <dc:creator>SALFA MONTAJES CC-146 - SSOMA</dc:creator>
  <cp:lastModifiedBy>SALFA MONTAJES CC-146 - SSOMA</cp:lastModifiedBy>
  <cp:revision>1</cp:revision>
  <dcterms:created xsi:type="dcterms:W3CDTF">2026-09-16T13:30:45Z</dcterms:created>
  <dcterms:modified xsi:type="dcterms:W3CDTF">2026-09-16T13:30:45Z</dcterms:modified>
</cp:coreProperties>
</file>