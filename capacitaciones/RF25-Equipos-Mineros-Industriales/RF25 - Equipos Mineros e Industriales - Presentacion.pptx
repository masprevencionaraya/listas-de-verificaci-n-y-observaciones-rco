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image" Target="../media/image-5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121D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2344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· RIESGO DE FATALIDAD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72768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EQUIPOS MINEROS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212848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INDUSTRIALES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004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RF25 — Pérdida de Control de Equipos Mineros e Industriales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886200"/>
            <a:ext cx="2926080" cy="0"/>
          </a:xfrm>
          <a:prstGeom prst="line">
            <a:avLst/>
          </a:prstGeom>
          <a:noFill/>
          <a:ln w="31750">
            <a:solidFill>
              <a:srgbClr val="E863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11480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formación para Trabajador/a, Supervisor/a y Ejecutivo/a en los Controles Críticos que salvan vidas.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1722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SIGO-ECC-003-25  ·  Versión 001  ·  Vigencia 31-12-2025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006840" y="2331720"/>
            <a:ext cx="2103120" cy="2103120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11" name="Image 0" descr="/tmp/claude-0/-home-user-Listas-de-Verificaci-n-y-Observaciones-RCO/12a070ba-833b-5b06-92f2-64c2c1a634f4/scratchpad/assets/icons/minetru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1589" y="2836469"/>
            <a:ext cx="1093622" cy="109362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138160" y="6172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Corporativa de Seguridad y Salud Ocupacional  |  Codelco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SIGO-ECC-003-25  ·  RF25 · Equipos Mineros e Industriales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QUÉ SIRVE ESTA CAPACITACIÓN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 la capacitación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634472" y="457200"/>
            <a:ext cx="914400" cy="914400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5" name="Image 0" descr="/tmp/claude-0/-home-user-Listas-de-Verificaci-n-y-Observaciones-RCO/12a070ba-833b-5b06-92f2-64c2c1a634f4/scratchpad/assets/icons/bullsey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58368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965960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" name="Image 1" descr="/tmp/claude-0/-home-user-Listas-de-Verificaci-n-y-Observaciones-RCO/12a070ba-833b-5b06-92f2-64c2c1a634f4/scratchpad/assets/icons/bulldoz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4" y="2097634"/>
            <a:ext cx="395021" cy="39502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19842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Comprender el riesgo</a:t>
            </a:r>
            <a:endParaRPr 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6517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qué es el riesgo de fatalidad Equipos Mineros e Industriales y su Evento Top: la Pérdida de Control del Equipo.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72200" y="169164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</p:spPr>
      </p:sp>
      <p:sp>
        <p:nvSpPr>
          <p:cNvPr id="12" name="Shape 8"/>
          <p:cNvSpPr/>
          <p:nvPr/>
        </p:nvSpPr>
        <p:spPr>
          <a:xfrm>
            <a:off x="6446520" y="1965960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3" name="Image 2" descr="/tmp/claude-0/-home-user-Listas-de-Verificaci-n-y-Observaciones-RCO/12a070ba-833b-5b06-92f2-64c2c1a634f4/scratchpad/assets/icons/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194" y="2097634"/>
            <a:ext cx="395021" cy="39502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69480" y="19842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Conocer los controles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6446520" y="26517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los 6 Controles Críticos que siempre deben estar presentes para evitar un evento fatal.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06908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822960" y="4343400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8" name="Image 3" descr="/tmp/claude-0/-home-user-Listas-de-Verificaci-n-y-Observaciones-RCO/12a070ba-833b-5b06-92f2-64c2c1a634f4/scratchpad/assets/icons/idcar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4475074"/>
            <a:ext cx="395021" cy="39502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45920" y="4361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Saber qué preguntar</a:t>
            </a:r>
            <a:endParaRPr lang="en-US" sz="1550" dirty="0"/>
          </a:p>
        </p:txBody>
      </p:sp>
      <p:sp>
        <p:nvSpPr>
          <p:cNvPr id="20" name="Text 14"/>
          <p:cNvSpPr txBox="1"/>
          <p:nvPr/>
        </p:nvSpPr>
        <p:spPr>
          <a:xfrm>
            <a:off x="822960" y="50292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las preguntas clave según tu rol: Trabajador/a, Supervisor/a o Ejecutivo/a.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172200" y="406908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</p:spPr>
      </p:sp>
      <p:sp>
        <p:nvSpPr>
          <p:cNvPr id="22" name="Shape 16"/>
          <p:cNvSpPr/>
          <p:nvPr/>
        </p:nvSpPr>
        <p:spPr>
          <a:xfrm>
            <a:off x="6446520" y="4343400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3" name="Image 4" descr="/tmp/claude-0/-home-user-Listas-de-Verificaci-n-y-Observaciones-RCO/12a070ba-833b-5b06-92f2-64c2c1a634f4/scratchpad/assets/icons/aler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8194" y="4475074"/>
            <a:ext cx="395021" cy="3950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269480" y="4361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Actuar a tiempo</a:t>
            </a:r>
            <a:endParaRPr lang="en-US" sz="1550" dirty="0"/>
          </a:p>
        </p:txBody>
      </p:sp>
      <p:sp>
        <p:nvSpPr>
          <p:cNvPr id="25" name="Text 18"/>
          <p:cNvSpPr txBox="1"/>
          <p:nvPr/>
        </p:nvSpPr>
        <p:spPr>
          <a:xfrm>
            <a:off x="6446520" y="50292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una desviación al control crítico y activar la Tarjeta Verde antes de continuar la actividad.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SIGO-ECC-003-25  ·  RF25 · Equipos Mineros e Industriales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9144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TOP DEL RIESGO DE FATALIDAD RF25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358384" y="1280160"/>
            <a:ext cx="1371600" cy="1371600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4" name="Image 0" descr="/tmp/claude-0/-home-user-Listas-de-Verificaci-n-y-Observaciones-RCO/12a070ba-833b-5b06-92f2-64c2c1a634f4/scratchpad/assets/icons/carcras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1609344"/>
            <a:ext cx="713232" cy="71323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60704" y="2788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Pérdida de Control de Equipos Mineros e Industriales</a:t>
            </a:r>
            <a:endParaRPr lang="en-US" sz="2900" dirty="0"/>
          </a:p>
        </p:txBody>
      </p:sp>
      <p:sp>
        <p:nvSpPr>
          <p:cNvPr id="6" name="Text 3"/>
          <p:cNvSpPr txBox="1"/>
          <p:nvPr/>
        </p:nvSpPr>
        <p:spPr>
          <a:xfrm>
            <a:off x="2432304" y="391363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 cuando el operador pierde el dominio de dirección, velocidad o frenado del equipo minero o industrial durante la operación.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0" y="4736592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7C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FALLAN LOS CONTROLES, LAS CONSECUENCIAS SON: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88136" y="5193792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121D3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79576" y="51937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Choque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088136" y="5193792"/>
            <a:ext cx="2331720" cy="548640"/>
          </a:xfrm>
          <a:prstGeom prst="roundRect">
            <a:avLst>
              <a:gd name="adj" fmla="val 50000"/>
            </a:avLst>
          </a:prstGeom>
          <a:ln w="15875">
            <a:solidFill>
              <a:srgbClr val="E8632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48456" y="5193792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121D3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739896" y="51937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Colisión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648456" y="5193792"/>
            <a:ext cx="2331720" cy="548640"/>
          </a:xfrm>
          <a:prstGeom prst="roundRect">
            <a:avLst>
              <a:gd name="adj" fmla="val 50000"/>
            </a:avLst>
          </a:prstGeom>
          <a:ln w="15875">
            <a:solidFill>
              <a:srgbClr val="E8632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08776" y="5193792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121D3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300216" y="51937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Volcamiento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208776" y="5193792"/>
            <a:ext cx="2331720" cy="548640"/>
          </a:xfrm>
          <a:prstGeom prst="roundRect">
            <a:avLst>
              <a:gd name="adj" fmla="val 50000"/>
            </a:avLst>
          </a:prstGeom>
          <a:ln w="15875">
            <a:solidFill>
              <a:srgbClr val="E8632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769096" y="5193792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121D3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860536" y="51937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Desbarrancamiento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769096" y="5193792"/>
            <a:ext cx="2331720" cy="548640"/>
          </a:xfrm>
          <a:prstGeom prst="roundRect">
            <a:avLst>
              <a:gd name="adj" fmla="val 50000"/>
            </a:avLst>
          </a:prstGeom>
          <a:ln w="15875">
            <a:solidFill>
              <a:srgbClr val="E8632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SIGO-ECC-003-25  ·  RF25 · Equipos Mineros e Industriales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APLICA ESTE RIESGO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634472" y="457200"/>
            <a:ext cx="914400" cy="914400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5" name="Image 0" descr="/tmp/claude-0/-home-user-Listas-de-Verificaci-n-y-Observaciones-RCO/12a070ba-833b-5b06-92f2-64c2c1a634f4/scratchpad/assets/icons/minetru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5836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554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de acuñadura y fortificación, carguío, transporte, perforación y apoyo cuya operación requiere licencia tipo D u otro caso especial definido por el Centro de Trabajo: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2615184" cy="3520440"/>
          </a:xfrm>
          <a:prstGeom prst="roundRect">
            <a:avLst>
              <a:gd name="adj" fmla="val 2797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481328" y="2514600"/>
            <a:ext cx="749808" cy="74980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9" name="Image 1" descr="/tmp/claude-0/-home-user-Listas-de-Verificaci-n-y-Observaciones-RCO/12a070ba-833b-5b06-92f2-64c2c1a634f4/scratchpad/assets/icons/minetru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286" y="2679558"/>
            <a:ext cx="419892" cy="4198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3232" y="3429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Carguío y transporte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4041648"/>
            <a:ext cx="22494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Cargador LHD, CAEX, camión articulado, pala mecánica, camión aljibe y mixer.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3337560" y="2240280"/>
            <a:ext cx="2615184" cy="3520440"/>
          </a:xfrm>
          <a:prstGeom prst="roundRect">
            <a:avLst>
              <a:gd name="adj" fmla="val 2797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270248" y="2514600"/>
            <a:ext cx="749808" cy="74980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4" name="Image 2" descr="/tmp/claude-0/-home-user-Listas-de-Verificaci-n-y-Observaciones-RCO/12a070ba-833b-5b06-92f2-64c2c1a634f4/scratchpad/assets/icons/rada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206" y="2679558"/>
            <a:ext cx="419892" cy="4198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02152" y="3429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Perforación y fortificación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3520440" y="4041648"/>
            <a:ext cx="22494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de perforación, acuñadura, Roboshot, rotopala y sondaje.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6126480" y="2240280"/>
            <a:ext cx="2615184" cy="3520440"/>
          </a:xfrm>
          <a:prstGeom prst="roundRect">
            <a:avLst>
              <a:gd name="adj" fmla="val 2797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059168" y="2514600"/>
            <a:ext cx="749808" cy="74980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9" name="Image 3" descr="/tmp/claude-0/-home-user-Listas-de-Verificaci-n-y-Observaciones-RCO/12a070ba-833b-5b06-92f2-64c2c1a634f4/scratchpad/assets/icons/bulldoze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4126" y="2679558"/>
            <a:ext cx="419892" cy="41989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291072" y="3429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Movimiento de tierra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6309360" y="4041648"/>
            <a:ext cx="22494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Tractores (wheeldozer/bulldozer), motoniveladora, cargadores y retroexcavadoras.</a:t>
            </a:r>
            <a:endParaRPr lang="en-US" sz="1080" dirty="0"/>
          </a:p>
        </p:txBody>
      </p:sp>
      <p:sp>
        <p:nvSpPr>
          <p:cNvPr id="22" name="Shape 16"/>
          <p:cNvSpPr/>
          <p:nvPr/>
        </p:nvSpPr>
        <p:spPr>
          <a:xfrm>
            <a:off x="8915400" y="2240280"/>
            <a:ext cx="2615184" cy="3520440"/>
          </a:xfrm>
          <a:prstGeom prst="roundRect">
            <a:avLst>
              <a:gd name="adj" fmla="val 2797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27000" dist="38100" dir="5400000">
              <a:srgbClr val="1B2A4A">
                <a:alpha val="1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848088" y="2514600"/>
            <a:ext cx="749808" cy="74980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4" name="Image 4" descr="/tmp/claude-0/-home-user-Listas-de-Verificaci-n-y-Observaciones-RCO/12a070ba-833b-5b06-92f2-64c2c1a634f4/scratchpad/assets/icons/tru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3046" y="2679558"/>
            <a:ext cx="419892" cy="41989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079992" y="3429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y otros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9098280" y="4041648"/>
            <a:ext cx="22494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Grúa horquilla, camión barre nieve/aspirador, manipuladores telescópicos.</a:t>
            </a:r>
            <a:endParaRPr lang="en-US" sz="108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SIGO-ECC-003-25  ·  RF25 · Equipos Mineros e Industriales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 CUBRE ESTE DOCUMENTO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Exclusiones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634472" y="457200"/>
            <a:ext cx="914400" cy="9144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tmp/claude-0/-home-user-Listas-de-Verificaci-n-y-Observaciones-RCO/12a070ba-833b-5b06-92f2-64c2c1a634f4/scratchpad/assets/icons/ban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58368"/>
            <a:ext cx="512064" cy="512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5544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evento considera como exclusión los siguientes escenarios, que se gestionan bajo otros riesgos de fatalidad: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2409444"/>
            <a:ext cx="530352" cy="530352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9" name="Image 1" descr="/tmp/claude-0/-home-user-Listas-de-Verificaci-n-y-Observaciones-RCO/12a070ba-833b-5b06-92f2-64c2c1a634f4/scratchpad/assets/icons/ba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73" y="2488997"/>
            <a:ext cx="371246" cy="37124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14884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ferroviarias dentro y fuera de los recintos industriales.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72200" y="214884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/>
        </p:spPr>
      </p:sp>
      <p:sp>
        <p:nvSpPr>
          <p:cNvPr id="12" name="Shape 8"/>
          <p:cNvSpPr/>
          <p:nvPr/>
        </p:nvSpPr>
        <p:spPr>
          <a:xfrm>
            <a:off x="6355080" y="2409444"/>
            <a:ext cx="530352" cy="530352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13" name="Image 2" descr="/tmp/claude-0/-home-user-Listas-de-Verificaci-n-y-Observaciones-RCO/12a070ba-833b-5b06-92f2-64c2c1a634f4/scratchpad/assets/icons/ba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33" y="2488997"/>
            <a:ext cx="371246" cy="37124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040880" y="214884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o maquinarias no autopropulsados y equipos alza-hombres (man-lift).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364992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/>
        </p:spPr>
      </p:sp>
      <p:sp>
        <p:nvSpPr>
          <p:cNvPr id="16" name="Shape 11"/>
          <p:cNvSpPr/>
          <p:nvPr/>
        </p:nvSpPr>
        <p:spPr>
          <a:xfrm>
            <a:off x="731520" y="3625596"/>
            <a:ext cx="530352" cy="530352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17" name="Image 3" descr="/tmp/claude-0/-home-user-Listas-de-Verificaci-n-y-Observaciones-RCO/12a070ba-833b-5b06-92f2-64c2c1a634f4/scratchpad/assets/icons/ban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3" y="3705149"/>
            <a:ext cx="371246" cy="37124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3364992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Grúa articulada y grúa torre.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172200" y="3364992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/>
        </p:spPr>
      </p:sp>
      <p:sp>
        <p:nvSpPr>
          <p:cNvPr id="20" name="Shape 14"/>
          <p:cNvSpPr/>
          <p:nvPr/>
        </p:nvSpPr>
        <p:spPr>
          <a:xfrm>
            <a:off x="6355080" y="3625596"/>
            <a:ext cx="530352" cy="530352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21" name="Image 4" descr="/tmp/claude-0/-home-user-Listas-de-Verificaci-n-y-Observaciones-RCO/12a070ba-833b-5b06-92f2-64c2c1a634f4/scratchpad/assets/icons/ban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4633" y="3705149"/>
            <a:ext cx="371246" cy="37124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040880" y="3364992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control de vehículos livianos.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548640" y="4581144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/>
        </p:spPr>
      </p:sp>
      <p:sp>
        <p:nvSpPr>
          <p:cNvPr id="24" name="Shape 17"/>
          <p:cNvSpPr/>
          <p:nvPr/>
        </p:nvSpPr>
        <p:spPr>
          <a:xfrm>
            <a:off x="731520" y="4841748"/>
            <a:ext cx="530352" cy="530352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25" name="Image 5" descr="/tmp/claude-0/-home-user-Listas-de-Verificaci-n-y-Observaciones-RCO/12a070ba-833b-5b06-92f2-64c2c1a634f4/scratchpad/assets/icons/ban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073" y="4921301"/>
            <a:ext cx="371246" cy="37124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417320" y="4581144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control en maniobras de izaje.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6172200" y="4581144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/>
        </p:spPr>
      </p:sp>
      <p:sp>
        <p:nvSpPr>
          <p:cNvPr id="28" name="Shape 20"/>
          <p:cNvSpPr/>
          <p:nvPr/>
        </p:nvSpPr>
        <p:spPr>
          <a:xfrm>
            <a:off x="6355080" y="4841748"/>
            <a:ext cx="530352" cy="530352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29" name="Image 6" descr="/tmp/claude-0/-home-user-Listas-de-Verificaci-n-y-Observaciones-RCO/12a070ba-833b-5b06-92f2-64c2c1a634f4/scratchpad/assets/icons/ban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4633" y="4921301"/>
            <a:ext cx="371246" cy="37124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040880" y="4581144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de equipos autónomos.</a:t>
            </a:r>
            <a:endParaRPr lang="en-US" sz="1250" dirty="0"/>
          </a:p>
        </p:txBody>
      </p:sp>
      <p:sp>
        <p:nvSpPr>
          <p:cNvPr id="31" name="Text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SIGO-ECC-003-25  ·  RF25 · Equipos Mineros e Industriales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ANÁLISIS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se produce el evento?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634472" y="457200"/>
            <a:ext cx="914400" cy="9144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/tmp/claude-0/-home-user-Listas-de-Verificaci-n-y-Observaciones-RCO/12a070ba-833b-5b06-92f2-64c2c1a634f4/scratchpad/assets/icons/flow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58368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3931920" cy="4526280"/>
          </a:xfrm>
          <a:prstGeom prst="roundRect">
            <a:avLst>
              <a:gd name="adj" fmla="val 1860"/>
            </a:avLst>
          </a:prstGeom>
          <a:solidFill>
            <a:srgbClr val="F4F6F9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856232"/>
            <a:ext cx="548640" cy="548640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8" name="Image 1" descr="/tmp/claude-0/-home-user-Listas-de-Verificaci-n-y-Observaciones-RCO/12a070ba-833b-5b06-92f2-64c2c1a634f4/scratchpad/assets/icons/ale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15" y="1954987"/>
            <a:ext cx="351130" cy="35113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18928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CAUSAS TÍPICAS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651760"/>
            <a:ext cx="33832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Exceso de velocidad o no ajustarla a las condiciones de la ruta.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Distracción o pérdida de atención durante la operación.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 fatigado, somnoliento o con alerta disminuida.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incorrecto de frenos, retardo o selección de marchas.</a:t>
            </a:r>
            <a:endParaRPr lang="en-US" sz="12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Fallas mecánicas o eléctricas del equipo no detectadas.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53712" y="3680460"/>
            <a:ext cx="384048" cy="365760"/>
          </a:xfrm>
          <a:prstGeom prst="rightArrow">
            <a:avLst/>
          </a:prstGeom>
          <a:solidFill>
            <a:srgbClr val="8792A6"/>
          </a:solidFill>
          <a:ln/>
        </p:spPr>
      </p:sp>
      <p:sp>
        <p:nvSpPr>
          <p:cNvPr id="12" name="Shape 8"/>
          <p:cNvSpPr/>
          <p:nvPr/>
        </p:nvSpPr>
        <p:spPr>
          <a:xfrm>
            <a:off x="5143500" y="2560320"/>
            <a:ext cx="1965960" cy="1965960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13" name="Image 2" descr="/tmp/claude-0/-home-user-Listas-de-Verificaci-n-y-Observaciones-RCO/12a070ba-833b-5b06-92f2-64c2c1a634f4/scratchpad/assets/icons/carcrash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4309" y="3091129"/>
            <a:ext cx="904342" cy="9043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93776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TOP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4709160" y="46634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Pérdida de Control del Equipo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7333488" y="3680460"/>
            <a:ext cx="384048" cy="365760"/>
          </a:xfrm>
          <a:prstGeom prst="rightArrow">
            <a:avLst/>
          </a:prstGeom>
          <a:solidFill>
            <a:srgbClr val="8792A6"/>
          </a:solidFill>
          <a:ln/>
        </p:spPr>
      </p:sp>
      <p:sp>
        <p:nvSpPr>
          <p:cNvPr id="17" name="Shape 12"/>
          <p:cNvSpPr/>
          <p:nvPr/>
        </p:nvSpPr>
        <p:spPr>
          <a:xfrm>
            <a:off x="7863840" y="1600200"/>
            <a:ext cx="3776472" cy="4526280"/>
          </a:xfrm>
          <a:prstGeom prst="roundRect">
            <a:avLst>
              <a:gd name="adj" fmla="val 1937"/>
            </a:avLst>
          </a:prstGeom>
          <a:solidFill>
            <a:srgbClr val="F4F6F9"/>
          </a:solidFill>
          <a:ln/>
        </p:spPr>
      </p:sp>
      <p:sp>
        <p:nvSpPr>
          <p:cNvPr id="18" name="Shape 13"/>
          <p:cNvSpPr/>
          <p:nvPr/>
        </p:nvSpPr>
        <p:spPr>
          <a:xfrm>
            <a:off x="8138160" y="1856232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9" name="Image 3" descr="/tmp/claude-0/-home-user-Listas-de-Verificaci-n-y-Observaciones-RCO/12a070ba-833b-5b06-92f2-64c2c1a634f4/scratchpad/assets/icons/carcrash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942" y="1944014"/>
            <a:ext cx="373075" cy="37307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869680" y="18928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EVENTOS NO DESEADOS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8138160" y="25603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Evento Top ocurre, los Controles Mitigadores buscan reducir sus consecuencias: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8138160" y="3383280"/>
            <a:ext cx="3246120" cy="50292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8229600" y="33832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Choque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8138160" y="4005072"/>
            <a:ext cx="3246120" cy="50292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8229600" y="40050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Colisión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8138160" y="4626864"/>
            <a:ext cx="3246120" cy="50292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229600" y="4626864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Volcamiento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8138160" y="5248656"/>
            <a:ext cx="3246120" cy="50292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8229600" y="5248656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Desbarrancamiento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SIGO-ECC-003-25  ·  RF25 · Equipos Mineros e Industriales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CONTROLES QUE DEBEN ESTAR SIEMPRE PRESENTES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Controles Críticos — Equipos Mineros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634472" y="457200"/>
            <a:ext cx="914400" cy="914400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5" name="Image 0" descr="/tmp/claude-0/-home-user-Listas-de-Verificaci-n-y-Observaciones-RCO/12a070ba-833b-5b06-92f2-64c2c1a634f4/scratchpad/assets/icons/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58368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27632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4F6F9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1719072"/>
            <a:ext cx="566928" cy="566928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8" name="Image 1" descr="/tmp/claude-0/-home-user-Listas-de-Verificaci-n-y-Observaciones-RCO/12a070ba-833b-5b06-92f2-64c2c1a634f4/scratchpad/assets/icons/idcar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898" y="1815450"/>
            <a:ext cx="374172" cy="3741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162763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CCP1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2468880" y="1627632"/>
            <a:ext cx="6903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acreditado y apto física y psicológicamente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9555480" y="1819656"/>
            <a:ext cx="1810512" cy="365760"/>
          </a:xfrm>
          <a:prstGeom prst="roundRect">
            <a:avLst>
              <a:gd name="adj" fmla="val 50000"/>
            </a:avLst>
          </a:prstGeom>
          <a:solidFill>
            <a:srgbClr val="E8632C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9646920" y="181965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Preventivo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2478024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4F6F9"/>
          </a:solidFill>
          <a:ln/>
        </p:spPr>
      </p:sp>
      <p:sp>
        <p:nvSpPr>
          <p:cNvPr id="14" name="Shape 10"/>
          <p:cNvSpPr/>
          <p:nvPr/>
        </p:nvSpPr>
        <p:spPr>
          <a:xfrm>
            <a:off x="731520" y="2569464"/>
            <a:ext cx="566928" cy="566928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15" name="Image 2" descr="/tmp/claude-0/-home-user-Listas-de-Verificaci-n-y-Observaciones-RCO/12a070ba-833b-5b06-92f2-64c2c1a634f4/scratchpad/assets/icons/satellit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98" y="2665842"/>
            <a:ext cx="374172" cy="3741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81328" y="2478024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CCP2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2468880" y="2478024"/>
            <a:ext cx="6903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Integral de Asistencia y Monitoreo a la Conducción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555480" y="2670048"/>
            <a:ext cx="1810512" cy="365760"/>
          </a:xfrm>
          <a:prstGeom prst="roundRect">
            <a:avLst>
              <a:gd name="adj" fmla="val 50000"/>
            </a:avLst>
          </a:prstGeom>
          <a:solidFill>
            <a:srgbClr val="E8632C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9646920" y="2670048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Preventivo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328416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4F6F9"/>
          </a:solidFill>
          <a:ln/>
        </p:spPr>
      </p:sp>
      <p:sp>
        <p:nvSpPr>
          <p:cNvPr id="21" name="Shape 16"/>
          <p:cNvSpPr/>
          <p:nvPr/>
        </p:nvSpPr>
        <p:spPr>
          <a:xfrm>
            <a:off x="731520" y="3419856"/>
            <a:ext cx="566928" cy="566928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22" name="Image 3" descr="/tmp/claude-0/-home-user-Listas-de-Verificaci-n-y-Observaciones-RCO/12a070ba-833b-5b06-92f2-64c2c1a634f4/scratchpad/assets/icons/wrench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898" y="3516234"/>
            <a:ext cx="374172" cy="37417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81328" y="3328416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CCP3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2468880" y="3328416"/>
            <a:ext cx="6903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de componentes críticos del equipo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9555480" y="3520440"/>
            <a:ext cx="1810512" cy="365760"/>
          </a:xfrm>
          <a:prstGeom prst="roundRect">
            <a:avLst>
              <a:gd name="adj" fmla="val 50000"/>
            </a:avLst>
          </a:prstGeom>
          <a:solidFill>
            <a:srgbClr val="E8632C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9646920" y="352044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Preventivo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548640" y="4178808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4F6F9"/>
          </a:solidFill>
          <a:ln/>
        </p:spPr>
      </p:sp>
      <p:sp>
        <p:nvSpPr>
          <p:cNvPr id="28" name="Shape 22"/>
          <p:cNvSpPr/>
          <p:nvPr/>
        </p:nvSpPr>
        <p:spPr>
          <a:xfrm>
            <a:off x="731520" y="4270248"/>
            <a:ext cx="566928" cy="566928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29" name="Image 4" descr="/tmp/claude-0/-home-user-Listas-de-Verificaci-n-y-Observaciones-RCO/12a070ba-833b-5b06-92f2-64c2c1a634f4/scratchpad/assets/icons/roa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898" y="4366626"/>
            <a:ext cx="374172" cy="37417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481328" y="4178808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CCP4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2468880" y="4178808"/>
            <a:ext cx="6903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vial conforme a diseño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9555480" y="4370832"/>
            <a:ext cx="1810512" cy="365760"/>
          </a:xfrm>
          <a:prstGeom prst="roundRect">
            <a:avLst>
              <a:gd name="adj" fmla="val 50000"/>
            </a:avLst>
          </a:prstGeom>
          <a:solidFill>
            <a:srgbClr val="E8632C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9646920" y="4370832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Preventivo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548640" y="502920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4F6F9"/>
          </a:solidFill>
          <a:ln/>
        </p:spPr>
      </p:sp>
      <p:sp>
        <p:nvSpPr>
          <p:cNvPr id="35" name="Shape 28"/>
          <p:cNvSpPr/>
          <p:nvPr/>
        </p:nvSpPr>
        <p:spPr>
          <a:xfrm>
            <a:off x="731520" y="512064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6" name="Image 5" descr="/tmp/claude-0/-home-user-Listas-de-Verificaci-n-y-Observaciones-RCO/12a070ba-833b-5b06-92f2-64c2c1a634f4/scratchpad/assets/icons/hardha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898" y="5217018"/>
            <a:ext cx="374172" cy="37417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481328" y="502920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CCM1</a:t>
            </a:r>
            <a:endParaRPr lang="en-US" sz="1700" dirty="0"/>
          </a:p>
        </p:txBody>
      </p:sp>
      <p:sp>
        <p:nvSpPr>
          <p:cNvPr id="38" name="Text 30"/>
          <p:cNvSpPr txBox="1"/>
          <p:nvPr/>
        </p:nvSpPr>
        <p:spPr>
          <a:xfrm>
            <a:off x="2468880" y="5029200"/>
            <a:ext cx="6903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Cabinas de Protección (ROPS y FOPS)</a:t>
            </a:r>
            <a:endParaRPr lang="en-US" sz="1300" dirty="0"/>
          </a:p>
        </p:txBody>
      </p:sp>
      <p:sp>
        <p:nvSpPr>
          <p:cNvPr id="39" name="Shape 31"/>
          <p:cNvSpPr/>
          <p:nvPr/>
        </p:nvSpPr>
        <p:spPr>
          <a:xfrm>
            <a:off x="9555480" y="5221224"/>
            <a:ext cx="1810512" cy="36576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9646920" y="5221224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Mitigador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548640" y="5879592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4F6F9"/>
          </a:solidFill>
          <a:ln/>
        </p:spPr>
      </p:sp>
      <p:sp>
        <p:nvSpPr>
          <p:cNvPr id="42" name="Shape 34"/>
          <p:cNvSpPr/>
          <p:nvPr/>
        </p:nvSpPr>
        <p:spPr>
          <a:xfrm>
            <a:off x="731520" y="5971032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43" name="Image 6" descr="/tmp/claude-0/-home-user-Listas-de-Verificaci-n-y-Observaciones-RCO/12a070ba-833b-5b06-92f2-64c2c1a634f4/scratchpad/assets/icons/ambulance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898" y="6067410"/>
            <a:ext cx="374172" cy="374172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1481328" y="587959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CCM2</a:t>
            </a:r>
            <a:endParaRPr lang="en-US" sz="1700" dirty="0"/>
          </a:p>
        </p:txBody>
      </p:sp>
      <p:sp>
        <p:nvSpPr>
          <p:cNvPr id="45" name="Text 36"/>
          <p:cNvSpPr txBox="1"/>
          <p:nvPr/>
        </p:nvSpPr>
        <p:spPr>
          <a:xfrm>
            <a:off x="2468880" y="5879592"/>
            <a:ext cx="6903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de Respuesta ante Emergencia</a:t>
            </a:r>
            <a:endParaRPr lang="en-US" sz="1300" dirty="0"/>
          </a:p>
        </p:txBody>
      </p:sp>
      <p:sp>
        <p:nvSpPr>
          <p:cNvPr id="46" name="Shape 37"/>
          <p:cNvSpPr/>
          <p:nvPr/>
        </p:nvSpPr>
        <p:spPr>
          <a:xfrm>
            <a:off x="9555480" y="6071616"/>
            <a:ext cx="1810512" cy="365760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47" name="Text 38"/>
          <p:cNvSpPr txBox="1"/>
          <p:nvPr/>
        </p:nvSpPr>
        <p:spPr>
          <a:xfrm>
            <a:off x="9646920" y="6071616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Mitigador</a:t>
            </a:r>
            <a:endParaRPr lang="en-US" sz="1100" dirty="0"/>
          </a:p>
        </p:txBody>
      </p:sp>
      <p:sp>
        <p:nvSpPr>
          <p:cNvPr id="48" name="Text 3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SIGO-ECC-003-25  ·  RF25 · Equipos Mineros e Industriales</a:t>
            </a:r>
            <a:endParaRPr lang="en-US" sz="900" dirty="0"/>
          </a:p>
        </p:txBody>
      </p:sp>
      <p:sp>
        <p:nvSpPr>
          <p:cNvPr id="49" name="Text 40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CRÍTICO PREVENTIVO 1 (CCP1)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CCP1 — Conductor acreditado y apto física y psicológicamente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634472" y="457200"/>
            <a:ext cx="914400" cy="914400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5" name="Image 0" descr="/tmp/claude-0/-home-user-Listas-de-Verificaci-n-y-Observaciones-RCO/12a070ba-833b-5b06-92f2-64c2c1a634f4/scratchpad/assets/icons/idcar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58368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6537960" cy="4480560"/>
          </a:xfrm>
          <a:prstGeom prst="roundRect">
            <a:avLst>
              <a:gd name="adj" fmla="val 1633"/>
            </a:avLst>
          </a:prstGeom>
          <a:solidFill>
            <a:srgbClr val="F4F6F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8928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67128"/>
            <a:ext cx="5989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Garantizar que toda persona que opere equipos mineros esté debidamente formada, evaluada por la organización y con aptitud médica vigente, reduciendo el riesgo de errores operacionales por fallas humanas o falta de capacitación.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319272"/>
            <a:ext cx="5989320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3429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CLAVE POR ROL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960" y="377647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8632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37764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TRABAJADOR/A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37490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¿Estoy acreditado, autorizado y me encuentro física y psicológicamente apto para operar el equipo?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" y="45720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4780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45720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SUPERVISOR/A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2423160" y="45445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¿Todo el personal que opera equipos mineros está acreditado, con examen médico vigente y en condiciones físicas y psicológicas aptas?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" y="53675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53675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EJECUTIVO/A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2423160" y="534009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garantiza que todo conductor de equipos mineros esté acreditado, autorizado y con aptitud médica/psicológica vigente?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69480" y="1691640"/>
            <a:ext cx="4370832" cy="4480560"/>
          </a:xfrm>
          <a:prstGeom prst="roundRect">
            <a:avLst>
              <a:gd name="adj" fmla="val 1674"/>
            </a:avLst>
          </a:prstGeom>
          <a:solidFill>
            <a:srgbClr val="FBEAEA"/>
          </a:solidFill>
          <a:ln/>
        </p:spPr>
      </p:sp>
      <p:sp>
        <p:nvSpPr>
          <p:cNvPr id="21" name="Shape 18"/>
          <p:cNvSpPr/>
          <p:nvPr/>
        </p:nvSpPr>
        <p:spPr>
          <a:xfrm>
            <a:off x="7498080" y="1920240"/>
            <a:ext cx="502920" cy="502920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22" name="Image 1" descr="/tmp/claude-0/-home-user-Listas-de-Verificaci-n-y-Observaciones-RCO/12a070ba-833b-5b06-92f2-64c2c1a634f4/scratchpad/assets/icons/ale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518" y="1995678"/>
            <a:ext cx="352044" cy="3520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138160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DETÉNGASE SI OBSERVA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7498080" y="2651760"/>
            <a:ext cx="3977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2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conduce el equipo sin acreditación (sin credencial, curso aprobado ni validación médica).</a:t>
            </a:r>
            <a:endParaRPr lang="en-US" sz="112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2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conductor autorizado inexistente o no trazable en sistema.</a:t>
            </a:r>
            <a:endParaRPr lang="en-US" sz="112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2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involucrado en un evento significativo sin capacitación previa.</a:t>
            </a:r>
            <a:endParaRPr lang="en-US" sz="112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2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opera el equipo con evaluación médica no apta o vencida.</a:t>
            </a:r>
            <a:endParaRPr lang="en-US" sz="112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SIGO-ECC-003-25  ·  RF25 · Equipos Mineros e Industriales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CRÍTICO PREVENTIVO 2 (CCP2)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CCP2 — Sistema Integral de Asistencia y Monitoreo a la Conducción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634472" y="457200"/>
            <a:ext cx="914400" cy="914400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5" name="Image 0" descr="/tmp/claude-0/-home-user-Listas-de-Verificaci-n-y-Observaciones-RCO/12a070ba-833b-5b06-92f2-64c2c1a634f4/scratchpad/assets/icons/satellit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58368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6537960" cy="4480560"/>
          </a:xfrm>
          <a:prstGeom prst="roundRect">
            <a:avLst>
              <a:gd name="adj" fmla="val 1633"/>
            </a:avLst>
          </a:prstGeom>
          <a:solidFill>
            <a:srgbClr val="F4F6F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8928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67128"/>
            <a:ext cx="5989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Garantizar que el equipo cuente con sistemas operativos de asistencia y monitoreo que permitan detectar y prevenir desviaciones críticas: gestión de velocidad, fatiga o somnolencia, alertas de proximidad y colisión, y comunicación bidireccional con el centro de control.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319272"/>
            <a:ext cx="5989320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3429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CLAVE POR ROL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960" y="377647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8632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37764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TRABAJADOR/A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37490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¿Están operativos los sistemas del equipo que controlan velocidad, comunicación operacional, fatiga, somnolencia y alertas de proximidad?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" y="45720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4780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45720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SUPERVISOR/A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2423160" y="45445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¿Todos los equipos asignados tienen habilitados los sistemas que controlan velocidad, comunicación operacional, fatiga, somnolencia y alerta de proximidad?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" y="53675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53675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EJECUTIVO/A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2423160" y="534009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 implementado un sistema que asegure control de velocidad, monitoreo de fatiga y comunicación activa con el centro de control?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69480" y="1691640"/>
            <a:ext cx="4370832" cy="4480560"/>
          </a:xfrm>
          <a:prstGeom prst="roundRect">
            <a:avLst>
              <a:gd name="adj" fmla="val 1674"/>
            </a:avLst>
          </a:prstGeom>
          <a:solidFill>
            <a:srgbClr val="FBEAEA"/>
          </a:solidFill>
          <a:ln/>
        </p:spPr>
      </p:sp>
      <p:sp>
        <p:nvSpPr>
          <p:cNvPr id="21" name="Shape 18"/>
          <p:cNvSpPr/>
          <p:nvPr/>
        </p:nvSpPr>
        <p:spPr>
          <a:xfrm>
            <a:off x="7498080" y="1920240"/>
            <a:ext cx="502920" cy="502920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22" name="Image 1" descr="/tmp/claude-0/-home-user-Listas-de-Verificaci-n-y-Observaciones-RCO/12a070ba-833b-5b06-92f2-64c2c1a634f4/scratchpad/assets/icons/ale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518" y="1995678"/>
            <a:ext cx="352044" cy="3520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138160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DE EROSIÓN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7498080" y="2651760"/>
            <a:ext cx="3977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2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opera con sistemas de velocidad, fatiga o colisión desactivados, con fallas o sin mantenimiento registrado.</a:t>
            </a:r>
            <a:endParaRPr lang="en-US" sz="112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2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 comunicación operativa entre el equipo y el centro de control, sin protocolo alternativo.</a:t>
            </a:r>
            <a:endParaRPr lang="en-US" sz="112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2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activa una alerta de fatiga o proximidad y no existe respuesta ni trazabilidad de la acción.</a:t>
            </a:r>
            <a:endParaRPr lang="en-US" sz="112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2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permite operar un equipo sin evidencia actualizada del funcionamiento de sus sistemas de asistencia.</a:t>
            </a:r>
            <a:endParaRPr lang="en-US" sz="112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SIGO-ECC-003-25  ·  RF25 · Equipos Mineros e Industriales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CRÍTICO PREVENTIVO 3 (CCP3)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CCP3 — Integridad de componentes críticos del equipo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634472" y="457200"/>
            <a:ext cx="914400" cy="914400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5" name="Image 0" descr="/tmp/claude-0/-home-user-Listas-de-Verificaci-n-y-Observaciones-RCO/12a070ba-833b-5b06-92f2-64c2c1a634f4/scratchpad/assets/icons/wren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58368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6537960" cy="4480560"/>
          </a:xfrm>
          <a:prstGeom prst="roundRect">
            <a:avLst>
              <a:gd name="adj" fmla="val 1633"/>
            </a:avLst>
          </a:prstGeom>
          <a:solidFill>
            <a:srgbClr val="F4F6F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8928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67128"/>
            <a:ext cx="5989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 que los componentes críticos relacionados con frenos, dirección, neumáticos, sistemas hidráulicos y eléctricos mantengan condiciones de funcionamiento seguras, evitando pérdida de control, incendios o fallas operativas durante la conducción.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319272"/>
            <a:ext cx="5989320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3429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CLAVE POR ROL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960" y="377647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8632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37764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TRABAJADOR/A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37490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¿Verifiqué que los componentes mecánicos, hidráulicos y eléctricos del equipo estén en condiciones normales y sin fallas visibles antes de operar?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" y="45720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4780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45720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SUPERVISOR/A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2423160" y="45445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¿Fueron verificados hoy los sistemas críticos del equipo: frenos, dirección, neumáticos, sistemas hidráulicos y eléctricos?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" y="53675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53675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EJECUTIVO/A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2423160" y="534009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 implementado en terreno un sistema que asegure la integridad funcional y el mantenimiento de todos los componentes críticos?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69480" y="1691640"/>
            <a:ext cx="4370832" cy="4480560"/>
          </a:xfrm>
          <a:prstGeom prst="roundRect">
            <a:avLst>
              <a:gd name="adj" fmla="val 1674"/>
            </a:avLst>
          </a:prstGeom>
          <a:solidFill>
            <a:srgbClr val="FBEAEA"/>
          </a:solidFill>
          <a:ln/>
        </p:spPr>
      </p:sp>
      <p:sp>
        <p:nvSpPr>
          <p:cNvPr id="21" name="Shape 18"/>
          <p:cNvSpPr/>
          <p:nvPr/>
        </p:nvSpPr>
        <p:spPr>
          <a:xfrm>
            <a:off x="7498080" y="1920240"/>
            <a:ext cx="502920" cy="502920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22" name="Image 1" descr="/tmp/claude-0/-home-user-Listas-de-Verificaci-n-y-Observaciones-RCO/12a070ba-833b-5b06-92f2-64c2c1a634f4/scratchpad/assets/icons/ale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518" y="1995678"/>
            <a:ext cx="352044" cy="3520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138160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DETÉNGASE SI OBSERVA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7498080" y="2651760"/>
            <a:ext cx="3977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2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opera con fallas activas en frenos, dirección, neumáticos, sistemas eléctricos o hidráulicos.</a:t>
            </a:r>
            <a:endParaRPr lang="en-US" sz="112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2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 un incendio o pérdida de control atribuible a fuga hidráulica, cortocircuito o falla mecánica conocida.</a:t>
            </a:r>
            <a:endParaRPr lang="en-US" sz="112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2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presenta colapso de funciones esenciales sin haber sido detectado en revisión previa.</a:t>
            </a:r>
            <a:endParaRPr lang="en-US" sz="112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2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evidencia una falla grave derivada de mantenimiento deficiente o incumplimiento del plan matriz.</a:t>
            </a:r>
            <a:endParaRPr lang="en-US" sz="112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SIGO-ECC-003-25  ·  RF25 · Equipos Mineros e Industriales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CRÍTICO PREVENTIVO 4 (CCP4)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CCP4 — Infraestructura vial conforme a diseño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634472" y="457200"/>
            <a:ext cx="914400" cy="914400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5" name="Image 0" descr="/tmp/claude-0/-home-user-Listas-de-Verificaci-n-y-Observaciones-RCO/12a070ba-833b-5b06-92f2-64c2c1a634f4/scratchpad/assets/icons/roa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58368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6537960" cy="4480560"/>
          </a:xfrm>
          <a:prstGeom prst="roundRect">
            <a:avLst>
              <a:gd name="adj" fmla="val 1633"/>
            </a:avLst>
          </a:prstGeom>
          <a:solidFill>
            <a:srgbClr val="F4F6F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8928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67128"/>
            <a:ext cx="5989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 que las rutas operacionales —rampas, botaderos, plataformas de carga, bermas, pretiles, radios de giro, drenaje, señalización y segregación— mantengan condiciones estructurales, visibilidad y limpieza acordes al diseño.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319272"/>
            <a:ext cx="5989320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3429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CLAVE POR ROL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960" y="377647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8632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37764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TRABAJADOR/A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37490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¿Identifico que las condiciones viales son seguras (bermas, pretiles, señalización, peraltes, angostamiento, altura de banco) y sé que debo reportarlas si no lo son?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" y="45720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4780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45720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SUPERVISOR/A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2423160" y="45445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¿He verificado que la infraestructura vial operativa esté conforme a diseño y libre de condiciones que afecten la conducción segura?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" y="53675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53675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EJECUTIVO/A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2423160" y="534009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asegura que las rutas operacionales cuenten con bermas, radios, drenaje y señalización en condiciones de diseño y mantenidas?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69480" y="1691640"/>
            <a:ext cx="4370832" cy="4480560"/>
          </a:xfrm>
          <a:prstGeom prst="roundRect">
            <a:avLst>
              <a:gd name="adj" fmla="val 1674"/>
            </a:avLst>
          </a:prstGeom>
          <a:solidFill>
            <a:srgbClr val="FBEAEA"/>
          </a:solidFill>
          <a:ln/>
        </p:spPr>
      </p:sp>
      <p:sp>
        <p:nvSpPr>
          <p:cNvPr id="21" name="Shape 18"/>
          <p:cNvSpPr/>
          <p:nvPr/>
        </p:nvSpPr>
        <p:spPr>
          <a:xfrm>
            <a:off x="7498080" y="1920240"/>
            <a:ext cx="502920" cy="502920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22" name="Image 1" descr="/tmp/claude-0/-home-user-Listas-de-Verificaci-n-y-Observaciones-RCO/12a070ba-833b-5b06-92f2-64c2c1a634f4/scratchpad/assets/icons/ale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518" y="1995678"/>
            <a:ext cx="352044" cy="3520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138160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DETÉNGASE SI OBSERVA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7498080" y="2651760"/>
            <a:ext cx="3977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2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operativa sin bermas o pretiles, o con estructuras deterioradas, con angostamiento de caminos.</a:t>
            </a:r>
            <a:endParaRPr lang="en-US" sz="112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2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señalización en sectores de alto tránsito o con condiciones críticas.</a:t>
            </a:r>
            <a:endParaRPr lang="en-US" sz="112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2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no autorizado o sin control a rutas en mantención o restringidas.</a:t>
            </a:r>
            <a:endParaRPr lang="en-US" sz="112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2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Ocurrencia de pérdida de control por baches, cortes de vía o pendientes no mantenidas.</a:t>
            </a:r>
            <a:endParaRPr lang="en-US" sz="112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SIGO-ECC-003-25  ·  RF25 · Equipos Mineros e Industriales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CRÍTICO MITIGADOR 1 (CCM1)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CCM1 — Cabinas de Protección (ROPS y FOPS)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634472" y="457200"/>
            <a:ext cx="914400" cy="9144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/tmp/claude-0/-home-user-Listas-de-Verificaci-n-y-Observaciones-RCO/12a070ba-833b-5b06-92f2-64c2c1a634f4/scratchpad/assets/icons/hardha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58368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6537960" cy="4480560"/>
          </a:xfrm>
          <a:prstGeom prst="roundRect">
            <a:avLst>
              <a:gd name="adj" fmla="val 1633"/>
            </a:avLst>
          </a:prstGeom>
          <a:solidFill>
            <a:srgbClr val="F4F6F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8928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67128"/>
            <a:ext cx="5989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la integridad física del operador ante vuelcos o caída de objetos, asegurando que la cabina del equipo cuente con estructuras ROPS y FOPS certificadas, íntegras, sin modificaciones y con mantención validada.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319272"/>
            <a:ext cx="5989320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3429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CLAVE POR ROL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960" y="377647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8632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37764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TRABAJADOR/A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37490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cabina del equipo que operaré hoy tiene estructura ROPS y FOPS en buen estado, sin daños ni intervenciones visibles?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" y="45720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4780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45720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SUPERVISOR/A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2423160" y="45445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¿Todos los equipos en operación cuentan con certificación vigente y verificación visual de estructuras ROPS y FOPS sin modificaciones?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" y="53675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53675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EJECUTIVO/A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2423160" y="534009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garantiza que todas las cabinas de equipos cuenten con ROPS y FOPS certificados, íntegros y sin modificaciones estructurales?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69480" y="1691640"/>
            <a:ext cx="4370832" cy="4480560"/>
          </a:xfrm>
          <a:prstGeom prst="roundRect">
            <a:avLst>
              <a:gd name="adj" fmla="val 1674"/>
            </a:avLst>
          </a:prstGeom>
          <a:solidFill>
            <a:srgbClr val="FBEAEA"/>
          </a:solidFill>
          <a:ln/>
        </p:spPr>
      </p:sp>
      <p:sp>
        <p:nvSpPr>
          <p:cNvPr id="21" name="Shape 18"/>
          <p:cNvSpPr/>
          <p:nvPr/>
        </p:nvSpPr>
        <p:spPr>
          <a:xfrm>
            <a:off x="7498080" y="1920240"/>
            <a:ext cx="502920" cy="502920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22" name="Image 1" descr="/tmp/claude-0/-home-user-Listas-de-Verificaci-n-y-Observaciones-RCO/12a070ba-833b-5b06-92f2-64c2c1a634f4/scratchpad/assets/icons/ale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518" y="1995678"/>
            <a:ext cx="352044" cy="3520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138160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DETÉNGASE SI OBSERVA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7498080" y="2651760"/>
            <a:ext cx="3977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2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de equipo con estructura ROPS/FOPS sin certificación vigente o visiblemente intervenida.</a:t>
            </a:r>
            <a:endParaRPr lang="en-US" sz="112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2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Vuelco o caída de objeto sobre la cabina que compromete su integridad por falta de inspección o daño previo.</a:t>
            </a:r>
            <a:endParaRPr lang="en-US" sz="112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2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Accidente grave o fatalidad por colapso de cabina en un evento de vuelco o impacto superior.</a:t>
            </a:r>
            <a:endParaRPr lang="en-US" sz="112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SIGO-ECC-003-25  ·  RF25 · Equipos Mineros e Industriales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CRÍTICO MITIGADOR 2 (CCM2)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CCM2 — Capacidad de Respuesta ante Emergencia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0634472" y="457200"/>
            <a:ext cx="914400" cy="9144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/tmp/claude-0/-home-user-Listas-de-Verificaci-n-y-Observaciones-RCO/12a070ba-833b-5b06-92f2-64c2c1a634f4/scratchpad/assets/icons/ambulanc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58368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6537960" cy="4480560"/>
          </a:xfrm>
          <a:prstGeom prst="roundRect">
            <a:avLst>
              <a:gd name="adj" fmla="val 1633"/>
            </a:avLst>
          </a:prstGeom>
          <a:solidFill>
            <a:srgbClr val="F4F6F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2960" y="18928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67128"/>
            <a:ext cx="5989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 que, ante un evento no deseado de un equipo minero, exista una capacidad efectiva y oportuna de respuesta por parte de la brigada de emergencia, con recursos, protocolos y entrenamiento adecuado.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319272"/>
            <a:ext cx="5989320" cy="0"/>
          </a:xfrm>
          <a:prstGeom prst="line">
            <a:avLst/>
          </a:prstGeom>
          <a:noFill/>
          <a:ln w="12700">
            <a:solidFill>
              <a:srgbClr val="E1E5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3429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CLAVE POR ROL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960" y="377647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8632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37764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TRABAJADOR/A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37490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¿Sé cómo actuar de inmediato si ocurre un choque, volcamiento, colisión o incendio del equipo que estoy operando?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" y="457200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4780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45720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SUPERVISOR/A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2423160" y="45445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 un equipo de emergencia disponible en el área de trabajo y personal entrenado para intervenir ante un siniestro como volcamiento o incendio?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" y="53675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53675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EJECUTIVO/A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2423160" y="534009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dispone de brigada entrenada, medios de rescate y protocolos probados para responder a colisiones, incendios o vuelcos de equipos mineros?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69480" y="1691640"/>
            <a:ext cx="4370832" cy="4480560"/>
          </a:xfrm>
          <a:prstGeom prst="roundRect">
            <a:avLst>
              <a:gd name="adj" fmla="val 1674"/>
            </a:avLst>
          </a:prstGeom>
          <a:solidFill>
            <a:srgbClr val="FBEAEA"/>
          </a:solidFill>
          <a:ln/>
        </p:spPr>
      </p:sp>
      <p:sp>
        <p:nvSpPr>
          <p:cNvPr id="21" name="Shape 18"/>
          <p:cNvSpPr/>
          <p:nvPr/>
        </p:nvSpPr>
        <p:spPr>
          <a:xfrm>
            <a:off x="7498080" y="1920240"/>
            <a:ext cx="502920" cy="502920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22" name="Image 1" descr="/tmp/claude-0/-home-user-Listas-de-Verificaci-n-y-Observaciones-RCO/12a070ba-833b-5b06-92f2-64c2c1a634f4/scratchpad/assets/icons/ale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518" y="1995678"/>
            <a:ext cx="352044" cy="3520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138160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DETÉNGASE SI OBSERVA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7498080" y="2651760"/>
            <a:ext cx="3977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2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brigada de emergencia no llega a tiempo al lugar del siniestro.</a:t>
            </a:r>
            <a:endParaRPr lang="en-US" sz="112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2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existen medios de rescate disponibles o funcionales en el sector.</a:t>
            </a:r>
            <a:endParaRPr lang="en-US" sz="112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2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personal desconoce el procedimiento inmediato de respuesta ante emergencia.</a:t>
            </a:r>
            <a:endParaRPr lang="en-US" sz="112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20" dirty="0">
                <a:solidFill>
                  <a:srgbClr val="5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operador no logra detener el equipo ni evacuar por sus propios medios.</a:t>
            </a:r>
            <a:endParaRPr lang="en-US" sz="112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SIGO-ECC-003-25  ·  RF25 · Equipos Mineros e Industriales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COMPLEMENTAN A LOS CONTROLES CRÍTICOS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Otros controles del estándar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634472" y="457200"/>
            <a:ext cx="914400" cy="9144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/tmp/claude-0/-home-user-Listas-de-Verificaci-n-y-Observaciones-RCO/12a070ba-833b-5b06-92f2-64c2c1a634f4/scratchpad/assets/icons/cog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658368"/>
            <a:ext cx="512064" cy="512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4F6F9"/>
          </a:solidFill>
          <a:ln/>
        </p:spPr>
      </p:sp>
      <p:sp>
        <p:nvSpPr>
          <p:cNvPr id="7" name="Shape 4"/>
          <p:cNvSpPr/>
          <p:nvPr/>
        </p:nvSpPr>
        <p:spPr>
          <a:xfrm>
            <a:off x="713232" y="1901952"/>
            <a:ext cx="566928" cy="566928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8" name="Image 1" descr="/tmp/claude-0/-home-user-Listas-de-Verificaci-n-y-Observaciones-RCO/12a070ba-833b-5b06-92f2-64c2c1a634f4/scratchpad/assets/icons/ma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40" y="1992660"/>
            <a:ext cx="385511" cy="38551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44752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444752" y="2075688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ruta, señalización operativa y gestión de cambios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172200" y="1691640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4F6F9"/>
          </a:solidFill>
          <a:ln/>
        </p:spPr>
      </p:sp>
      <p:sp>
        <p:nvSpPr>
          <p:cNvPr id="12" name="Shape 8"/>
          <p:cNvSpPr/>
          <p:nvPr/>
        </p:nvSpPr>
        <p:spPr>
          <a:xfrm>
            <a:off x="6336792" y="1901952"/>
            <a:ext cx="566928" cy="566928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13" name="Image 2" descr="/tmp/claude-0/-home-user-Listas-de-Verificaci-n-y-Observaciones-RCO/12a070ba-833b-5b06-92f2-64c2c1a634f4/scratchpad/assets/icons/clipboard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500" y="1992660"/>
            <a:ext cx="385511" cy="38551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068312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CP2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7068312" y="2075688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conforme a especificaciones técnicas del fabricante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2825496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713232" y="3035808"/>
            <a:ext cx="566928" cy="566928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18" name="Image 3" descr="/tmp/claude-0/-home-user-Listas-de-Verificaci-n-y-Observaciones-RCO/12a070ba-833b-5b06-92f2-64c2c1a634f4/scratchpad/assets/icons/ale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40" y="3126516"/>
            <a:ext cx="385511" cy="38551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44752" y="29169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CP3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1444752" y="3209544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y suspensión por condiciones climáticas adversas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172200" y="2825496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4F6F9"/>
          </a:solidFill>
          <a:ln/>
        </p:spPr>
      </p:sp>
      <p:sp>
        <p:nvSpPr>
          <p:cNvPr id="22" name="Shape 16"/>
          <p:cNvSpPr/>
          <p:nvPr/>
        </p:nvSpPr>
        <p:spPr>
          <a:xfrm>
            <a:off x="6336792" y="3035808"/>
            <a:ext cx="566928" cy="566928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23" name="Image 4" descr="/tmp/claude-0/-home-user-Listas-de-Verificaci-n-y-Observaciones-RCO/12a070ba-833b-5b06-92f2-64c2c1a634f4/scratchpad/assets/icons/idcar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7500" y="3126516"/>
            <a:ext cx="385511" cy="38551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068312" y="29169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CP4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7068312" y="3209544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interna y acreditación obligatoria de equipos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548640" y="3959352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4F6F9"/>
          </a:solidFill>
          <a:ln/>
        </p:spPr>
      </p:sp>
      <p:sp>
        <p:nvSpPr>
          <p:cNvPr id="27" name="Shape 20"/>
          <p:cNvSpPr/>
          <p:nvPr/>
        </p:nvSpPr>
        <p:spPr>
          <a:xfrm>
            <a:off x="713232" y="4169664"/>
            <a:ext cx="566928" cy="566928"/>
          </a:xfrm>
          <a:prstGeom prst="ellipse">
            <a:avLst/>
          </a:prstGeom>
          <a:solidFill>
            <a:srgbClr val="E8632C"/>
          </a:solidFill>
          <a:ln/>
        </p:spPr>
      </p:sp>
      <p:pic>
        <p:nvPicPr>
          <p:cNvPr id="28" name="Image 5" descr="/tmp/claude-0/-home-user-Listas-de-Verificaci-n-y-Observaciones-RCO/12a070ba-833b-5b06-92f2-64c2c1a634f4/scratchpad/assets/icons/radar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940" y="4260372"/>
            <a:ext cx="385511" cy="385511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44752" y="40507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CP5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1444752" y="434340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integrales de visibilidad y señalización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172200" y="3959352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4F6F9"/>
          </a:solidFill>
          <a:ln/>
        </p:spPr>
      </p:sp>
      <p:sp>
        <p:nvSpPr>
          <p:cNvPr id="32" name="Shape 24"/>
          <p:cNvSpPr/>
          <p:nvPr/>
        </p:nvSpPr>
        <p:spPr>
          <a:xfrm>
            <a:off x="6336792" y="4169664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3" name="Image 6" descr="/tmp/claude-0/-home-user-Listas-de-Verificaci-n-y-Observaciones-RCO/12a070ba-833b-5b06-92f2-64c2c1a634f4/scratchpad/assets/icons/checkcircle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7500" y="4260372"/>
            <a:ext cx="385511" cy="385511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068312" y="40507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CM1</a:t>
            </a:r>
            <a:endParaRPr lang="en-US" sz="1400" dirty="0"/>
          </a:p>
        </p:txBody>
      </p:sp>
      <p:sp>
        <p:nvSpPr>
          <p:cNvPr id="35" name="Text 26"/>
          <p:cNvSpPr txBox="1"/>
          <p:nvPr/>
        </p:nvSpPr>
        <p:spPr>
          <a:xfrm>
            <a:off x="7068312" y="434340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Cinturón de seguridad retráctil de 3 puntas operativo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548640" y="5093208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4F6F9"/>
          </a:solidFill>
          <a:ln/>
        </p:spPr>
      </p:sp>
      <p:sp>
        <p:nvSpPr>
          <p:cNvPr id="37" name="Shape 28"/>
          <p:cNvSpPr/>
          <p:nvPr/>
        </p:nvSpPr>
        <p:spPr>
          <a:xfrm>
            <a:off x="713232" y="530352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38" name="Image 7" descr="/tmp/claude-0/-home-user-Listas-de-Verificaci-n-y-Observaciones-RCO/12a070ba-833b-5b06-92f2-64c2c1a634f4/scratchpad/assets/icons/shield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940" y="5394228"/>
            <a:ext cx="385511" cy="385511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1444752" y="51846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CM2</a:t>
            </a:r>
            <a:endParaRPr lang="en-US" sz="1400" dirty="0"/>
          </a:p>
        </p:txBody>
      </p:sp>
      <p:sp>
        <p:nvSpPr>
          <p:cNvPr id="40" name="Text 30"/>
          <p:cNvSpPr txBox="1"/>
          <p:nvPr/>
        </p:nvSpPr>
        <p:spPr>
          <a:xfrm>
            <a:off x="1444752" y="5477256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Parachoques delantero extendido funcional</a:t>
            </a:r>
            <a:endParaRPr lang="en-US" sz="1050" dirty="0"/>
          </a:p>
        </p:txBody>
      </p:sp>
      <p:sp>
        <p:nvSpPr>
          <p:cNvPr id="41" name="Text 31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SIGO-ECC-003-25  ·  RF25 · Equipos Mineros e Industriales</a:t>
            </a:r>
            <a:endParaRPr lang="en-US" sz="900" dirty="0"/>
          </a:p>
        </p:txBody>
      </p:sp>
      <p:sp>
        <p:nvSpPr>
          <p:cNvPr id="42" name="Text 32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7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63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UNA DESVIACIÓN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la respuesta es "NO", deténgase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725912" y="384048"/>
            <a:ext cx="822960" cy="822960"/>
          </a:xfrm>
          <a:prstGeom prst="ellipse">
            <a:avLst/>
          </a:prstGeom>
          <a:solidFill>
            <a:srgbClr val="9B2226"/>
          </a:solidFill>
          <a:ln/>
        </p:spPr>
      </p:sp>
      <p:pic>
        <p:nvPicPr>
          <p:cNvPr id="5" name="Image 0" descr="/tmp/claude-0/-home-user-Listas-de-Verificaci-n-y-Observaciones-RCO/12a070ba-833b-5b06-92f2-64c2c1a634f4/scratchpad/assets/icons/sto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6963" y="565099"/>
            <a:ext cx="460858" cy="46085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463040"/>
            <a:ext cx="10908792" cy="1188720"/>
          </a:xfrm>
          <a:prstGeom prst="roundRect">
            <a:avLst>
              <a:gd name="adj" fmla="val 6154"/>
            </a:avLst>
          </a:prstGeom>
          <a:solidFill>
            <a:srgbClr val="121D33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1691640"/>
            <a:ext cx="457200" cy="457200"/>
          </a:xfrm>
          <a:prstGeom prst="ellipse">
            <a:avLst/>
          </a:prstGeom>
          <a:solidFill>
            <a:srgbClr val="E8632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166420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Detenga la actividad de inmediato.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43984" y="1691640"/>
            <a:ext cx="457200" cy="457200"/>
          </a:xfrm>
          <a:prstGeom prst="ellipse">
            <a:avLst/>
          </a:prstGeom>
          <a:solidFill>
            <a:srgbClr val="E8632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443984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038344" y="166420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Tarjeta Verde en el punto de la desviación.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19288" y="1691640"/>
            <a:ext cx="457200" cy="457200"/>
          </a:xfrm>
          <a:prstGeom prst="ellipse">
            <a:avLst/>
          </a:prstGeom>
          <a:solidFill>
            <a:srgbClr val="E8632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1928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613648" y="1664208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Notifique al supervisor y asegure la implementación del control en terreno.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29260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RECORDEMOS: CADA ROL TIENE UNA PREGUNTA QUE HACER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3273552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121D33"/>
          </a:solidFill>
          <a:ln/>
        </p:spPr>
      </p:sp>
      <p:sp>
        <p:nvSpPr>
          <p:cNvPr id="18" name="Shape 15"/>
          <p:cNvSpPr/>
          <p:nvPr/>
        </p:nvSpPr>
        <p:spPr>
          <a:xfrm>
            <a:off x="868680" y="3456432"/>
            <a:ext cx="2999232" cy="384048"/>
          </a:xfrm>
          <a:prstGeom prst="roundRect">
            <a:avLst>
              <a:gd name="adj" fmla="val 50000"/>
            </a:avLst>
          </a:prstGeom>
          <a:solidFill>
            <a:srgbClr val="E8632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60120" y="345643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TRABAJADOR/A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96112" y="3950208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en terreno el cumplimiento de cada Control Crítico antes de operar.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270248" y="3273552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121D33"/>
          </a:solidFill>
          <a:ln/>
        </p:spPr>
      </p:sp>
      <p:sp>
        <p:nvSpPr>
          <p:cNvPr id="22" name="Shape 19"/>
          <p:cNvSpPr/>
          <p:nvPr/>
        </p:nvSpPr>
        <p:spPr>
          <a:xfrm>
            <a:off x="4498848" y="3456432"/>
            <a:ext cx="2999232" cy="384048"/>
          </a:xfrm>
          <a:prstGeom prst="roundRect">
            <a:avLst>
              <a:gd name="adj" fmla="val 50000"/>
            </a:avLst>
          </a:prstGeom>
          <a:solidFill>
            <a:srgbClr val="B4780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590288" y="345643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SUPERVISOR/A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4526280" y="3950208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que su equipo conoce y aplica los controles en terreno.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900416" y="3273552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121D33"/>
          </a:solidFill>
          <a:ln/>
        </p:spPr>
      </p:sp>
      <p:sp>
        <p:nvSpPr>
          <p:cNvPr id="26" name="Shape 23"/>
          <p:cNvSpPr/>
          <p:nvPr/>
        </p:nvSpPr>
        <p:spPr>
          <a:xfrm>
            <a:off x="8129016" y="3456432"/>
            <a:ext cx="2999232" cy="38404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220456" y="345643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EJECUTIVO/A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8156448" y="3950208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 los sistemas y recursos que sostienen cada Control Crítico.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40080" y="516636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C24E1C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14400" y="51663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Ningún equipo justifica exponer una vida. Todos cuidamos.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SIGO-ECC-003-25  ·  RF25 · Equipos Mineros e Industriales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11091672" y="6510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Codelco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RF25 - Equipos Mineros e Industriales - Capacitación Riesgo de Fatalidad</dc:title>
  <dc:subject>PptxGenJS Presentation</dc:subject>
  <dc:creator>Gerencia Corp. de Seguridad y Salud Ocupacional</dc:creator>
  <cp:lastModifiedBy>Gerencia Corp. de Seguridad y Salud Ocupacional</cp:lastModifiedBy>
  <cp:revision>1</cp:revision>
  <dcterms:created xsi:type="dcterms:W3CDTF">2026-09-18T14:51:56Z</dcterms:created>
  <dcterms:modified xsi:type="dcterms:W3CDTF">2026-09-18T14:51:56Z</dcterms:modified>
</cp:coreProperties>
</file>