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417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· RIESGO DE FATALIDAD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VEHÍCULOS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RF10 — Pérdida de Control del Vehículo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2926080" cy="0"/>
          </a:xfrm>
          <a:prstGeom prst="line">
            <a:avLst/>
          </a:prstGeom>
          <a:noFill/>
          <a:ln w="31750">
            <a:solidFill>
              <a:srgbClr val="E863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para Trabajador/a, Supervisor/a y Ejecutivo/a en los Controles Críticos que salvan vidas.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172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Versión 001  ·  Vigencia 05-12-2025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06840" y="2331720"/>
            <a:ext cx="2103120" cy="210312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10" name="Image 0" descr="/tmp/claude-0/-home-user-Listas-de-Verificaci-n-y-Observaciones-RCO/12a070ba-833b-5b06-92f2-64c2c1a634f4/scratchpad/assets/icons/truckpicku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1589" y="2836469"/>
            <a:ext cx="1093622" cy="109362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138160" y="6172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Corporativa de Seguridad y Salud Ocupacional  |  Codelco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 ESTA CAPACITACIÓN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capacitación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bulls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6596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/tmp/claude-0/-home-user-Listas-de-Verificaci-n-y-Observaciones-RCO/12a070ba-833b-5b06-92f2-64c2c1a634f4/scratchpad/assets/icons/carcras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2097634"/>
            <a:ext cx="395021" cy="3950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984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Comprender el riesgo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517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qué es el riesgo de fatalidad Vehículos y cómo se produce su Evento Top: la Pérdida de Control del Vehículo.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16916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12" name="Shape 8"/>
          <p:cNvSpPr/>
          <p:nvPr/>
        </p:nvSpPr>
        <p:spPr>
          <a:xfrm>
            <a:off x="6446520" y="196596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2" descr="/tmp/claude-0/-home-user-Listas-de-Verificaci-n-y-Observaciones-RCO/12a070ba-833b-5b06-92f2-64c2c1a634f4/scratchpad/assets/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4" y="2097634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69480" y="1984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Conocer los controles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26517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5 Controles Críticos que siempre deben estar presentes para evitar un evento fatal.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434340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3" descr="/tmp/claude-0/-home-user-Listas-de-Verificaci-n-y-Observaciones-RCO/12a070ba-833b-5b06-92f2-64c2c1a634f4/scratchpad/assets/icons/idc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475074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4361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qué preguntar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5029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las preguntas clave según tu rol: Trabajador/a, Supervisor/a o Ejecutivo/a.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72200" y="406908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22" name="Shape 16"/>
          <p:cNvSpPr/>
          <p:nvPr/>
        </p:nvSpPr>
        <p:spPr>
          <a:xfrm>
            <a:off x="6446520" y="434340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3" name="Image 4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194" y="4475074"/>
            <a:ext cx="395021" cy="3950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269480" y="4361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Actuar a tiempo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6446520" y="5029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una desviación al control crítico y activar la Tarjeta Verde antes de continuar la actividad.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TOP DEL RIESGO DE FATALIDAD RF10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358384" y="1417320"/>
            <a:ext cx="1463040" cy="146304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4" name="Image 0" descr="/tmp/claude-0/-home-user-Listas-de-Verificaci-n-y-Observaciones-RCO/12a070ba-833b-5b06-92f2-64c2c1a634f4/scratchpad/assets/icons/carcras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8774" y="17977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17904" y="3017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 de Control del Vehículo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432304" y="37673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el conductor pierde el dominio de dirección, velocidad o frenado del vehículo mientras transita por rutas y caminos de la faena.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0" y="46177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FALLAN LOS CONTROLES, LAS CONSECUENCIAS SON: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88136" y="507492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79576" y="5074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88136" y="5074920"/>
            <a:ext cx="2331720" cy="548640"/>
          </a:xfrm>
          <a:prstGeom prst="roundRect">
            <a:avLst>
              <a:gd name="adj" fmla="val 50000"/>
            </a:avLst>
          </a:prstGeom>
          <a:ln w="15875">
            <a:solidFill>
              <a:srgbClr val="E8632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8456" y="507492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739896" y="5074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Colisión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648456" y="5074920"/>
            <a:ext cx="2331720" cy="548640"/>
          </a:xfrm>
          <a:prstGeom prst="roundRect">
            <a:avLst>
              <a:gd name="adj" fmla="val 50000"/>
            </a:avLst>
          </a:prstGeom>
          <a:ln w="15875">
            <a:solidFill>
              <a:srgbClr val="E8632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08776" y="507492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00216" y="5074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Volcamiento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08776" y="5074920"/>
            <a:ext cx="2331720" cy="548640"/>
          </a:xfrm>
          <a:prstGeom prst="roundRect">
            <a:avLst>
              <a:gd name="adj" fmla="val 50000"/>
            </a:avLst>
          </a:prstGeom>
          <a:ln w="15875">
            <a:solidFill>
              <a:srgbClr val="E8632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69096" y="507492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860536" y="5074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Desbarrancamiento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769096" y="5074920"/>
            <a:ext cx="2331720" cy="548640"/>
          </a:xfrm>
          <a:prstGeom prst="roundRect">
            <a:avLst>
              <a:gd name="adj" fmla="val 50000"/>
            </a:avLst>
          </a:prstGeom>
          <a:ln w="15875">
            <a:solidFill>
              <a:srgbClr val="E863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APLICA ESTE RIESGO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r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de fatalidad aplica a vehículos que transitan a través de carreteras y caminos de la faena: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3547872" cy="3063240"/>
          </a:xfrm>
          <a:prstGeom prst="roundRect">
            <a:avLst>
              <a:gd name="adj" fmla="val 238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88236" y="265176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1" descr="/tmp/claude-0/-home-user-Listas-de-Verificaci-n-y-Observaciones-RCO/12a070ba-833b-5b06-92f2-64c2c1a634f4/scratchpad/assets/icons/truckpicku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719" y="2860243"/>
            <a:ext cx="451714" cy="45171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37033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Camionetas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20624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livianos de uso operacional dentro y fuera de faena.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15968" y="2331720"/>
            <a:ext cx="3547872" cy="3063240"/>
          </a:xfrm>
          <a:prstGeom prst="roundRect">
            <a:avLst>
              <a:gd name="adj" fmla="val 238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55564" y="265176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2" descr="/tmp/claude-0/-home-user-Listas-de-Verificaci-n-y-Observaciones-RCO/12a070ba-833b-5b06-92f2-64c2c1a634f4/scratchpad/assets/icons/bu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047" y="2860243"/>
            <a:ext cx="451714" cy="45171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44568" y="37033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Transporte de personal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590288" y="420624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 y mini buses destinados al traslado de trabajadores.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83296" y="2331720"/>
            <a:ext cx="3547872" cy="3063240"/>
          </a:xfrm>
          <a:prstGeom prst="roundRect">
            <a:avLst>
              <a:gd name="adj" fmla="val 238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422892" y="265176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9" name="Image 3" descr="/tmp/claude-0/-home-user-Listas-de-Verificaci-n-y-Observaciones-RCO/12a070ba-833b-5b06-92f2-64c2c1a634f4/scratchpad/assets/icons/tru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1375" y="2860243"/>
            <a:ext cx="451714" cy="45171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11896" y="37033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Transporte de carga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357616" y="420624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destinados al transporte de carga por carretera.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CUBRE ESTE DOCUMENTO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ba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00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evento considera como exclusión los siguientes escenarios, que se gestionan bajo otros riesgos de fatalidad: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2670048"/>
            <a:ext cx="640080" cy="64008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9" name="Image 1" descr="/tmp/claude-0/-home-user-Listas-de-Verificaci-n-y-Observaciones-RCO/12a070ba-833b-5b06-92f2-64c2c1a634f4/scratchpad/assets/icons/bulldoz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798064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242316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equipos mineros e industriales.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374904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/>
        </p:spPr>
      </p:sp>
      <p:sp>
        <p:nvSpPr>
          <p:cNvPr id="12" name="Shape 8"/>
          <p:cNvSpPr/>
          <p:nvPr/>
        </p:nvSpPr>
        <p:spPr>
          <a:xfrm>
            <a:off x="822960" y="3995928"/>
            <a:ext cx="640080" cy="64008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13" name="Image 2" descr="/tmp/claude-0/-home-user-Listas-de-Verificaci-n-y-Observaciones-RCO/12a070ba-833b-5b06-92f2-64c2c1a634f4/scratchpad/assets/icons/minetru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12394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37360" y="374904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equipos autónomos.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/>
        </p:spPr>
      </p:sp>
      <p:sp>
        <p:nvSpPr>
          <p:cNvPr id="16" name="Shape 11"/>
          <p:cNvSpPr/>
          <p:nvPr/>
        </p:nvSpPr>
        <p:spPr>
          <a:xfrm>
            <a:off x="822960" y="5321808"/>
            <a:ext cx="640080" cy="64008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17" name="Image 3" descr="/tmp/claude-0/-home-user-Listas-de-Verificaci-n-y-Observaciones-RCO/12a070ba-833b-5b06-92f2-64c2c1a634f4/scratchpad/assets/icon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44982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37360" y="507492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de vehículos y equipos móviles con peatones en el sitio, incluido el área subterránea.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ANÁLISIS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produce el evento?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flow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931920" cy="4526280"/>
          </a:xfrm>
          <a:prstGeom prst="roundRect">
            <a:avLst>
              <a:gd name="adj" fmla="val 1860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856232"/>
            <a:ext cx="548640" cy="54864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8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" y="1954987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892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CAUSAS TÍPICAS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51760"/>
            <a:ext cx="3383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velocidad o no ajustarla a las condiciones de la ruta.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Conducir fatigado, somnoliento o bajo alcohol/drogas.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Distracción o pérdida de atención durante la conducción.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climáticas adversas o camino en mal estado.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mecánica o eléctrica no detectada a tiempo.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53712" y="3680460"/>
            <a:ext cx="384048" cy="365760"/>
          </a:xfrm>
          <a:prstGeom prst="rightArrow">
            <a:avLst/>
          </a:prstGeom>
          <a:solidFill>
            <a:srgbClr val="8792A6"/>
          </a:solidFill>
          <a:ln/>
        </p:spPr>
      </p:sp>
      <p:sp>
        <p:nvSpPr>
          <p:cNvPr id="12" name="Shape 8"/>
          <p:cNvSpPr/>
          <p:nvPr/>
        </p:nvSpPr>
        <p:spPr>
          <a:xfrm>
            <a:off x="5143500" y="2560320"/>
            <a:ext cx="1965960" cy="196596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13" name="Image 2" descr="/tmp/claude-0/-home-user-Listas-de-Verificaci-n-y-Observaciones-RCO/12a070ba-833b-5b06-92f2-64c2c1a634f4/scratchpad/assets/icons/carcras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309" y="3091129"/>
            <a:ext cx="904342" cy="9043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3776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TOP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4709160" y="4663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 de Control del Vehículo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333488" y="3680460"/>
            <a:ext cx="384048" cy="365760"/>
          </a:xfrm>
          <a:prstGeom prst="rightArrow">
            <a:avLst/>
          </a:prstGeom>
          <a:solidFill>
            <a:srgbClr val="8792A6"/>
          </a:solidFill>
          <a:ln/>
        </p:spPr>
      </p:sp>
      <p:sp>
        <p:nvSpPr>
          <p:cNvPr id="17" name="Shape 12"/>
          <p:cNvSpPr/>
          <p:nvPr/>
        </p:nvSpPr>
        <p:spPr>
          <a:xfrm>
            <a:off x="7863840" y="1600200"/>
            <a:ext cx="3776472" cy="4526280"/>
          </a:xfrm>
          <a:prstGeom prst="roundRect">
            <a:avLst>
              <a:gd name="adj" fmla="val 1937"/>
            </a:avLst>
          </a:prstGeom>
          <a:solidFill>
            <a:srgbClr val="F4F6F9"/>
          </a:solidFill>
          <a:ln/>
        </p:spPr>
      </p:sp>
      <p:sp>
        <p:nvSpPr>
          <p:cNvPr id="18" name="Shape 13"/>
          <p:cNvSpPr/>
          <p:nvPr/>
        </p:nvSpPr>
        <p:spPr>
          <a:xfrm>
            <a:off x="8138160" y="185623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9" name="Image 3" descr="/tmp/claude-0/-home-user-Listas-de-Verificaci-n-y-Observaciones-RCO/12a070ba-833b-5b06-92f2-64c2c1a634f4/scratchpad/assets/icons/carcras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942" y="1944014"/>
            <a:ext cx="373075" cy="37307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869680" y="1892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NO DESEADOS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8138160" y="2560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Evento Top ocurre, los Controles Mitigadores buscan reducir sus consecuencias: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138160" y="3383280"/>
            <a:ext cx="324612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229600" y="3383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138160" y="4005072"/>
            <a:ext cx="324612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229600" y="4005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Colisión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8138160" y="4626864"/>
            <a:ext cx="324612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0" y="46268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Volcamiento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8138160" y="5248656"/>
            <a:ext cx="324612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229600" y="524865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Desbarrancamiento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CONTROLES QUE DEBEN ESTAR SIEMPRE PRESENTES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Críticos — Vehículos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828800"/>
            <a:ext cx="621792" cy="621792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8" name="Image 1" descr="/tmp/claude-0/-home-user-Listas-de-Verificaci-n-y-Observaciones-RCO/12a070ba-833b-5b06-92f2-64c2c1a634f4/scratchpad/assets/icons/idc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63" y="1940723"/>
            <a:ext cx="397947" cy="3979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9164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CCP1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2651760" y="1691640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acreditado y apto física y psicológicamente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555480" y="1947672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646920" y="1947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69748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6F9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2834640"/>
            <a:ext cx="621792" cy="621792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15" name="Image 2" descr="/tmp/claude-0/-home-user-Listas-de-Verificaci-n-y-Observaciones-RCO/12a070ba-833b-5b06-92f2-64c2c1a634f4/scratchpad/assets/icons/wren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63" y="2946563"/>
            <a:ext cx="397947" cy="3979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269748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CCP2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2651760" y="2697480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mecánica y sistemas activos del vehículo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555480" y="2953512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646920" y="295351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70332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6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3840480"/>
            <a:ext cx="621792" cy="621792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22" name="Image 3" descr="/tmp/claude-0/-home-user-Listas-de-Verificaci-n-y-Observaciones-RCO/12a070ba-833b-5b06-92f2-64c2c1a634f4/scratchpad/assets/icons/satellit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163" y="3952403"/>
            <a:ext cx="397947" cy="3979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370332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CCP3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2651760" y="3703320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asistencia y monitoreo a la conducción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9555480" y="3959352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9646920" y="395935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70916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6F9"/>
          </a:solidFill>
          <a:ln/>
        </p:spPr>
      </p:sp>
      <p:sp>
        <p:nvSpPr>
          <p:cNvPr id="28" name="Shape 22"/>
          <p:cNvSpPr/>
          <p:nvPr/>
        </p:nvSpPr>
        <p:spPr>
          <a:xfrm>
            <a:off x="777240" y="4846320"/>
            <a:ext cx="621792" cy="621792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29" name="Image 4" descr="/tmp/claude-0/-home-user-Listas-de-Verificaci-n-y-Observaciones-RCO/12a070ba-833b-5b06-92f2-64c2c1a634f4/scratchpad/assets/icons/roa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63" y="4958243"/>
            <a:ext cx="397947" cy="39794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600200" y="470916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CCP4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2651760" y="4709160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vial conforme a diseño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9555480" y="4965192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646920" y="496519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548640" y="571500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6F9"/>
          </a:solidFill>
          <a:ln/>
        </p:spPr>
      </p:sp>
      <p:sp>
        <p:nvSpPr>
          <p:cNvPr id="35" name="Shape 28"/>
          <p:cNvSpPr/>
          <p:nvPr/>
        </p:nvSpPr>
        <p:spPr>
          <a:xfrm>
            <a:off x="777240" y="5852160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6" name="Image 5" descr="/tmp/claude-0/-home-user-Listas-de-Verificaci-n-y-Observaciones-RCO/12a070ba-833b-5b06-92f2-64c2c1a634f4/scratchpad/assets/icons/ambulanc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163" y="5964083"/>
            <a:ext cx="397947" cy="39794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600200" y="571500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CCM1</a:t>
            </a:r>
            <a:endParaRPr lang="en-US" sz="1900" dirty="0"/>
          </a:p>
        </p:txBody>
      </p:sp>
      <p:sp>
        <p:nvSpPr>
          <p:cNvPr id="38" name="Text 30"/>
          <p:cNvSpPr txBox="1"/>
          <p:nvPr/>
        </p:nvSpPr>
        <p:spPr>
          <a:xfrm>
            <a:off x="2651760" y="5715000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respuesta ante emergencia</a:t>
            </a:r>
            <a:endParaRPr lang="en-US" sz="1400" dirty="0"/>
          </a:p>
        </p:txBody>
      </p:sp>
      <p:sp>
        <p:nvSpPr>
          <p:cNvPr id="39" name="Shape 31"/>
          <p:cNvSpPr/>
          <p:nvPr/>
        </p:nvSpPr>
        <p:spPr>
          <a:xfrm>
            <a:off x="9555480" y="5971032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9646920" y="597103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Mitigador</a:t>
            </a:r>
            <a:endParaRPr lang="en-US" sz="115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PREVENTIVO 1 (CCP1)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CCP1 — Conductor acreditado y apto física y psicológicamente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idc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que toda persona que conduzca un vehículo cuente con las competencias técnicas, autorización interna vigente para el vehículo específico y una condición física y psicológica compatible con conducir.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¿Estoy acreditado para el vehículo que conduzco y me encuentro física y psicológicamente apto para operar de forma segura?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personal a mi cargo cuenta con licencia interna vigente, examen médico al día y condiciones físicas/psicológicas aptas?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cuenta con un sistema que registre y controle la acreditación y aptitud médica/psicológica de todo conductor?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DETÉNGASE SI OBSERVA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Conducir sin licencia interna o con información adulterada.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Conducir bajo efectos de alcohol o drogas.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a conducir con evaluación médica "no apto".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evidentes de fatiga o somnolencia sin ser relevado.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acreditación inexistente o no trazable.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PREVENTIVO 2 (CCP2)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CCP2 — Integridad mecánica y sistemas activos del vehículo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wren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 todos los vehículos que transitan en faena cumplan las especificaciones técnicas del entorno minero y que sus sistemas de seguridad activos (frenos, dirección, neumáticos) sean mantenidos e inspeccionados sistemáticamente.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¿Realicé la inspección pre-uso de mi vehículo, verificando frenos, neumáticos, dirección y luces?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¿Verifiqué que los vehículos bajo mi responsabilidad tienen su mantenimiento preventivo al día y hacen inspecciones pre-operacionales?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implementado un programa de mantenimiento preventivo, inspección pre-uso y operatividad de frenos, dirección y neumáticos, con repuestos originales?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DETÉNGASE SI OBSERVA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 operando con mantenimiento preventivo crítico vencido.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evidente no reportada (frenos, neumáticos lisos, fugas).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no autorizada a sistemas de seguridad.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del sistema de gestión de mantenimiento.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un vehículo formalmente "dado de baja".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PREVENTIVO 3 (CCP3)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CCP3 — Sistema integral de asistencia y monitoreo a la conducción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satelli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que la conducción sea monitoreada y regulada permanentemente a través de sistemas tecnológicos y reglas operacionales claras, gestionando velocidad, fatiga del conductor y condiciones del entorno.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¿Conozco y respeto el plan de tránsito, los límites de velocidad, el tiempo máximo de conducción y los dispositivos de proximidad y fatiga?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 aseguré de que mi equipo conoce las restricciones por clima y estoy monitoreando las alertas de proximidad, velocidad y fatiga?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asegura que existen sistemas tecnológicos confiables (GPS, proximidad, fatiga, geocercas) y protocolos de tránsito para gestionar condiciones críticas?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DETÉNGASE SI OBSERVA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velocidad sin que el sistema genere o gestione una alerta.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Desactivación deliberada del detector de fatiga y somnolencia.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aplicar restricciones obligatorias en evento climático adverso.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generalizada del GPS sin controles alternativos implementados.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PREVENTIVO 4 (CCP4)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CCP4 — Infraestructura vial conforme a diseño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r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 todas las rutas y caminos utilizados en la faena sean diseñados, construidos y mantenidos según estándares definidos, garantizando que bermas, pretiles, señalización y lechos de frenado estén siempre operativos.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¿Conozco el plan de tránsito? ¿Verifico el estado de pretiles y bermas durante la conducción y reporto desviaciones si las identifico?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 aseguré de que mi equipo conoce el plan de tránsito y verifiqué que las rutas se encuentren operativas?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¿Existen planes de tránsito y un programa de mantenimiento vial que asegure pretiles, bermas, señalización y lechos de frenado?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DETÉNGASE SI OBSERVA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Pretil de contención en un borde expuesto bajo la altura mínima.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Lecho de frenado obligatorio inoperativo o bloqueado.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total de señalización crítica en cruce de alto tráfico.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o modificación de ruta sin cumplir parámetros de diseño.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MITIGADOR 1 (CCM1)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CCM1 — Capacidad de respuesta ante emergencia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ambulanc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la existencia de un plan de respuesta a emergencias robusto y ensayado, con personal brigadista capacitado, equipamiento de rescate operativo y coordinación efectiva con personal médico.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¿Conozco el protocolo de emergencia vehicular, incluyendo número de contacto, canal de radio y ubicación de puntos de encuentro para ambulancias?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¿Verifiqué que mi equipo conoce y practica el plan de emergencia vehicular, con radios operativas y accesos despejados para ambulancias?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garantiza un plan probado de respuesta a emergencias viales, con brigada entrenada y equipamiento operativo de rescate y atención médica?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DETÉNGASE SI OBSERVA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equipos de rescate inoperativos por falta de mantención.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Ambulancia designada sin equipamiento esencial o personal calificado.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brigada no llega dentro de los tiempos definidos en el plan.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protocolo probado entre líder de emergencia, brigada y médicos.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COMPLEMENTAN A LOS CONTROLES CRÍTICOS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Otros controles del estándar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1901952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8" name="Image 1" descr="/tmp/claude-0/-home-user-Listas-de-Verificaci-n-y-Observaciones-RCO/12a070ba-833b-5b06-92f2-64c2c1a634f4/scratchpad/assets/icons/rad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40" y="1992660"/>
            <a:ext cx="385511" cy="38551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44752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444752" y="207568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comunicación operacional efectiva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69164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12" name="Shape 8"/>
          <p:cNvSpPr/>
          <p:nvPr/>
        </p:nvSpPr>
        <p:spPr>
          <a:xfrm>
            <a:off x="6336792" y="1901952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13" name="Image 2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500" y="1992660"/>
            <a:ext cx="385511" cy="38551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68312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068312" y="207568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suspensión por condiciones climáticas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282549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13232" y="3035808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18" name="Image 3" descr="/tmp/claude-0/-home-user-Listas-de-Verificaci-n-y-Observaciones-RCO/12a070ba-833b-5b06-92f2-64c2c1a634f4/scratchpad/assets/icons/clipboard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40" y="3126516"/>
            <a:ext cx="385511" cy="38551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44752" y="29169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CP3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444752" y="320954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preoperacional de vehículo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72200" y="282549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22" name="Shape 16"/>
          <p:cNvSpPr/>
          <p:nvPr/>
        </p:nvSpPr>
        <p:spPr>
          <a:xfrm>
            <a:off x="6336792" y="3035808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23" name="Image 4" descr="/tmp/claude-0/-home-user-Listas-de-Verificaci-n-y-Observaciones-RCO/12a070ba-833b-5b06-92f2-64c2c1a634f4/scratchpad/assets/icons/ma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500" y="3126516"/>
            <a:ext cx="385511" cy="38551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068312" y="29169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CP4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7068312" y="320954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de visibilidad y señalización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48640" y="395935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27" name="Shape 20"/>
          <p:cNvSpPr/>
          <p:nvPr/>
        </p:nvSpPr>
        <p:spPr>
          <a:xfrm>
            <a:off x="713232" y="416966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8" name="Image 5" descr="/tmp/claude-0/-home-user-Listas-de-Verificaci-n-y-Observaciones-RCO/12a070ba-833b-5b06-92f2-64c2c1a634f4/scratchpad/assets/icons/windshiel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40" y="4260372"/>
            <a:ext cx="385511" cy="38551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44752" y="4050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CM1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1444752" y="4343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Parabrisas laminado e inastillable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172200" y="395935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32" name="Shape 24"/>
          <p:cNvSpPr/>
          <p:nvPr/>
        </p:nvSpPr>
        <p:spPr>
          <a:xfrm>
            <a:off x="6336792" y="416966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3" name="Image 6" descr="/tmp/claude-0/-home-user-Listas-de-Verificaci-n-y-Observaciones-RCO/12a070ba-833b-5b06-92f2-64c2c1a634f4/scratchpad/assets/icons/extinguisher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7500" y="4260372"/>
            <a:ext cx="385511" cy="385511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68312" y="4050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CM2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7068312" y="4343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Extintor y botiquín en cabina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48640" y="5093208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37" name="Shape 28"/>
          <p:cNvSpPr/>
          <p:nvPr/>
        </p:nvSpPr>
        <p:spPr>
          <a:xfrm>
            <a:off x="713232" y="53035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8" name="Image 7" descr="/tmp/claude-0/-home-user-Listas-de-Verificaci-n-y-Observaciones-RCO/12a070ba-833b-5b06-92f2-64c2c1a634f4/scratchpad/assets/icons/firstaid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40" y="5394228"/>
            <a:ext cx="385511" cy="385511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444752" y="5184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CM3</a:t>
            </a:r>
            <a:endParaRPr lang="en-US" sz="1400" dirty="0"/>
          </a:p>
        </p:txBody>
      </p:sp>
      <p:sp>
        <p:nvSpPr>
          <p:cNvPr id="40" name="Text 30"/>
          <p:cNvSpPr txBox="1"/>
          <p:nvPr/>
        </p:nvSpPr>
        <p:spPr>
          <a:xfrm>
            <a:off x="1444752" y="54772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Pértiga con luz, baliza y foco para visión posterior (faenero)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DESVIACIÓN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la respuesta es "NO", deténgase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34472" y="502920"/>
            <a:ext cx="914400" cy="91440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s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70408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21D33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E8632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527048" y="196596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Detenga la actividad de inmediato.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25696" y="2011680"/>
            <a:ext cx="502920" cy="502920"/>
          </a:xfrm>
          <a:prstGeom prst="ellipse">
            <a:avLst/>
          </a:prstGeom>
          <a:solidFill>
            <a:srgbClr val="E8632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2569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084064" y="196596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Tarjeta Verde en el punto de la desviación.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82712" y="2011680"/>
            <a:ext cx="502920" cy="502920"/>
          </a:xfrm>
          <a:prstGeom prst="ellipse">
            <a:avLst/>
          </a:prstGeom>
          <a:solidFill>
            <a:srgbClr val="E8632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8271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641080" y="196596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Notifique al supervisor para asegurar la implementación del control crítico en terreno.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520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DESVIACIONES A LOS CONTROLES CRÍTICOS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886200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conductor opera sin licencia interna vigente o con documentación adulterada.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vehículo circula con fallas evidentes en frenos, dirección o neumáticos.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transita a exceso de velocidad sin que el sistema de monitoreo genere alerta.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3886200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lecho de frenado o pretil de contención se encuentra inoperativo o bajo diseño.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brigada de emergencia no cuenta con equipos operativos de rescate vehicular.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opera con dispositivos de visibilidad (baliza, luces) defectuosos.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rol tiene una pregunta que hacer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3547872" cy="2880360"/>
          </a:xfrm>
          <a:prstGeom prst="roundRect">
            <a:avLst>
              <a:gd name="adj" fmla="val 254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33956" y="2075688"/>
            <a:ext cx="777240" cy="77724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8" name="Image 1" descr="/tmp/claude-0/-home-user-Listas-de-Verificaci-n-y-Observaciones-RCO/12a070ba-833b-5b06-92f2-64c2c1a634f4/scratchpad/assets/icons/idc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49" y="2246681"/>
            <a:ext cx="435254" cy="43525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60120" y="306324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051560" y="30632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56616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en terreno el cumplimiento de cada Control Crítico antes de operar y reporta cualquier desviación.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15968" y="1783080"/>
            <a:ext cx="3547872" cy="2880360"/>
          </a:xfrm>
          <a:prstGeom prst="roundRect">
            <a:avLst>
              <a:gd name="adj" fmla="val 254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01284" y="2075688"/>
            <a:ext cx="777240" cy="777240"/>
          </a:xfrm>
          <a:prstGeom prst="ellipse">
            <a:avLst/>
          </a:prstGeom>
          <a:solidFill>
            <a:srgbClr val="B4780A"/>
          </a:solidFill>
          <a:ln/>
        </p:spPr>
      </p:sp>
      <p:pic>
        <p:nvPicPr>
          <p:cNvPr id="14" name="Image 2" descr="/tmp/claude-0/-home-user-Listas-de-Verificaci-n-y-Observaciones-RCO/12a070ba-833b-5b06-92f2-64c2c1a634f4/scratchpad/assets/icons/clipboard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277" y="2246681"/>
            <a:ext cx="435254" cy="43525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727448" y="306324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818888" y="30632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590288" y="356616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su equipo conoce y aplica los controles, y gestiona las desviaciones detectadas en terreno.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83296" y="1783080"/>
            <a:ext cx="3547872" cy="2880360"/>
          </a:xfrm>
          <a:prstGeom prst="roundRect">
            <a:avLst>
              <a:gd name="adj" fmla="val 254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468612" y="2075688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0" name="Image 3" descr="/tmp/claude-0/-home-user-Listas-de-Verificaci-n-y-Observaciones-RCO/12a070ba-833b-5b06-92f2-64c2c1a634f4/scratchpad/assets/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605" y="2246681"/>
            <a:ext cx="435254" cy="43525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494776" y="306324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586216" y="30632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357616" y="356616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que existan los sistemas, programas y recursos que sostienen cada Control Crítico en el tiempo.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46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22960" y="48463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Ningún viaje justifica exponer una vida. Todos cuidamos.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SIGO-ECC-003-10  ·  RF10 · Vehículos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Codelco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RF10 - Vehículos - Capacitación Riesgo de Fatalidad</dc:title>
  <dc:subject>PptxGenJS Presentation</dc:subject>
  <dc:creator>Gerencia Corp. de Seguridad y Salud Ocupacional</dc:creator>
  <cp:lastModifiedBy>Gerencia Corp. de Seguridad y Salud Ocupacional</cp:lastModifiedBy>
  <cp:revision>1</cp:revision>
  <dcterms:created xsi:type="dcterms:W3CDTF">2026-09-18T14:44:50Z</dcterms:created>
  <dcterms:modified xsi:type="dcterms:W3CDTF">2026-09-18T14:44:50Z</dcterms:modified>
</cp:coreProperties>
</file>