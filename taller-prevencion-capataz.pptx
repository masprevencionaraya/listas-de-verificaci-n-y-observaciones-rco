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a27c1efc-2606-95c0-a950-24bc8070f0db}">
          <p14:sldIdLst>
            <p14:sldId id="256"/>
            <p14:sldId id="257"/>
            <p14:sldId id="258"/>
            <p14:sldId id="259"/>
          </p14:sldIdLst>
        </p14:section>
        <p14:section name="Módulo 1 · Rol del capataz" id="{d4dd1614-479b-b012-41c1-8f21f9817969}">
          <p14:sldIdLst>
            <p14:sldId id="260"/>
            <p14:sldId id="261"/>
          </p14:sldIdLst>
        </p14:section>
        <p14:section name="Módulo 2 · Peligros y controles" id="{2839cf52-b0c8-832c-8ee6-200b8def7a7e}">
          <p14:sldIdLst>
            <p14:sldId id="262"/>
            <p14:sldId id="263"/>
          </p14:sldIdLst>
        </p14:section>
        <p14:section name="Módulo 3 · Riesgos críticos" id="{4055cbd7-6374-b14e-3589-edc4cbb0c8cb}">
          <p14:sldIdLst>
            <p14:sldId id="264"/>
            <p14:sldId id="265"/>
            <p14:sldId id="266"/>
            <p14:sldId id="267"/>
          </p14:sldIdLst>
        </p14:section>
        <p14:section name="Módulo 4 · Herramientas en terreno" id="{1c526f24-d0ac-e2cc-fdc2-9942f10853e1}">
          <p14:sldIdLst>
            <p14:sldId id="268"/>
            <p14:sldId id="269"/>
            <p14:sldId id="270"/>
          </p14:sldIdLst>
        </p14:section>
        <p14:section name="Módulo 5 · Liderazgo" id="{47f46a49-7cdc-c698-80cf-7f38c634dd0b}">
          <p14:sldIdLst>
            <p14:sldId id="271"/>
            <p14:sldId id="272"/>
          </p14:sldIdLst>
        </p14:section>
        <p14:section name="Módulo 6 · Incidentes" id="{475d2766-f944-d2ca-6426-3bbb95b7b6a9}">
          <p14:sldIdLst>
            <p14:sldId id="273"/>
          </p14:sldIdLst>
        </p14:section>
        <p14:section name="Cierre" id="{8dc061ea-fda7-817a-71ed-94e5ab83fb4c}">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 al relator, el objetivo del taller y la duración (3 horas con una pausa). Recordar que el taller es práctico: habrá ejercicios en grupo, juego de roles y una evaluación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de 10 minutos. Pedir relatos breves y anotar en el papelógrafo la tarea, qué falló y quién pudo evitarlo. Cerrar con el mensaje clave. Acordar reglas del taller: celulares en silencio, todas las opiniones valen, lo que se cuenta aquí es para aprender, no para culpar. Guardar uno de los relatos para el ejercicio de los 5 porqués del Módulo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seis objetivos y preguntar al grupo cuál le parece más difícil de cumplir en terreno. Volver a esa respuesta en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agenda y comprometer los tiempos. Los módulos 3 y 4 son los más largos porque concentran los ejercicios prácticos.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capataz representa a la empresa frente a su cuadrilla: cuando da una instrucción ejerce el deber de protección del empleador. Guiar la pregunta final: la responsabilidad es compartida, pero quien da la orden y tolera la condición tiene un rol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busca que el capataz sea abogado, sino que entienda que su rol tiene respaldo legal. Destacar el art. 184 bis: el derecho a interrumpir el trabajo ante riesgo grave e inminente, que se retoma en el Módulo 5. Adaptar con los estándares específicos del mandante de la faena.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diferencia con ejemplos de la obra. Formar grupos de 3 a 4 personas y entregar una tarea real a cada grupo. La tarea asignada se reutiliza en el ejercicio del ART del Módulo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pirámide de arriba hacia abajo. Preguntar: ¿por qué solemos partir por el EPP? Porque es lo más fácil, no lo más eficaz. El EPP es obligatorio, pero nunca reemplaza a los controles de los niveles superiores.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central del taller. Un control crítico no es negociable: no se compensa con 'más cuidado' ni con 'es rápido'. Si no está presente, el capataz no inicia la tarea o la detiene.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cada riesgo preguntando al grupo cuál de estos controles ha visto faltar en la obra. Ajustar los valores (altura, viento, colores del mes) al estándar del mandante.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que en espacios confinados la mayoría de las víctimas son rescatistas improvisados: nadie entra sin plan de rescate.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Escenas sugeridas: 1) trabajador en andamio sin tarjeta verde (no parte); 2) izaje con área segregada y vientos instalados (parte); 3) soldadura junto a tambores de aceite sin vigía (no parte); 4) bloqueo con candado de un solo trabajador para una cuadrilla de tres (no parte); 5) ingreso a estanque con medición de gases y vigía, pero sin plan de rescate (no parte). Usar fotos propias de la obra cuando sea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charla que solo informa no cambia conductas. La clave es terminar preguntando y escuchar. Pedir a un voluntario que haga una charla de 3 minutos sobre la tarea de su grupo usando las cuatro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un formato de ART real de la empresa. Errores frecuentes: ART llenado en la oficina, firmado sin leer, copiado del día anterior, o no actualizado cuando cambian las condiciones (clima, personal,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práctico de 15 minutos en parejas: uno es capataz y otro trabajador. El capataz completa un ART para la tarea del Módulo 2 y luego hace una observación de conducta simulada usando los 4 pasos. El grupo retroalimenta. Mostrar la lista digital de pre-uso (gemini-code-1787107244296.html del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ejemplos concretos de cada principio. Preguntar: ¿alguna vez sintieron presión por producción para saltarse un control? ¿Cómo lo resolvieron?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el art. 184 bis del Código del Trabajo visto en el Módulo 1. En el juego de roles, el relator puede hacer de jefe de terreno. Luego el grupo comenta qué argumentos funcionaron y cuáles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accidentes graves o fatales, suspender la faena afectada según el procedimiento vigente y avisar a la empresa para la notificación a la autoridad. Recordar que el capataz no debe exponerse para rescatar si la escena no está controlada.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y respuestas correctas:
1. ¿Cuál es el control más eficaz? → Eliminar el peligro.
2. Si falta un control crítico, el capataz debe… → No iniciar o detener el trabajo.
3. El ART debe realizarse… → En el lugar de trabajo, con la cuadrilla que ejecuta la tarea.
4. ¿A partir de qué altura se considera trabajo en altura? → 1,8 m.
5. Durante un izaje, el área bajo la carga debe… → Estar despejada y segregada.
6. Herramienta con un ítem «No cumple» → Se retira y se etiqueta.
7. En una observación de conducta, después de presentarse… → Reconocer lo que hace bien.
8. Un cuasi accidente… → Se reporta siempre.
9. Art. 184 bis permite al trabajador… → Interrumpir sus labores y abandonar el lugar ante riesgo grave e inminente.
10. Lo primero ante un accidente → Controlar la escena para evitar más lesionados.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retomando la respuesta a la pregunta de los objetivos (cuál era el más difícil). Pasar el registro de asistencia y agradecer. Hacer seguimiento de los compromisos en la siguiente visita a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_OSCURA">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069080"/>
            <a:ext cx="6949440" cy="109728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Taller de Prevención de Riesgos · Capataces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ENSAJE_OSCURO">
    <p:bg>
      <p:bgPr>
        <a:solidFill>
          <a:srgbClr val="1F29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463040"/>
            <a:ext cx="694944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Taller de Prevención de Riesgos · Capataces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El capataz como líder de la prevención en terreno</a:t>
            </a:r>
            <a:endParaRPr lang="en-US" sz="4400" dirty="0"/>
          </a:p>
        </p:txBody>
      </p:sp>
      <p:sp>
        <p:nvSpPr>
          <p:cNvPr id="3" name="Text 0"/>
          <p:cNvSpPr/>
          <p:nvPr>
            <p:ph idx="101"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2000" dirty="0">
                <a:solidFill>
                  <a:schemeClr val="accent1"/>
                </a:solidFill>
              </a:rPr>
              <a:t>Taller práctico de prevención de riesgos · 3 horas</a:t>
            </a:r>
            <a:endParaRPr lang="en-US" sz="2000" dirty="0"/>
          </a:p>
        </p:txBody>
      </p:sp>
      <p:sp>
        <p:nvSpPr>
          <p:cNvPr id="4" name="Text 2"/>
          <p:cNvSpPr txBox="1"/>
          <p:nvPr/>
        </p:nvSpPr>
        <p:spPr>
          <a:xfrm>
            <a:off x="731520" y="1188720"/>
            <a:ext cx="5486400" cy="365760"/>
          </a:xfrm>
          <a:prstGeom prst="rect">
            <a:avLst/>
          </a:prstGeom>
          <a:noFill/>
          <a:ln/>
        </p:spPr>
        <p:txBody>
          <a:bodyPr wrap="square" lIns="0" tIns="0" rIns="0" bIns="0" rtlCol="0" anchor="t"/>
          <a:lstStyle/>
          <a:p>
            <a:pPr indent="0" marL="0">
              <a:buNone/>
            </a:pPr>
            <a:r>
              <a:rPr lang="en-US" sz="1600" b="1" spc="300" kern="0" dirty="0">
                <a:solidFill>
                  <a:schemeClr val="accent1"/>
                </a:solidFill>
              </a:rPr>
              <a:t>SALFA MONTAJES</a:t>
            </a:r>
            <a:endParaRPr lang="en-US" sz="1600" dirty="0"/>
          </a:p>
        </p:txBody>
      </p:sp>
      <p:sp>
        <p:nvSpPr>
          <p:cNvPr id="5" name="icono FaHardHat"/>
          <p:cNvSpPr/>
          <p:nvPr/>
        </p:nvSpPr>
        <p:spPr>
          <a:xfrm>
            <a:off x="8229600" y="1600200"/>
            <a:ext cx="3108960" cy="3108960"/>
          </a:xfrm>
          <a:prstGeom prst="ellipse">
            <a:avLst/>
          </a:prstGeom>
          <a:solidFill>
            <a:schemeClr val="accent1"/>
          </a:solidFill>
          <a:ln/>
        </p:spPr>
      </p:sp>
      <p:pic>
        <p:nvPicPr>
          <p:cNvPr id="6" name="Image 0" descr="FaHardHat">    </p:cNvPr>
          <p:cNvPicPr>
            <a:picLocks noChangeAspect="1"/>
          </p:cNvPicPr>
          <p:nvPr/>
        </p:nvPicPr>
        <p:blipFill>
          <a:blip r:embed="rId1"/>
          <a:stretch>
            <a:fillRect/>
          </a:stretch>
        </p:blipFill>
        <p:spPr>
          <a:xfrm>
            <a:off x="8975750" y="2346350"/>
            <a:ext cx="1616659" cy="16166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APERTURA · 15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¿Por qué estamos aquí?</a:t>
            </a:r>
            <a:endParaRPr lang="en-US" sz="3400" dirty="0"/>
          </a:p>
        </p:txBody>
      </p:sp>
      <p:sp>
        <p:nvSpPr>
          <p:cNvPr id="4" name="icono FaComments"/>
          <p:cNvSpPr/>
          <p:nvPr/>
        </p:nvSpPr>
        <p:spPr>
          <a:xfrm>
            <a:off x="548640" y="1783080"/>
            <a:ext cx="731520" cy="731520"/>
          </a:xfrm>
          <a:prstGeom prst="ellipse">
            <a:avLst/>
          </a:prstGeom>
          <a:solidFill>
            <a:schemeClr val="accent1"/>
          </a:solidFill>
          <a:ln/>
        </p:spPr>
      </p:sp>
      <p:pic>
        <p:nvPicPr>
          <p:cNvPr id="5" name="Image 0" descr="FaComments">    </p:cNvPr>
          <p:cNvPicPr>
            <a:picLocks noChangeAspect="1"/>
          </p:cNvPicPr>
          <p:nvPr/>
        </p:nvPicPr>
        <p:blipFill>
          <a:blip r:embed="rId1"/>
          <a:stretch>
            <a:fillRect/>
          </a:stretch>
        </p:blipFill>
        <p:spPr>
          <a:xfrm>
            <a:off x="724205" y="1958645"/>
            <a:ext cx="380390" cy="380390"/>
          </a:xfrm>
          <a:prstGeom prst="rect">
            <a:avLst/>
          </a:prstGeom>
        </p:spPr>
      </p:pic>
      <p:sp>
        <p:nvSpPr>
          <p:cNvPr id="6" name="Text 3"/>
          <p:cNvSpPr txBox="1"/>
          <p:nvPr/>
        </p:nvSpPr>
        <p:spPr>
          <a:xfrm>
            <a:off x="1463040" y="1874520"/>
            <a:ext cx="4754880" cy="548640"/>
          </a:xfrm>
          <a:prstGeom prst="rect">
            <a:avLst/>
          </a:prstGeom>
          <a:noFill/>
          <a:ln/>
        </p:spPr>
        <p:txBody>
          <a:bodyPr wrap="square" lIns="0" tIns="0" rIns="0" bIns="0" rtlCol="0" anchor="ctr"/>
          <a:lstStyle/>
          <a:p>
            <a:pPr indent="0" marL="0">
              <a:buNone/>
            </a:pPr>
            <a:r>
              <a:rPr lang="en-US" sz="2200" b="1" dirty="0">
                <a:solidFill>
                  <a:schemeClr val="tx1"/>
                </a:solidFill>
              </a:rPr>
              <a:t>Dinámica: «El día que casi»</a:t>
            </a:r>
            <a:endParaRPr lang="en-US" sz="2200" dirty="0"/>
          </a:p>
        </p:txBody>
      </p:sp>
      <p:sp>
        <p:nvSpPr>
          <p:cNvPr id="7" name="Text 4"/>
          <p:cNvSpPr txBox="1"/>
          <p:nvPr/>
        </p:nvSpPr>
        <p:spPr>
          <a:xfrm>
            <a:off x="548640" y="2743200"/>
            <a:ext cx="5669280" cy="1005840"/>
          </a:xfrm>
          <a:prstGeom prst="rect">
            <a:avLst/>
          </a:prstGeom>
          <a:noFill/>
          <a:ln/>
        </p:spPr>
        <p:txBody>
          <a:bodyPr wrap="square" lIns="0" tIns="0" rIns="0" bIns="0" rtlCol="0" anchor="t"/>
          <a:lstStyle/>
          <a:p>
            <a:pPr indent="0" marL="0">
              <a:buNone/>
            </a:pPr>
            <a:r>
              <a:rPr lang="en-US" sz="1600" dirty="0">
                <a:solidFill>
                  <a:schemeClr val="tx1"/>
                </a:solidFill>
              </a:rPr>
              <a:t>Cada participante cuenta, en 1 minuto, una situación en que él o un compañero estuvo cerca de accidentarse. El relator anota en el papelógrafo:</a:t>
            </a:r>
            <a:endParaRPr lang="en-US" sz="1600" dirty="0"/>
          </a:p>
        </p:txBody>
      </p:sp>
      <p:sp>
        <p:nvSpPr>
          <p:cNvPr id="8" name="pregunta 1"/>
          <p:cNvSpPr/>
          <p:nvPr/>
        </p:nvSpPr>
        <p:spPr>
          <a:xfrm>
            <a:off x="548640" y="3886200"/>
            <a:ext cx="5669280" cy="548640"/>
          </a:xfrm>
          <a:prstGeom prst="roundRect">
            <a:avLst>
              <a:gd name="adj" fmla="val 20000"/>
            </a:avLst>
          </a:prstGeom>
          <a:solidFill>
            <a:schemeClr val="bg2"/>
          </a:solidFill>
          <a:ln/>
        </p:spPr>
      </p:sp>
      <p:sp>
        <p:nvSpPr>
          <p:cNvPr id="9" name="Text 6"/>
          <p:cNvSpPr txBox="1"/>
          <p:nvPr/>
        </p:nvSpPr>
        <p:spPr>
          <a:xfrm>
            <a:off x="777240" y="3886200"/>
            <a:ext cx="5303520" cy="548640"/>
          </a:xfrm>
          <a:prstGeom prst="rect">
            <a:avLst/>
          </a:prstGeom>
          <a:noFill/>
          <a:ln/>
        </p:spPr>
        <p:txBody>
          <a:bodyPr wrap="square" lIns="0" tIns="0" rIns="0" bIns="0" rtlCol="0" anchor="ctr"/>
          <a:lstStyle/>
          <a:p>
            <a:pPr indent="0" marL="0">
              <a:buNone/>
            </a:pPr>
            <a:r>
              <a:rPr lang="en-US" sz="1600" b="1" dirty="0">
                <a:solidFill>
                  <a:schemeClr val="tx1"/>
                </a:solidFill>
              </a:rPr>
              <a:t>¿Qué tarea era?</a:t>
            </a:r>
            <a:endParaRPr lang="en-US" sz="1600" dirty="0"/>
          </a:p>
        </p:txBody>
      </p:sp>
      <p:sp>
        <p:nvSpPr>
          <p:cNvPr id="10" name="pregunta 2"/>
          <p:cNvSpPr/>
          <p:nvPr/>
        </p:nvSpPr>
        <p:spPr>
          <a:xfrm>
            <a:off x="548640" y="4572000"/>
            <a:ext cx="5669280" cy="548640"/>
          </a:xfrm>
          <a:prstGeom prst="roundRect">
            <a:avLst>
              <a:gd name="adj" fmla="val 20000"/>
            </a:avLst>
          </a:prstGeom>
          <a:solidFill>
            <a:schemeClr val="bg2"/>
          </a:solidFill>
          <a:ln/>
        </p:spPr>
      </p:sp>
      <p:sp>
        <p:nvSpPr>
          <p:cNvPr id="11" name="Text 8"/>
          <p:cNvSpPr txBox="1"/>
          <p:nvPr/>
        </p:nvSpPr>
        <p:spPr>
          <a:xfrm>
            <a:off x="777240" y="4572000"/>
            <a:ext cx="5303520" cy="548640"/>
          </a:xfrm>
          <a:prstGeom prst="rect">
            <a:avLst/>
          </a:prstGeom>
          <a:noFill/>
          <a:ln/>
        </p:spPr>
        <p:txBody>
          <a:bodyPr wrap="square" lIns="0" tIns="0" rIns="0" bIns="0" rtlCol="0" anchor="ctr"/>
          <a:lstStyle/>
          <a:p>
            <a:pPr indent="0" marL="0">
              <a:buNone/>
            </a:pPr>
            <a:r>
              <a:rPr lang="en-US" sz="1600" b="1" dirty="0">
                <a:solidFill>
                  <a:schemeClr val="tx1"/>
                </a:solidFill>
              </a:rPr>
              <a:t>¿Qué falló?</a:t>
            </a:r>
            <a:endParaRPr lang="en-US" sz="1600" dirty="0"/>
          </a:p>
        </p:txBody>
      </p:sp>
      <p:sp>
        <p:nvSpPr>
          <p:cNvPr id="12" name="pregunta 3"/>
          <p:cNvSpPr/>
          <p:nvPr/>
        </p:nvSpPr>
        <p:spPr>
          <a:xfrm>
            <a:off x="548640" y="5257800"/>
            <a:ext cx="5669280" cy="548640"/>
          </a:xfrm>
          <a:prstGeom prst="roundRect">
            <a:avLst>
              <a:gd name="adj" fmla="val 20000"/>
            </a:avLst>
          </a:prstGeom>
          <a:solidFill>
            <a:schemeClr val="bg2"/>
          </a:solidFill>
          <a:ln/>
        </p:spPr>
      </p:sp>
      <p:sp>
        <p:nvSpPr>
          <p:cNvPr id="13" name="Text 10"/>
          <p:cNvSpPr txBox="1"/>
          <p:nvPr/>
        </p:nvSpPr>
        <p:spPr>
          <a:xfrm>
            <a:off x="777240" y="5257800"/>
            <a:ext cx="5303520" cy="548640"/>
          </a:xfrm>
          <a:prstGeom prst="rect">
            <a:avLst/>
          </a:prstGeom>
          <a:noFill/>
          <a:ln/>
        </p:spPr>
        <p:txBody>
          <a:bodyPr wrap="square" lIns="0" tIns="0" rIns="0" bIns="0" rtlCol="0" anchor="ctr"/>
          <a:lstStyle/>
          <a:p>
            <a:pPr indent="0" marL="0">
              <a:buNone/>
            </a:pPr>
            <a:r>
              <a:rPr lang="en-US" sz="1600" b="1" dirty="0">
                <a:solidFill>
                  <a:schemeClr val="tx1"/>
                </a:solidFill>
              </a:rPr>
              <a:t>¿Quién pudo evitarlo?</a:t>
            </a:r>
            <a:endParaRPr lang="en-US" sz="1600" dirty="0"/>
          </a:p>
        </p:txBody>
      </p:sp>
      <p:sp>
        <p:nvSpPr>
          <p:cNvPr id="14" name="mensaje clave"/>
          <p:cNvSpPr/>
          <p:nvPr/>
        </p:nvSpPr>
        <p:spPr>
          <a:xfrm>
            <a:off x="6675120" y="1783080"/>
            <a:ext cx="4937760" cy="4206240"/>
          </a:xfrm>
          <a:prstGeom prst="roundRect">
            <a:avLst>
              <a:gd name="adj" fmla="val 2609"/>
            </a:avLst>
          </a:prstGeom>
          <a:solidFill>
            <a:schemeClr val="tx1"/>
          </a:solidFill>
          <a:ln/>
        </p:spPr>
      </p:sp>
      <p:sp>
        <p:nvSpPr>
          <p:cNvPr id="15" name="Text 12"/>
          <p:cNvSpPr txBox="1"/>
          <p:nvPr/>
        </p:nvSpPr>
        <p:spPr>
          <a:xfrm>
            <a:off x="7040880" y="2148840"/>
            <a:ext cx="420624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MENSAJE CLAVE</a:t>
            </a:r>
            <a:endParaRPr lang="en-US" sz="1200" dirty="0"/>
          </a:p>
        </p:txBody>
      </p:sp>
      <p:sp>
        <p:nvSpPr>
          <p:cNvPr id="16" name="Text 13"/>
          <p:cNvSpPr txBox="1"/>
          <p:nvPr/>
        </p:nvSpPr>
        <p:spPr>
          <a:xfrm>
            <a:off x="7040880" y="2606040"/>
            <a:ext cx="4206240" cy="1828800"/>
          </a:xfrm>
          <a:prstGeom prst="rect">
            <a:avLst/>
          </a:prstGeom>
          <a:noFill/>
          <a:ln/>
        </p:spPr>
        <p:txBody>
          <a:bodyPr wrap="square" lIns="0" tIns="0" rIns="0" bIns="0" rtlCol="0" anchor="t"/>
          <a:lstStyle/>
          <a:p>
            <a:pPr indent="0" marL="0">
              <a:buNone/>
            </a:pPr>
            <a:r>
              <a:rPr lang="en-US" sz="2400" b="1" i="1" dirty="0">
                <a:solidFill>
                  <a:schemeClr val="bg1"/>
                </a:solidFill>
              </a:rPr>
              <a:t>En casi todos los relatos, alguien vio el riesgo y no se detuvo el trabajo.</a:t>
            </a:r>
            <a:endParaRPr lang="en-US" sz="2400" dirty="0"/>
          </a:p>
        </p:txBody>
      </p:sp>
      <p:sp>
        <p:nvSpPr>
          <p:cNvPr id="17" name="Text 14"/>
          <p:cNvSpPr txBox="1"/>
          <p:nvPr/>
        </p:nvSpPr>
        <p:spPr>
          <a:xfrm>
            <a:off x="7040880" y="4572000"/>
            <a:ext cx="4206240" cy="1097280"/>
          </a:xfrm>
          <a:prstGeom prst="rect">
            <a:avLst/>
          </a:prstGeom>
          <a:noFill/>
          <a:ln/>
        </p:spPr>
        <p:txBody>
          <a:bodyPr wrap="square" lIns="0" tIns="0" rIns="0" bIns="0" rtlCol="0" anchor="t"/>
          <a:lstStyle/>
          <a:p>
            <a:pPr indent="0" marL="0">
              <a:buNone/>
            </a:pPr>
            <a:r>
              <a:rPr lang="en-US" sz="1600" dirty="0">
                <a:solidFill>
                  <a:schemeClr val="accent6"/>
                </a:solidFill>
              </a:rPr>
              <a:t>El capataz es la persona con más oportunidad de cambiar ese final.</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OBJETIVOS</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Al finalizar, el capataz será capaz de</a:t>
            </a:r>
            <a:endParaRPr lang="en-US" sz="3400" dirty="0"/>
          </a:p>
        </p:txBody>
      </p:sp>
      <p:sp>
        <p:nvSpPr>
          <p:cNvPr id="4" name="objetivo 1"/>
          <p:cNvSpPr/>
          <p:nvPr/>
        </p:nvSpPr>
        <p:spPr>
          <a:xfrm>
            <a:off x="548640" y="1783080"/>
            <a:ext cx="3520440" cy="2011680"/>
          </a:xfrm>
          <a:prstGeom prst="roundRect">
            <a:avLst>
              <a:gd name="adj" fmla="val 5455"/>
            </a:avLst>
          </a:prstGeom>
          <a:solidFill>
            <a:schemeClr val="bg2"/>
          </a:solidFill>
          <a:ln/>
        </p:spPr>
      </p:sp>
      <p:sp>
        <p:nvSpPr>
          <p:cNvPr id="5" name="icono FaBalanceScale"/>
          <p:cNvSpPr/>
          <p:nvPr/>
        </p:nvSpPr>
        <p:spPr>
          <a:xfrm>
            <a:off x="822960" y="2057400"/>
            <a:ext cx="640080" cy="640080"/>
          </a:xfrm>
          <a:prstGeom prst="ellipse">
            <a:avLst/>
          </a:prstGeom>
          <a:solidFill>
            <a:schemeClr val="accent1"/>
          </a:solidFill>
          <a:ln/>
        </p:spPr>
      </p:sp>
      <p:pic>
        <p:nvPicPr>
          <p:cNvPr id="6" name="Image 0" descr="FaBalanceScale">    </p:cNvPr>
          <p:cNvPicPr>
            <a:picLocks noChangeAspect="1"/>
          </p:cNvPicPr>
          <p:nvPr/>
        </p:nvPicPr>
        <p:blipFill>
          <a:blip r:embed="rId1"/>
          <a:stretch>
            <a:fillRect/>
          </a:stretch>
        </p:blipFill>
        <p:spPr>
          <a:xfrm>
            <a:off x="976579" y="2211019"/>
            <a:ext cx="332842" cy="332842"/>
          </a:xfrm>
          <a:prstGeom prst="rect">
            <a:avLst/>
          </a:prstGeom>
        </p:spPr>
      </p:pic>
      <p:sp>
        <p:nvSpPr>
          <p:cNvPr id="7" name="Text 4"/>
          <p:cNvSpPr txBox="1"/>
          <p:nvPr/>
        </p:nvSpPr>
        <p:spPr>
          <a:xfrm>
            <a:off x="822960" y="2834640"/>
            <a:ext cx="2971800" cy="822960"/>
          </a:xfrm>
          <a:prstGeom prst="rect">
            <a:avLst/>
          </a:prstGeom>
          <a:noFill/>
          <a:ln/>
        </p:spPr>
        <p:txBody>
          <a:bodyPr wrap="square" lIns="0" tIns="0" rIns="0" bIns="0" rtlCol="0" anchor="t"/>
          <a:lstStyle/>
          <a:p>
            <a:pPr indent="0" marL="0">
              <a:buNone/>
            </a:pPr>
            <a:r>
              <a:rPr lang="en-US" sz="1600" dirty="0">
                <a:solidFill>
                  <a:schemeClr val="tx1"/>
                </a:solidFill>
              </a:rPr>
              <a:t>Reconocer sus responsabilidades legales y operativas</a:t>
            </a:r>
            <a:endParaRPr lang="en-US" sz="1600" dirty="0"/>
          </a:p>
        </p:txBody>
      </p:sp>
      <p:sp>
        <p:nvSpPr>
          <p:cNvPr id="8" name="objetivo 2"/>
          <p:cNvSpPr/>
          <p:nvPr/>
        </p:nvSpPr>
        <p:spPr>
          <a:xfrm>
            <a:off x="4343400" y="1783080"/>
            <a:ext cx="3520440" cy="2011680"/>
          </a:xfrm>
          <a:prstGeom prst="roundRect">
            <a:avLst>
              <a:gd name="adj" fmla="val 5455"/>
            </a:avLst>
          </a:prstGeom>
          <a:solidFill>
            <a:schemeClr val="bg2"/>
          </a:solidFill>
          <a:ln/>
        </p:spPr>
      </p:sp>
      <p:sp>
        <p:nvSpPr>
          <p:cNvPr id="9" name="icono FaSearch"/>
          <p:cNvSpPr/>
          <p:nvPr/>
        </p:nvSpPr>
        <p:spPr>
          <a:xfrm>
            <a:off x="4617720" y="2057400"/>
            <a:ext cx="640080" cy="640080"/>
          </a:xfrm>
          <a:prstGeom prst="ellipse">
            <a:avLst/>
          </a:prstGeom>
          <a:solidFill>
            <a:schemeClr val="accent1"/>
          </a:solidFill>
          <a:ln/>
        </p:spPr>
      </p:sp>
      <p:pic>
        <p:nvPicPr>
          <p:cNvPr id="10" name="Image 1" descr="FaSearch">    </p:cNvPr>
          <p:cNvPicPr>
            <a:picLocks noChangeAspect="1"/>
          </p:cNvPicPr>
          <p:nvPr/>
        </p:nvPicPr>
        <p:blipFill>
          <a:blip r:embed="rId2"/>
          <a:stretch>
            <a:fillRect/>
          </a:stretch>
        </p:blipFill>
        <p:spPr>
          <a:xfrm>
            <a:off x="4771339" y="2211019"/>
            <a:ext cx="332842" cy="332842"/>
          </a:xfrm>
          <a:prstGeom prst="rect">
            <a:avLst/>
          </a:prstGeom>
        </p:spPr>
      </p:pic>
      <p:sp>
        <p:nvSpPr>
          <p:cNvPr id="11" name="Text 7"/>
          <p:cNvSpPr txBox="1"/>
          <p:nvPr/>
        </p:nvSpPr>
        <p:spPr>
          <a:xfrm>
            <a:off x="4617720" y="2834640"/>
            <a:ext cx="2971800" cy="822960"/>
          </a:xfrm>
          <a:prstGeom prst="rect">
            <a:avLst/>
          </a:prstGeom>
          <a:noFill/>
          <a:ln/>
        </p:spPr>
        <p:txBody>
          <a:bodyPr wrap="square" lIns="0" tIns="0" rIns="0" bIns="0" rtlCol="0" anchor="t"/>
          <a:lstStyle/>
          <a:p>
            <a:pPr indent="0" marL="0">
              <a:buNone/>
            </a:pPr>
            <a:r>
              <a:rPr lang="en-US" sz="1600" dirty="0">
                <a:solidFill>
                  <a:schemeClr val="tx1"/>
                </a:solidFill>
              </a:rPr>
              <a:t>Identificar peligros y aplicar la jerarquía de controles</a:t>
            </a:r>
            <a:endParaRPr lang="en-US" sz="1600" dirty="0"/>
          </a:p>
        </p:txBody>
      </p:sp>
      <p:sp>
        <p:nvSpPr>
          <p:cNvPr id="12" name="objetivo 3"/>
          <p:cNvSpPr/>
          <p:nvPr/>
        </p:nvSpPr>
        <p:spPr>
          <a:xfrm>
            <a:off x="8138160" y="1783080"/>
            <a:ext cx="3520440" cy="2011680"/>
          </a:xfrm>
          <a:prstGeom prst="roundRect">
            <a:avLst>
              <a:gd name="adj" fmla="val 5455"/>
            </a:avLst>
          </a:prstGeom>
          <a:solidFill>
            <a:schemeClr val="bg2"/>
          </a:solidFill>
          <a:ln/>
        </p:spPr>
      </p:sp>
      <p:sp>
        <p:nvSpPr>
          <p:cNvPr id="13" name="icono FaClipboardList"/>
          <p:cNvSpPr/>
          <p:nvPr/>
        </p:nvSpPr>
        <p:spPr>
          <a:xfrm>
            <a:off x="8412480" y="2057400"/>
            <a:ext cx="640080" cy="640080"/>
          </a:xfrm>
          <a:prstGeom prst="ellipse">
            <a:avLst/>
          </a:prstGeom>
          <a:solidFill>
            <a:schemeClr val="accent1"/>
          </a:solidFill>
          <a:ln/>
        </p:spPr>
      </p:sp>
      <p:pic>
        <p:nvPicPr>
          <p:cNvPr id="14" name="Image 2" descr="FaClipboardList">    </p:cNvPr>
          <p:cNvPicPr>
            <a:picLocks noChangeAspect="1"/>
          </p:cNvPicPr>
          <p:nvPr/>
        </p:nvPicPr>
        <p:blipFill>
          <a:blip r:embed="rId3"/>
          <a:stretch>
            <a:fillRect/>
          </a:stretch>
        </p:blipFill>
        <p:spPr>
          <a:xfrm>
            <a:off x="8566099" y="2211019"/>
            <a:ext cx="332842" cy="332842"/>
          </a:xfrm>
          <a:prstGeom prst="rect">
            <a:avLst/>
          </a:prstGeom>
        </p:spPr>
      </p:pic>
      <p:sp>
        <p:nvSpPr>
          <p:cNvPr id="15" name="Text 10"/>
          <p:cNvSpPr txBox="1"/>
          <p:nvPr/>
        </p:nvSpPr>
        <p:spPr>
          <a:xfrm>
            <a:off x="8412480" y="2834640"/>
            <a:ext cx="2971800" cy="822960"/>
          </a:xfrm>
          <a:prstGeom prst="rect">
            <a:avLst/>
          </a:prstGeom>
          <a:noFill/>
          <a:ln/>
        </p:spPr>
        <p:txBody>
          <a:bodyPr wrap="square" lIns="0" tIns="0" rIns="0" bIns="0" rtlCol="0" anchor="t"/>
          <a:lstStyle/>
          <a:p>
            <a:pPr indent="0" marL="0">
              <a:buNone/>
            </a:pPr>
            <a:r>
              <a:rPr lang="en-US" sz="1600" dirty="0">
                <a:solidFill>
                  <a:schemeClr val="tx1"/>
                </a:solidFill>
              </a:rPr>
              <a:t>Elaborar y revisar un ART en el lugar de trabajo</a:t>
            </a:r>
            <a:endParaRPr lang="en-US" sz="1600" dirty="0"/>
          </a:p>
        </p:txBody>
      </p:sp>
      <p:sp>
        <p:nvSpPr>
          <p:cNvPr id="16" name="objetivo 4"/>
          <p:cNvSpPr/>
          <p:nvPr/>
        </p:nvSpPr>
        <p:spPr>
          <a:xfrm>
            <a:off x="548640" y="4069080"/>
            <a:ext cx="3520440" cy="2011680"/>
          </a:xfrm>
          <a:prstGeom prst="roundRect">
            <a:avLst>
              <a:gd name="adj" fmla="val 5455"/>
            </a:avLst>
          </a:prstGeom>
          <a:solidFill>
            <a:schemeClr val="bg2"/>
          </a:solidFill>
          <a:ln/>
        </p:spPr>
      </p:sp>
      <p:sp>
        <p:nvSpPr>
          <p:cNvPr id="17" name="icono FaExclamationTriangle"/>
          <p:cNvSpPr/>
          <p:nvPr/>
        </p:nvSpPr>
        <p:spPr>
          <a:xfrm>
            <a:off x="822960" y="4343400"/>
            <a:ext cx="640080" cy="640080"/>
          </a:xfrm>
          <a:prstGeom prst="ellipse">
            <a:avLst/>
          </a:prstGeom>
          <a:solidFill>
            <a:schemeClr val="accent1"/>
          </a:solidFill>
          <a:ln/>
        </p:spPr>
      </p:sp>
      <p:pic>
        <p:nvPicPr>
          <p:cNvPr id="18" name="Image 3" descr="FaExclamationTriangle">    </p:cNvPr>
          <p:cNvPicPr>
            <a:picLocks noChangeAspect="1"/>
          </p:cNvPicPr>
          <p:nvPr/>
        </p:nvPicPr>
        <p:blipFill>
          <a:blip r:embed="rId4"/>
          <a:stretch>
            <a:fillRect/>
          </a:stretch>
        </p:blipFill>
        <p:spPr>
          <a:xfrm>
            <a:off x="976579" y="4497019"/>
            <a:ext cx="332842" cy="332842"/>
          </a:xfrm>
          <a:prstGeom prst="rect">
            <a:avLst/>
          </a:prstGeom>
        </p:spPr>
      </p:pic>
      <p:sp>
        <p:nvSpPr>
          <p:cNvPr id="19" name="Text 13"/>
          <p:cNvSpPr txBox="1"/>
          <p:nvPr/>
        </p:nvSpPr>
        <p:spPr>
          <a:xfrm>
            <a:off x="822960" y="5120640"/>
            <a:ext cx="2971800" cy="822960"/>
          </a:xfrm>
          <a:prstGeom prst="rect">
            <a:avLst/>
          </a:prstGeom>
          <a:noFill/>
          <a:ln/>
        </p:spPr>
        <p:txBody>
          <a:bodyPr wrap="square" lIns="0" tIns="0" rIns="0" bIns="0" rtlCol="0" anchor="t"/>
          <a:lstStyle/>
          <a:p>
            <a:pPr indent="0" marL="0">
              <a:buNone/>
            </a:pPr>
            <a:r>
              <a:rPr lang="en-US" sz="1600" dirty="0">
                <a:solidFill>
                  <a:schemeClr val="tx1"/>
                </a:solidFill>
              </a:rPr>
              <a:t>Verificar los controles críticos de los riesgos de alto potencial</a:t>
            </a:r>
            <a:endParaRPr lang="en-US" sz="1600" dirty="0"/>
          </a:p>
        </p:txBody>
      </p:sp>
      <p:sp>
        <p:nvSpPr>
          <p:cNvPr id="20" name="objetivo 5"/>
          <p:cNvSpPr/>
          <p:nvPr/>
        </p:nvSpPr>
        <p:spPr>
          <a:xfrm>
            <a:off x="4343400" y="4069080"/>
            <a:ext cx="3520440" cy="2011680"/>
          </a:xfrm>
          <a:prstGeom prst="roundRect">
            <a:avLst>
              <a:gd name="adj" fmla="val 5455"/>
            </a:avLst>
          </a:prstGeom>
          <a:solidFill>
            <a:schemeClr val="bg2"/>
          </a:solidFill>
          <a:ln/>
        </p:spPr>
      </p:sp>
      <p:sp>
        <p:nvSpPr>
          <p:cNvPr id="21" name="icono FaEye"/>
          <p:cNvSpPr/>
          <p:nvPr/>
        </p:nvSpPr>
        <p:spPr>
          <a:xfrm>
            <a:off x="4617720" y="4343400"/>
            <a:ext cx="640080" cy="640080"/>
          </a:xfrm>
          <a:prstGeom prst="ellipse">
            <a:avLst/>
          </a:prstGeom>
          <a:solidFill>
            <a:schemeClr val="accent1"/>
          </a:solidFill>
          <a:ln/>
        </p:spPr>
      </p:sp>
      <p:pic>
        <p:nvPicPr>
          <p:cNvPr id="22" name="Image 4" descr="FaEye">    </p:cNvPr>
          <p:cNvPicPr>
            <a:picLocks noChangeAspect="1"/>
          </p:cNvPicPr>
          <p:nvPr/>
        </p:nvPicPr>
        <p:blipFill>
          <a:blip r:embed="rId5"/>
          <a:stretch>
            <a:fillRect/>
          </a:stretch>
        </p:blipFill>
        <p:spPr>
          <a:xfrm>
            <a:off x="4771339" y="4497019"/>
            <a:ext cx="332842" cy="332842"/>
          </a:xfrm>
          <a:prstGeom prst="rect">
            <a:avLst/>
          </a:prstGeom>
        </p:spPr>
      </p:pic>
      <p:sp>
        <p:nvSpPr>
          <p:cNvPr id="23" name="Text 16"/>
          <p:cNvSpPr txBox="1"/>
          <p:nvPr/>
        </p:nvSpPr>
        <p:spPr>
          <a:xfrm>
            <a:off x="4617720" y="5120640"/>
            <a:ext cx="2971800" cy="822960"/>
          </a:xfrm>
          <a:prstGeom prst="rect">
            <a:avLst/>
          </a:prstGeom>
          <a:noFill/>
          <a:ln/>
        </p:spPr>
        <p:txBody>
          <a:bodyPr wrap="square" lIns="0" tIns="0" rIns="0" bIns="0" rtlCol="0" anchor="t"/>
          <a:lstStyle/>
          <a:p>
            <a:pPr indent="0" marL="0">
              <a:buNone/>
            </a:pPr>
            <a:r>
              <a:rPr lang="en-US" sz="1600" dirty="0">
                <a:solidFill>
                  <a:schemeClr val="tx1"/>
                </a:solidFill>
              </a:rPr>
              <a:t>Observar conductas y entregar retroalimentación efectiva</a:t>
            </a:r>
            <a:endParaRPr lang="en-US" sz="1600" dirty="0"/>
          </a:p>
        </p:txBody>
      </p:sp>
      <p:sp>
        <p:nvSpPr>
          <p:cNvPr id="24" name="objetivo 6"/>
          <p:cNvSpPr/>
          <p:nvPr/>
        </p:nvSpPr>
        <p:spPr>
          <a:xfrm>
            <a:off x="8138160" y="4069080"/>
            <a:ext cx="3520440" cy="2011680"/>
          </a:xfrm>
          <a:prstGeom prst="roundRect">
            <a:avLst>
              <a:gd name="adj" fmla="val 5455"/>
            </a:avLst>
          </a:prstGeom>
          <a:solidFill>
            <a:schemeClr val="bg2"/>
          </a:solidFill>
          <a:ln/>
        </p:spPr>
      </p:sp>
      <p:sp>
        <p:nvSpPr>
          <p:cNvPr id="25" name="icono FaHandPaper"/>
          <p:cNvSpPr/>
          <p:nvPr/>
        </p:nvSpPr>
        <p:spPr>
          <a:xfrm>
            <a:off x="8412480" y="4343400"/>
            <a:ext cx="640080" cy="640080"/>
          </a:xfrm>
          <a:prstGeom prst="ellipse">
            <a:avLst/>
          </a:prstGeom>
          <a:solidFill>
            <a:schemeClr val="accent1"/>
          </a:solidFill>
          <a:ln/>
        </p:spPr>
      </p:sp>
      <p:pic>
        <p:nvPicPr>
          <p:cNvPr id="26" name="Image 5" descr="FaHandPaper">    </p:cNvPr>
          <p:cNvPicPr>
            <a:picLocks noChangeAspect="1"/>
          </p:cNvPicPr>
          <p:nvPr/>
        </p:nvPicPr>
        <p:blipFill>
          <a:blip r:embed="rId6"/>
          <a:stretch>
            <a:fillRect/>
          </a:stretch>
        </p:blipFill>
        <p:spPr>
          <a:xfrm>
            <a:off x="8566099" y="4497019"/>
            <a:ext cx="332842" cy="332842"/>
          </a:xfrm>
          <a:prstGeom prst="rect">
            <a:avLst/>
          </a:prstGeom>
        </p:spPr>
      </p:pic>
      <p:sp>
        <p:nvSpPr>
          <p:cNvPr id="27" name="Text 19"/>
          <p:cNvSpPr txBox="1"/>
          <p:nvPr/>
        </p:nvSpPr>
        <p:spPr>
          <a:xfrm>
            <a:off x="8412480" y="5120640"/>
            <a:ext cx="2971800" cy="822960"/>
          </a:xfrm>
          <a:prstGeom prst="rect">
            <a:avLst/>
          </a:prstGeom>
          <a:noFill/>
          <a:ln/>
        </p:spPr>
        <p:txBody>
          <a:bodyPr wrap="square" lIns="0" tIns="0" rIns="0" bIns="0" rtlCol="0" anchor="t"/>
          <a:lstStyle/>
          <a:p>
            <a:pPr indent="0" marL="0">
              <a:buNone/>
            </a:pPr>
            <a:r>
              <a:rPr lang="en-US" sz="1600" dirty="0">
                <a:solidFill>
                  <a:schemeClr val="tx1"/>
                </a:solidFill>
              </a:rPr>
              <a:t>Actuar ante un incidente y detener un trabajo inseguro</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AGENDA</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Tres horas de trabajo práctico</a:t>
            </a:r>
            <a:endParaRPr lang="en-US" sz="3400" dirty="0"/>
          </a:p>
        </p:txBody>
      </p:sp>
      <p:sp>
        <p:nvSpPr>
          <p:cNvPr id="4" name="fila 1"/>
          <p:cNvSpPr/>
          <p:nvPr/>
        </p:nvSpPr>
        <p:spPr>
          <a:xfrm>
            <a:off x="548640" y="1737360"/>
            <a:ext cx="11064240" cy="457200"/>
          </a:xfrm>
          <a:prstGeom prst="rect">
            <a:avLst/>
          </a:prstGeom>
          <a:solidFill>
            <a:schemeClr val="bg2"/>
          </a:solidFill>
          <a:ln/>
        </p:spPr>
      </p:sp>
      <p:sp>
        <p:nvSpPr>
          <p:cNvPr id="5" name="Text 3"/>
          <p:cNvSpPr txBox="1"/>
          <p:nvPr/>
        </p:nvSpPr>
        <p:spPr>
          <a:xfrm>
            <a:off x="731520" y="173736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00:00</a:t>
            </a:r>
            <a:endParaRPr lang="en-US" sz="1500" dirty="0"/>
          </a:p>
        </p:txBody>
      </p:sp>
      <p:sp>
        <p:nvSpPr>
          <p:cNvPr id="6" name="Text 4"/>
          <p:cNvSpPr txBox="1"/>
          <p:nvPr/>
        </p:nvSpPr>
        <p:spPr>
          <a:xfrm>
            <a:off x="1737360" y="1737360"/>
            <a:ext cx="5669280" cy="457200"/>
          </a:xfrm>
          <a:prstGeom prst="rect">
            <a:avLst/>
          </a:prstGeom>
          <a:noFill/>
          <a:ln/>
        </p:spPr>
        <p:txBody>
          <a:bodyPr wrap="square" lIns="0" tIns="0" rIns="0" bIns="0" rtlCol="0" anchor="ctr"/>
          <a:lstStyle/>
          <a:p>
            <a:pPr indent="0" marL="0">
              <a:buNone/>
            </a:pPr>
            <a:r>
              <a:rPr lang="en-US" sz="1500" dirty="0">
                <a:solidFill>
                  <a:schemeClr val="tx1"/>
                </a:solidFill>
              </a:rPr>
              <a:t>Apertura y dinámica</a:t>
            </a:r>
            <a:endParaRPr lang="en-US" sz="1500" dirty="0"/>
          </a:p>
        </p:txBody>
      </p:sp>
      <p:sp>
        <p:nvSpPr>
          <p:cNvPr id="7" name="duracion 1"/>
          <p:cNvSpPr/>
          <p:nvPr/>
        </p:nvSpPr>
        <p:spPr>
          <a:xfrm>
            <a:off x="7680960" y="1874520"/>
            <a:ext cx="1371600" cy="182880"/>
          </a:xfrm>
          <a:prstGeom prst="rect">
            <a:avLst/>
          </a:prstGeom>
          <a:solidFill>
            <a:schemeClr val="accent1"/>
          </a:solidFill>
          <a:ln/>
        </p:spPr>
      </p:sp>
      <p:sp>
        <p:nvSpPr>
          <p:cNvPr id="8" name="Text 6"/>
          <p:cNvSpPr txBox="1"/>
          <p:nvPr/>
        </p:nvSpPr>
        <p:spPr>
          <a:xfrm>
            <a:off x="9189720" y="1737360"/>
            <a:ext cx="914400" cy="457200"/>
          </a:xfrm>
          <a:prstGeom prst="rect">
            <a:avLst/>
          </a:prstGeom>
          <a:noFill/>
          <a:ln/>
        </p:spPr>
        <p:txBody>
          <a:bodyPr wrap="square" lIns="0" tIns="0" rIns="0" bIns="0" rtlCol="0" anchor="ctr"/>
          <a:lstStyle/>
          <a:p>
            <a:pPr indent="0" marL="0">
              <a:buNone/>
            </a:pPr>
            <a:r>
              <a:rPr lang="en-US" sz="1300" dirty="0">
                <a:solidFill>
                  <a:schemeClr val="tx2"/>
                </a:solidFill>
              </a:rPr>
              <a:t>15 min</a:t>
            </a:r>
            <a:endParaRPr lang="en-US" sz="1300" dirty="0"/>
          </a:p>
        </p:txBody>
      </p:sp>
      <p:sp>
        <p:nvSpPr>
          <p:cNvPr id="9" name="Text 7"/>
          <p:cNvSpPr txBox="1"/>
          <p:nvPr/>
        </p:nvSpPr>
        <p:spPr>
          <a:xfrm>
            <a:off x="731520" y="224028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00:15</a:t>
            </a:r>
            <a:endParaRPr lang="en-US" sz="1500" dirty="0"/>
          </a:p>
        </p:txBody>
      </p:sp>
      <p:sp>
        <p:nvSpPr>
          <p:cNvPr id="10" name="Text 8"/>
          <p:cNvSpPr txBox="1"/>
          <p:nvPr/>
        </p:nvSpPr>
        <p:spPr>
          <a:xfrm>
            <a:off x="1737360" y="2240280"/>
            <a:ext cx="5669280" cy="457200"/>
          </a:xfrm>
          <a:prstGeom prst="rect">
            <a:avLst/>
          </a:prstGeom>
          <a:noFill/>
          <a:ln/>
        </p:spPr>
        <p:txBody>
          <a:bodyPr wrap="square" lIns="0" tIns="0" rIns="0" bIns="0" rtlCol="0" anchor="ctr"/>
          <a:lstStyle/>
          <a:p>
            <a:pPr indent="0" marL="0">
              <a:buNone/>
            </a:pPr>
            <a:r>
              <a:rPr lang="en-US" sz="1500" dirty="0">
                <a:solidFill>
                  <a:schemeClr val="tx1"/>
                </a:solidFill>
              </a:rPr>
              <a:t>M1 · Rol y responsabilidades del capataz</a:t>
            </a:r>
            <a:endParaRPr lang="en-US" sz="1500" dirty="0"/>
          </a:p>
        </p:txBody>
      </p:sp>
      <p:sp>
        <p:nvSpPr>
          <p:cNvPr id="11" name="duracion 2"/>
          <p:cNvSpPr/>
          <p:nvPr/>
        </p:nvSpPr>
        <p:spPr>
          <a:xfrm>
            <a:off x="7680960" y="2377440"/>
            <a:ext cx="1828800" cy="182880"/>
          </a:xfrm>
          <a:prstGeom prst="rect">
            <a:avLst/>
          </a:prstGeom>
          <a:solidFill>
            <a:schemeClr val="accent1"/>
          </a:solidFill>
          <a:ln/>
        </p:spPr>
      </p:sp>
      <p:sp>
        <p:nvSpPr>
          <p:cNvPr id="12" name="Text 10"/>
          <p:cNvSpPr txBox="1"/>
          <p:nvPr/>
        </p:nvSpPr>
        <p:spPr>
          <a:xfrm>
            <a:off x="9646920" y="2240280"/>
            <a:ext cx="914400" cy="457200"/>
          </a:xfrm>
          <a:prstGeom prst="rect">
            <a:avLst/>
          </a:prstGeom>
          <a:noFill/>
          <a:ln/>
        </p:spPr>
        <p:txBody>
          <a:bodyPr wrap="square" lIns="0" tIns="0" rIns="0" bIns="0" rtlCol="0" anchor="ctr"/>
          <a:lstStyle/>
          <a:p>
            <a:pPr indent="0" marL="0">
              <a:buNone/>
            </a:pPr>
            <a:r>
              <a:rPr lang="en-US" sz="1300" dirty="0">
                <a:solidFill>
                  <a:schemeClr val="tx2"/>
                </a:solidFill>
              </a:rPr>
              <a:t>20 min</a:t>
            </a:r>
            <a:endParaRPr lang="en-US" sz="1300" dirty="0"/>
          </a:p>
        </p:txBody>
      </p:sp>
      <p:sp>
        <p:nvSpPr>
          <p:cNvPr id="13" name="fila 3"/>
          <p:cNvSpPr/>
          <p:nvPr/>
        </p:nvSpPr>
        <p:spPr>
          <a:xfrm>
            <a:off x="548640" y="2743200"/>
            <a:ext cx="11064240" cy="457200"/>
          </a:xfrm>
          <a:prstGeom prst="rect">
            <a:avLst/>
          </a:prstGeom>
          <a:solidFill>
            <a:schemeClr val="bg2"/>
          </a:solidFill>
          <a:ln/>
        </p:spPr>
      </p:sp>
      <p:sp>
        <p:nvSpPr>
          <p:cNvPr id="14" name="Text 12"/>
          <p:cNvSpPr txBox="1"/>
          <p:nvPr/>
        </p:nvSpPr>
        <p:spPr>
          <a:xfrm>
            <a:off x="731520" y="274320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00:35</a:t>
            </a:r>
            <a:endParaRPr lang="en-US" sz="1500" dirty="0"/>
          </a:p>
        </p:txBody>
      </p:sp>
      <p:sp>
        <p:nvSpPr>
          <p:cNvPr id="15" name="Text 13"/>
          <p:cNvSpPr txBox="1"/>
          <p:nvPr/>
        </p:nvSpPr>
        <p:spPr>
          <a:xfrm>
            <a:off x="1737360" y="2743200"/>
            <a:ext cx="5669280" cy="457200"/>
          </a:xfrm>
          <a:prstGeom prst="rect">
            <a:avLst/>
          </a:prstGeom>
          <a:noFill/>
          <a:ln/>
        </p:spPr>
        <p:txBody>
          <a:bodyPr wrap="square" lIns="0" tIns="0" rIns="0" bIns="0" rtlCol="0" anchor="ctr"/>
          <a:lstStyle/>
          <a:p>
            <a:pPr indent="0" marL="0">
              <a:buNone/>
            </a:pPr>
            <a:r>
              <a:rPr lang="en-US" sz="1500" dirty="0">
                <a:solidFill>
                  <a:schemeClr val="tx1"/>
                </a:solidFill>
              </a:rPr>
              <a:t>M2 · Peligros, riesgos y jerarquía de controles</a:t>
            </a:r>
            <a:endParaRPr lang="en-US" sz="1500" dirty="0"/>
          </a:p>
        </p:txBody>
      </p:sp>
      <p:sp>
        <p:nvSpPr>
          <p:cNvPr id="16" name="duracion 3"/>
          <p:cNvSpPr/>
          <p:nvPr/>
        </p:nvSpPr>
        <p:spPr>
          <a:xfrm>
            <a:off x="7680960" y="2880360"/>
            <a:ext cx="2286000" cy="182880"/>
          </a:xfrm>
          <a:prstGeom prst="rect">
            <a:avLst/>
          </a:prstGeom>
          <a:solidFill>
            <a:schemeClr val="accent1"/>
          </a:solidFill>
          <a:ln/>
        </p:spPr>
      </p:sp>
      <p:sp>
        <p:nvSpPr>
          <p:cNvPr id="17" name="Text 15"/>
          <p:cNvSpPr txBox="1"/>
          <p:nvPr/>
        </p:nvSpPr>
        <p:spPr>
          <a:xfrm>
            <a:off x="10104120" y="2743200"/>
            <a:ext cx="914400" cy="457200"/>
          </a:xfrm>
          <a:prstGeom prst="rect">
            <a:avLst/>
          </a:prstGeom>
          <a:noFill/>
          <a:ln/>
        </p:spPr>
        <p:txBody>
          <a:bodyPr wrap="square" lIns="0" tIns="0" rIns="0" bIns="0" rtlCol="0" anchor="ctr"/>
          <a:lstStyle/>
          <a:p>
            <a:pPr indent="0" marL="0">
              <a:buNone/>
            </a:pPr>
            <a:r>
              <a:rPr lang="en-US" sz="1300" dirty="0">
                <a:solidFill>
                  <a:schemeClr val="tx2"/>
                </a:solidFill>
              </a:rPr>
              <a:t>25 min</a:t>
            </a:r>
            <a:endParaRPr lang="en-US" sz="1300" dirty="0"/>
          </a:p>
        </p:txBody>
      </p:sp>
      <p:sp>
        <p:nvSpPr>
          <p:cNvPr id="18" name="Text 16"/>
          <p:cNvSpPr txBox="1"/>
          <p:nvPr/>
        </p:nvSpPr>
        <p:spPr>
          <a:xfrm>
            <a:off x="731520" y="324612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01:00</a:t>
            </a:r>
            <a:endParaRPr lang="en-US" sz="1500" dirty="0"/>
          </a:p>
        </p:txBody>
      </p:sp>
      <p:sp>
        <p:nvSpPr>
          <p:cNvPr id="19" name="Text 17"/>
          <p:cNvSpPr txBox="1"/>
          <p:nvPr/>
        </p:nvSpPr>
        <p:spPr>
          <a:xfrm>
            <a:off x="1737360" y="3246120"/>
            <a:ext cx="5669280" cy="457200"/>
          </a:xfrm>
          <a:prstGeom prst="rect">
            <a:avLst/>
          </a:prstGeom>
          <a:noFill/>
          <a:ln/>
        </p:spPr>
        <p:txBody>
          <a:bodyPr wrap="square" lIns="0" tIns="0" rIns="0" bIns="0" rtlCol="0" anchor="ctr"/>
          <a:lstStyle/>
          <a:p>
            <a:pPr indent="0" marL="0">
              <a:buNone/>
            </a:pPr>
            <a:r>
              <a:rPr lang="en-US" sz="1500" dirty="0">
                <a:solidFill>
                  <a:schemeClr val="tx1"/>
                </a:solidFill>
              </a:rPr>
              <a:t>M3 · Riesgos críticos y controles críticos</a:t>
            </a:r>
            <a:endParaRPr lang="en-US" sz="1500" dirty="0"/>
          </a:p>
        </p:txBody>
      </p:sp>
      <p:sp>
        <p:nvSpPr>
          <p:cNvPr id="20" name="duracion 4"/>
          <p:cNvSpPr/>
          <p:nvPr/>
        </p:nvSpPr>
        <p:spPr>
          <a:xfrm>
            <a:off x="7680960" y="3383280"/>
            <a:ext cx="2743200" cy="182880"/>
          </a:xfrm>
          <a:prstGeom prst="rect">
            <a:avLst/>
          </a:prstGeom>
          <a:solidFill>
            <a:schemeClr val="accent1"/>
          </a:solidFill>
          <a:ln/>
        </p:spPr>
      </p:sp>
      <p:sp>
        <p:nvSpPr>
          <p:cNvPr id="21" name="Text 19"/>
          <p:cNvSpPr txBox="1"/>
          <p:nvPr/>
        </p:nvSpPr>
        <p:spPr>
          <a:xfrm>
            <a:off x="10561320" y="3246120"/>
            <a:ext cx="914400" cy="457200"/>
          </a:xfrm>
          <a:prstGeom prst="rect">
            <a:avLst/>
          </a:prstGeom>
          <a:noFill/>
          <a:ln/>
        </p:spPr>
        <p:txBody>
          <a:bodyPr wrap="square" lIns="0" tIns="0" rIns="0" bIns="0" rtlCol="0" anchor="ctr"/>
          <a:lstStyle/>
          <a:p>
            <a:pPr indent="0" marL="0">
              <a:buNone/>
            </a:pPr>
            <a:r>
              <a:rPr lang="en-US" sz="1300" dirty="0">
                <a:solidFill>
                  <a:schemeClr val="tx2"/>
                </a:solidFill>
              </a:rPr>
              <a:t>30 min</a:t>
            </a:r>
            <a:endParaRPr lang="en-US" sz="1300" dirty="0"/>
          </a:p>
        </p:txBody>
      </p:sp>
      <p:sp>
        <p:nvSpPr>
          <p:cNvPr id="22" name="fila 5"/>
          <p:cNvSpPr/>
          <p:nvPr/>
        </p:nvSpPr>
        <p:spPr>
          <a:xfrm>
            <a:off x="548640" y="3749040"/>
            <a:ext cx="11064240" cy="457200"/>
          </a:xfrm>
          <a:prstGeom prst="rect">
            <a:avLst/>
          </a:prstGeom>
          <a:solidFill>
            <a:schemeClr val="bg2"/>
          </a:solidFill>
          <a:ln/>
        </p:spPr>
      </p:sp>
      <p:sp>
        <p:nvSpPr>
          <p:cNvPr id="23" name="Text 21"/>
          <p:cNvSpPr txBox="1"/>
          <p:nvPr/>
        </p:nvSpPr>
        <p:spPr>
          <a:xfrm>
            <a:off x="731520" y="3749040"/>
            <a:ext cx="914400" cy="457200"/>
          </a:xfrm>
          <a:prstGeom prst="rect">
            <a:avLst/>
          </a:prstGeom>
          <a:noFill/>
          <a:ln/>
        </p:spPr>
        <p:txBody>
          <a:bodyPr wrap="square" lIns="0" tIns="0" rIns="0" bIns="0" rtlCol="0" anchor="ctr"/>
          <a:lstStyle/>
          <a:p>
            <a:pPr indent="0" marL="0">
              <a:buNone/>
            </a:pPr>
            <a:r>
              <a:rPr lang="en-US" sz="1500" b="1" dirty="0">
                <a:solidFill>
                  <a:schemeClr val="tx2"/>
                </a:solidFill>
              </a:rPr>
              <a:t>01:30</a:t>
            </a:r>
            <a:endParaRPr lang="en-US" sz="1500" dirty="0"/>
          </a:p>
        </p:txBody>
      </p:sp>
      <p:sp>
        <p:nvSpPr>
          <p:cNvPr id="24" name="Text 22"/>
          <p:cNvSpPr txBox="1"/>
          <p:nvPr/>
        </p:nvSpPr>
        <p:spPr>
          <a:xfrm>
            <a:off x="1737360" y="3749040"/>
            <a:ext cx="5669280" cy="457200"/>
          </a:xfrm>
          <a:prstGeom prst="rect">
            <a:avLst/>
          </a:prstGeom>
          <a:noFill/>
          <a:ln/>
        </p:spPr>
        <p:txBody>
          <a:bodyPr wrap="square" lIns="0" tIns="0" rIns="0" bIns="0" rtlCol="0" anchor="ctr"/>
          <a:lstStyle/>
          <a:p>
            <a:pPr indent="0" marL="0">
              <a:buNone/>
            </a:pPr>
            <a:r>
              <a:rPr lang="en-US" sz="1500" i="1" dirty="0">
                <a:solidFill>
                  <a:schemeClr val="tx2"/>
                </a:solidFill>
              </a:rPr>
              <a:t>Pausa</a:t>
            </a:r>
            <a:endParaRPr lang="en-US" sz="1500" dirty="0"/>
          </a:p>
        </p:txBody>
      </p:sp>
      <p:sp>
        <p:nvSpPr>
          <p:cNvPr id="25" name="duracion 5"/>
          <p:cNvSpPr/>
          <p:nvPr/>
        </p:nvSpPr>
        <p:spPr>
          <a:xfrm>
            <a:off x="7680960" y="3886200"/>
            <a:ext cx="914400" cy="182880"/>
          </a:xfrm>
          <a:prstGeom prst="rect">
            <a:avLst/>
          </a:prstGeom>
          <a:solidFill>
            <a:schemeClr val="accent5"/>
          </a:solidFill>
          <a:ln/>
        </p:spPr>
      </p:sp>
      <p:sp>
        <p:nvSpPr>
          <p:cNvPr id="26" name="Text 24"/>
          <p:cNvSpPr txBox="1"/>
          <p:nvPr/>
        </p:nvSpPr>
        <p:spPr>
          <a:xfrm>
            <a:off x="8732520" y="3749040"/>
            <a:ext cx="914400" cy="457200"/>
          </a:xfrm>
          <a:prstGeom prst="rect">
            <a:avLst/>
          </a:prstGeom>
          <a:noFill/>
          <a:ln/>
        </p:spPr>
        <p:txBody>
          <a:bodyPr wrap="square" lIns="0" tIns="0" rIns="0" bIns="0" rtlCol="0" anchor="ctr"/>
          <a:lstStyle/>
          <a:p>
            <a:pPr indent="0" marL="0">
              <a:buNone/>
            </a:pPr>
            <a:r>
              <a:rPr lang="en-US" sz="1300" dirty="0">
                <a:solidFill>
                  <a:schemeClr val="tx2"/>
                </a:solidFill>
              </a:rPr>
              <a:t>10 min</a:t>
            </a:r>
            <a:endParaRPr lang="en-US" sz="1300" dirty="0"/>
          </a:p>
        </p:txBody>
      </p:sp>
      <p:sp>
        <p:nvSpPr>
          <p:cNvPr id="27" name="Text 25"/>
          <p:cNvSpPr txBox="1"/>
          <p:nvPr/>
        </p:nvSpPr>
        <p:spPr>
          <a:xfrm>
            <a:off x="731520" y="425196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01:40</a:t>
            </a:r>
            <a:endParaRPr lang="en-US" sz="1500" dirty="0"/>
          </a:p>
        </p:txBody>
      </p:sp>
      <p:sp>
        <p:nvSpPr>
          <p:cNvPr id="28" name="Text 26"/>
          <p:cNvSpPr txBox="1"/>
          <p:nvPr/>
        </p:nvSpPr>
        <p:spPr>
          <a:xfrm>
            <a:off x="1737360" y="4251960"/>
            <a:ext cx="5669280" cy="457200"/>
          </a:xfrm>
          <a:prstGeom prst="rect">
            <a:avLst/>
          </a:prstGeom>
          <a:noFill/>
          <a:ln/>
        </p:spPr>
        <p:txBody>
          <a:bodyPr wrap="square" lIns="0" tIns="0" rIns="0" bIns="0" rtlCol="0" anchor="ctr"/>
          <a:lstStyle/>
          <a:p>
            <a:pPr indent="0" marL="0">
              <a:buNone/>
            </a:pPr>
            <a:r>
              <a:rPr lang="en-US" sz="1500" dirty="0">
                <a:solidFill>
                  <a:schemeClr val="tx1"/>
                </a:solidFill>
              </a:rPr>
              <a:t>M4 · Herramientas en terreno</a:t>
            </a:r>
            <a:endParaRPr lang="en-US" sz="1500" dirty="0"/>
          </a:p>
        </p:txBody>
      </p:sp>
      <p:sp>
        <p:nvSpPr>
          <p:cNvPr id="29" name="duracion 6"/>
          <p:cNvSpPr/>
          <p:nvPr/>
        </p:nvSpPr>
        <p:spPr>
          <a:xfrm>
            <a:off x="7680960" y="4389120"/>
            <a:ext cx="2743200" cy="182880"/>
          </a:xfrm>
          <a:prstGeom prst="rect">
            <a:avLst/>
          </a:prstGeom>
          <a:solidFill>
            <a:schemeClr val="accent1"/>
          </a:solidFill>
          <a:ln/>
        </p:spPr>
      </p:sp>
      <p:sp>
        <p:nvSpPr>
          <p:cNvPr id="30" name="Text 28"/>
          <p:cNvSpPr txBox="1"/>
          <p:nvPr/>
        </p:nvSpPr>
        <p:spPr>
          <a:xfrm>
            <a:off x="10561320" y="4251960"/>
            <a:ext cx="914400" cy="457200"/>
          </a:xfrm>
          <a:prstGeom prst="rect">
            <a:avLst/>
          </a:prstGeom>
          <a:noFill/>
          <a:ln/>
        </p:spPr>
        <p:txBody>
          <a:bodyPr wrap="square" lIns="0" tIns="0" rIns="0" bIns="0" rtlCol="0" anchor="ctr"/>
          <a:lstStyle/>
          <a:p>
            <a:pPr indent="0" marL="0">
              <a:buNone/>
            </a:pPr>
            <a:r>
              <a:rPr lang="en-US" sz="1300" dirty="0">
                <a:solidFill>
                  <a:schemeClr val="tx2"/>
                </a:solidFill>
              </a:rPr>
              <a:t>30 min</a:t>
            </a:r>
            <a:endParaRPr lang="en-US" sz="1300" dirty="0"/>
          </a:p>
        </p:txBody>
      </p:sp>
      <p:sp>
        <p:nvSpPr>
          <p:cNvPr id="31" name="fila 7"/>
          <p:cNvSpPr/>
          <p:nvPr/>
        </p:nvSpPr>
        <p:spPr>
          <a:xfrm>
            <a:off x="548640" y="4754880"/>
            <a:ext cx="11064240" cy="457200"/>
          </a:xfrm>
          <a:prstGeom prst="rect">
            <a:avLst/>
          </a:prstGeom>
          <a:solidFill>
            <a:schemeClr val="bg2"/>
          </a:solidFill>
          <a:ln/>
        </p:spPr>
      </p:sp>
      <p:sp>
        <p:nvSpPr>
          <p:cNvPr id="32" name="Text 30"/>
          <p:cNvSpPr txBox="1"/>
          <p:nvPr/>
        </p:nvSpPr>
        <p:spPr>
          <a:xfrm>
            <a:off x="731520" y="475488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02:10</a:t>
            </a:r>
            <a:endParaRPr lang="en-US" sz="1500" dirty="0"/>
          </a:p>
        </p:txBody>
      </p:sp>
      <p:sp>
        <p:nvSpPr>
          <p:cNvPr id="33" name="Text 31"/>
          <p:cNvSpPr txBox="1"/>
          <p:nvPr/>
        </p:nvSpPr>
        <p:spPr>
          <a:xfrm>
            <a:off x="1737360" y="4754880"/>
            <a:ext cx="5669280" cy="457200"/>
          </a:xfrm>
          <a:prstGeom prst="rect">
            <a:avLst/>
          </a:prstGeom>
          <a:noFill/>
          <a:ln/>
        </p:spPr>
        <p:txBody>
          <a:bodyPr wrap="square" lIns="0" tIns="0" rIns="0" bIns="0" rtlCol="0" anchor="ctr"/>
          <a:lstStyle/>
          <a:p>
            <a:pPr indent="0" marL="0">
              <a:buNone/>
            </a:pPr>
            <a:r>
              <a:rPr lang="en-US" sz="1500" dirty="0">
                <a:solidFill>
                  <a:schemeClr val="tx1"/>
                </a:solidFill>
              </a:rPr>
              <a:t>M5 · Liderazgo y detención del trabajo</a:t>
            </a:r>
            <a:endParaRPr lang="en-US" sz="1500" dirty="0"/>
          </a:p>
        </p:txBody>
      </p:sp>
      <p:sp>
        <p:nvSpPr>
          <p:cNvPr id="34" name="duracion 7"/>
          <p:cNvSpPr/>
          <p:nvPr/>
        </p:nvSpPr>
        <p:spPr>
          <a:xfrm>
            <a:off x="7680960" y="4892040"/>
            <a:ext cx="1828800" cy="182880"/>
          </a:xfrm>
          <a:prstGeom prst="rect">
            <a:avLst/>
          </a:prstGeom>
          <a:solidFill>
            <a:schemeClr val="accent1"/>
          </a:solidFill>
          <a:ln/>
        </p:spPr>
      </p:sp>
      <p:sp>
        <p:nvSpPr>
          <p:cNvPr id="35" name="Text 33"/>
          <p:cNvSpPr txBox="1"/>
          <p:nvPr/>
        </p:nvSpPr>
        <p:spPr>
          <a:xfrm>
            <a:off x="9646920" y="4754880"/>
            <a:ext cx="914400" cy="457200"/>
          </a:xfrm>
          <a:prstGeom prst="rect">
            <a:avLst/>
          </a:prstGeom>
          <a:noFill/>
          <a:ln/>
        </p:spPr>
        <p:txBody>
          <a:bodyPr wrap="square" lIns="0" tIns="0" rIns="0" bIns="0" rtlCol="0" anchor="ctr"/>
          <a:lstStyle/>
          <a:p>
            <a:pPr indent="0" marL="0">
              <a:buNone/>
            </a:pPr>
            <a:r>
              <a:rPr lang="en-US" sz="1300" dirty="0">
                <a:solidFill>
                  <a:schemeClr val="tx2"/>
                </a:solidFill>
              </a:rPr>
              <a:t>20 min</a:t>
            </a:r>
            <a:endParaRPr lang="en-US" sz="1300" dirty="0"/>
          </a:p>
        </p:txBody>
      </p:sp>
      <p:sp>
        <p:nvSpPr>
          <p:cNvPr id="36" name="Text 34"/>
          <p:cNvSpPr txBox="1"/>
          <p:nvPr/>
        </p:nvSpPr>
        <p:spPr>
          <a:xfrm>
            <a:off x="731520" y="525780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02:30</a:t>
            </a:r>
            <a:endParaRPr lang="en-US" sz="1500" dirty="0"/>
          </a:p>
        </p:txBody>
      </p:sp>
      <p:sp>
        <p:nvSpPr>
          <p:cNvPr id="37" name="Text 35"/>
          <p:cNvSpPr txBox="1"/>
          <p:nvPr/>
        </p:nvSpPr>
        <p:spPr>
          <a:xfrm>
            <a:off x="1737360" y="5257800"/>
            <a:ext cx="5669280" cy="457200"/>
          </a:xfrm>
          <a:prstGeom prst="rect">
            <a:avLst/>
          </a:prstGeom>
          <a:noFill/>
          <a:ln/>
        </p:spPr>
        <p:txBody>
          <a:bodyPr wrap="square" lIns="0" tIns="0" rIns="0" bIns="0" rtlCol="0" anchor="ctr"/>
          <a:lstStyle/>
          <a:p>
            <a:pPr indent="0" marL="0">
              <a:buNone/>
            </a:pPr>
            <a:r>
              <a:rPr lang="en-US" sz="1500" dirty="0">
                <a:solidFill>
                  <a:schemeClr val="tx1"/>
                </a:solidFill>
              </a:rPr>
              <a:t>M6 · Qué hacer ante un incidente</a:t>
            </a:r>
            <a:endParaRPr lang="en-US" sz="1500" dirty="0"/>
          </a:p>
        </p:txBody>
      </p:sp>
      <p:sp>
        <p:nvSpPr>
          <p:cNvPr id="38" name="duracion 8"/>
          <p:cNvSpPr/>
          <p:nvPr/>
        </p:nvSpPr>
        <p:spPr>
          <a:xfrm>
            <a:off x="7680960" y="5394960"/>
            <a:ext cx="1371600" cy="182880"/>
          </a:xfrm>
          <a:prstGeom prst="rect">
            <a:avLst/>
          </a:prstGeom>
          <a:solidFill>
            <a:schemeClr val="accent1"/>
          </a:solidFill>
          <a:ln/>
        </p:spPr>
      </p:sp>
      <p:sp>
        <p:nvSpPr>
          <p:cNvPr id="39" name="Text 37"/>
          <p:cNvSpPr txBox="1"/>
          <p:nvPr/>
        </p:nvSpPr>
        <p:spPr>
          <a:xfrm>
            <a:off x="9189720" y="5257800"/>
            <a:ext cx="914400" cy="457200"/>
          </a:xfrm>
          <a:prstGeom prst="rect">
            <a:avLst/>
          </a:prstGeom>
          <a:noFill/>
          <a:ln/>
        </p:spPr>
        <p:txBody>
          <a:bodyPr wrap="square" lIns="0" tIns="0" rIns="0" bIns="0" rtlCol="0" anchor="ctr"/>
          <a:lstStyle/>
          <a:p>
            <a:pPr indent="0" marL="0">
              <a:buNone/>
            </a:pPr>
            <a:r>
              <a:rPr lang="en-US" sz="1300" dirty="0">
                <a:solidFill>
                  <a:schemeClr val="tx2"/>
                </a:solidFill>
              </a:rPr>
              <a:t>15 min</a:t>
            </a:r>
            <a:endParaRPr lang="en-US" sz="1300" dirty="0"/>
          </a:p>
        </p:txBody>
      </p:sp>
      <p:sp>
        <p:nvSpPr>
          <p:cNvPr id="40" name="fila 9"/>
          <p:cNvSpPr/>
          <p:nvPr/>
        </p:nvSpPr>
        <p:spPr>
          <a:xfrm>
            <a:off x="548640" y="5760720"/>
            <a:ext cx="11064240" cy="457200"/>
          </a:xfrm>
          <a:prstGeom prst="rect">
            <a:avLst/>
          </a:prstGeom>
          <a:solidFill>
            <a:schemeClr val="bg2"/>
          </a:solidFill>
          <a:ln/>
        </p:spPr>
      </p:sp>
      <p:sp>
        <p:nvSpPr>
          <p:cNvPr id="41" name="Text 39"/>
          <p:cNvSpPr txBox="1"/>
          <p:nvPr/>
        </p:nvSpPr>
        <p:spPr>
          <a:xfrm>
            <a:off x="731520" y="576072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02:45</a:t>
            </a:r>
            <a:endParaRPr lang="en-US" sz="1500" dirty="0"/>
          </a:p>
        </p:txBody>
      </p:sp>
      <p:sp>
        <p:nvSpPr>
          <p:cNvPr id="42" name="Text 40"/>
          <p:cNvSpPr txBox="1"/>
          <p:nvPr/>
        </p:nvSpPr>
        <p:spPr>
          <a:xfrm>
            <a:off x="1737360" y="5760720"/>
            <a:ext cx="5669280" cy="457200"/>
          </a:xfrm>
          <a:prstGeom prst="rect">
            <a:avLst/>
          </a:prstGeom>
          <a:noFill/>
          <a:ln/>
        </p:spPr>
        <p:txBody>
          <a:bodyPr wrap="square" lIns="0" tIns="0" rIns="0" bIns="0" rtlCol="0" anchor="ctr"/>
          <a:lstStyle/>
          <a:p>
            <a:pPr indent="0" marL="0">
              <a:buNone/>
            </a:pPr>
            <a:r>
              <a:rPr lang="en-US" sz="1500" dirty="0">
                <a:solidFill>
                  <a:schemeClr val="tx1"/>
                </a:solidFill>
              </a:rPr>
              <a:t>Evaluación, compromisos y cierre</a:t>
            </a:r>
            <a:endParaRPr lang="en-US" sz="1500" dirty="0"/>
          </a:p>
        </p:txBody>
      </p:sp>
      <p:sp>
        <p:nvSpPr>
          <p:cNvPr id="43" name="duracion 9"/>
          <p:cNvSpPr/>
          <p:nvPr/>
        </p:nvSpPr>
        <p:spPr>
          <a:xfrm>
            <a:off x="7680960" y="5897880"/>
            <a:ext cx="1371600" cy="182880"/>
          </a:xfrm>
          <a:prstGeom prst="rect">
            <a:avLst/>
          </a:prstGeom>
          <a:solidFill>
            <a:schemeClr val="accent1"/>
          </a:solidFill>
          <a:ln/>
        </p:spPr>
      </p:sp>
      <p:sp>
        <p:nvSpPr>
          <p:cNvPr id="44" name="Text 42"/>
          <p:cNvSpPr txBox="1"/>
          <p:nvPr/>
        </p:nvSpPr>
        <p:spPr>
          <a:xfrm>
            <a:off x="9189720" y="5760720"/>
            <a:ext cx="914400" cy="457200"/>
          </a:xfrm>
          <a:prstGeom prst="rect">
            <a:avLst/>
          </a:prstGeom>
          <a:noFill/>
          <a:ln/>
        </p:spPr>
        <p:txBody>
          <a:bodyPr wrap="square" lIns="0" tIns="0" rIns="0" bIns="0" rtlCol="0" anchor="ctr"/>
          <a:lstStyle/>
          <a:p>
            <a:pPr indent="0" marL="0">
              <a:buNone/>
            </a:pPr>
            <a:r>
              <a:rPr lang="en-US" sz="1300" dirty="0">
                <a:solidFill>
                  <a:schemeClr val="tx2"/>
                </a:solidFill>
              </a:rPr>
              <a:t>15 min</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1 · ROL Y RESPONSABILIDADES · 20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Lo que se espera del capataz, todos los días</a:t>
            </a:r>
            <a:endParaRPr lang="en-US" sz="3400" dirty="0"/>
          </a:p>
        </p:txBody>
      </p:sp>
      <p:sp>
        <p:nvSpPr>
          <p:cNvPr id="4" name="icono FaUserCheck"/>
          <p:cNvSpPr/>
          <p:nvPr/>
        </p:nvSpPr>
        <p:spPr>
          <a:xfrm>
            <a:off x="548640" y="1783080"/>
            <a:ext cx="640080" cy="640080"/>
          </a:xfrm>
          <a:prstGeom prst="ellipse">
            <a:avLst/>
          </a:prstGeom>
          <a:solidFill>
            <a:schemeClr val="accent1"/>
          </a:solidFill>
          <a:ln/>
        </p:spPr>
      </p:sp>
      <p:pic>
        <p:nvPicPr>
          <p:cNvPr id="5" name="Image 0" descr="FaUserCheck">    </p:cNvPr>
          <p:cNvPicPr>
            <a:picLocks noChangeAspect="1"/>
          </p:cNvPicPr>
          <p:nvPr/>
        </p:nvPicPr>
        <p:blipFill>
          <a:blip r:embed="rId1"/>
          <a:stretch>
            <a:fillRect/>
          </a:stretch>
        </p:blipFill>
        <p:spPr>
          <a:xfrm>
            <a:off x="702259" y="1936699"/>
            <a:ext cx="332842" cy="332842"/>
          </a:xfrm>
          <a:prstGeom prst="rect">
            <a:avLst/>
          </a:prstGeom>
        </p:spPr>
      </p:pic>
      <p:sp>
        <p:nvSpPr>
          <p:cNvPr id="6" name="Text 3"/>
          <p:cNvSpPr txBox="1"/>
          <p:nvPr/>
        </p:nvSpPr>
        <p:spPr>
          <a:xfrm>
            <a:off x="1417320" y="1783080"/>
            <a:ext cx="4526280" cy="640080"/>
          </a:xfrm>
          <a:prstGeom prst="rect">
            <a:avLst/>
          </a:prstGeom>
          <a:noFill/>
          <a:ln/>
        </p:spPr>
        <p:txBody>
          <a:bodyPr wrap="square" lIns="0" tIns="0" rIns="0" bIns="0" rtlCol="0" anchor="ctr"/>
          <a:lstStyle/>
          <a:p>
            <a:pPr indent="0" marL="0">
              <a:buNone/>
            </a:pPr>
            <a:r>
              <a:rPr lang="en-US" sz="1600" dirty="0">
                <a:solidFill>
                  <a:schemeClr val="tx1"/>
                </a:solidFill>
              </a:rPr>
              <a:t>Planificar la tarea y asignar solo personal capacitado y autorizado</a:t>
            </a:r>
            <a:endParaRPr lang="en-US" sz="1600" dirty="0"/>
          </a:p>
        </p:txBody>
      </p:sp>
      <p:sp>
        <p:nvSpPr>
          <p:cNvPr id="7" name="icono FaComments"/>
          <p:cNvSpPr/>
          <p:nvPr/>
        </p:nvSpPr>
        <p:spPr>
          <a:xfrm>
            <a:off x="6217920" y="1783080"/>
            <a:ext cx="640080" cy="640080"/>
          </a:xfrm>
          <a:prstGeom prst="ellipse">
            <a:avLst/>
          </a:prstGeom>
          <a:solidFill>
            <a:schemeClr val="accent1"/>
          </a:solidFill>
          <a:ln/>
        </p:spPr>
      </p:sp>
      <p:pic>
        <p:nvPicPr>
          <p:cNvPr id="8" name="Image 1" descr="FaComments">    </p:cNvPr>
          <p:cNvPicPr>
            <a:picLocks noChangeAspect="1"/>
          </p:cNvPicPr>
          <p:nvPr/>
        </p:nvPicPr>
        <p:blipFill>
          <a:blip r:embed="rId2"/>
          <a:stretch>
            <a:fillRect/>
          </a:stretch>
        </p:blipFill>
        <p:spPr>
          <a:xfrm>
            <a:off x="6371539" y="1936699"/>
            <a:ext cx="332842" cy="332842"/>
          </a:xfrm>
          <a:prstGeom prst="rect">
            <a:avLst/>
          </a:prstGeom>
        </p:spPr>
      </p:pic>
      <p:sp>
        <p:nvSpPr>
          <p:cNvPr id="9" name="Text 5"/>
          <p:cNvSpPr txBox="1"/>
          <p:nvPr/>
        </p:nvSpPr>
        <p:spPr>
          <a:xfrm>
            <a:off x="7086600" y="1783080"/>
            <a:ext cx="4526280" cy="640080"/>
          </a:xfrm>
          <a:prstGeom prst="rect">
            <a:avLst/>
          </a:prstGeom>
          <a:noFill/>
          <a:ln/>
        </p:spPr>
        <p:txBody>
          <a:bodyPr wrap="square" lIns="0" tIns="0" rIns="0" bIns="0" rtlCol="0" anchor="ctr"/>
          <a:lstStyle/>
          <a:p>
            <a:pPr indent="0" marL="0">
              <a:buNone/>
            </a:pPr>
            <a:r>
              <a:rPr lang="en-US" sz="1600" dirty="0">
                <a:solidFill>
                  <a:schemeClr val="tx1"/>
                </a:solidFill>
              </a:rPr>
              <a:t>Dirigir la charla diaria y el ART antes de iniciar</a:t>
            </a:r>
            <a:endParaRPr lang="en-US" sz="1600" dirty="0"/>
          </a:p>
        </p:txBody>
      </p:sp>
      <p:sp>
        <p:nvSpPr>
          <p:cNvPr id="10" name="icono FaTools"/>
          <p:cNvSpPr/>
          <p:nvPr/>
        </p:nvSpPr>
        <p:spPr>
          <a:xfrm>
            <a:off x="548640" y="2697480"/>
            <a:ext cx="640080" cy="640080"/>
          </a:xfrm>
          <a:prstGeom prst="ellipse">
            <a:avLst/>
          </a:prstGeom>
          <a:solidFill>
            <a:schemeClr val="accent1"/>
          </a:solidFill>
          <a:ln/>
        </p:spPr>
      </p:sp>
      <p:pic>
        <p:nvPicPr>
          <p:cNvPr id="11" name="Image 2" descr="FaTools">    </p:cNvPr>
          <p:cNvPicPr>
            <a:picLocks noChangeAspect="1"/>
          </p:cNvPicPr>
          <p:nvPr/>
        </p:nvPicPr>
        <p:blipFill>
          <a:blip r:embed="rId3"/>
          <a:stretch>
            <a:fillRect/>
          </a:stretch>
        </p:blipFill>
        <p:spPr>
          <a:xfrm>
            <a:off x="702259" y="2851099"/>
            <a:ext cx="332842" cy="332842"/>
          </a:xfrm>
          <a:prstGeom prst="rect">
            <a:avLst/>
          </a:prstGeom>
        </p:spPr>
      </p:pic>
      <p:sp>
        <p:nvSpPr>
          <p:cNvPr id="12" name="Text 7"/>
          <p:cNvSpPr txBox="1"/>
          <p:nvPr/>
        </p:nvSpPr>
        <p:spPr>
          <a:xfrm>
            <a:off x="1417320" y="2697480"/>
            <a:ext cx="4526280" cy="640080"/>
          </a:xfrm>
          <a:prstGeom prst="rect">
            <a:avLst/>
          </a:prstGeom>
          <a:noFill/>
          <a:ln/>
        </p:spPr>
        <p:txBody>
          <a:bodyPr wrap="square" lIns="0" tIns="0" rIns="0" bIns="0" rtlCol="0" anchor="ctr"/>
          <a:lstStyle/>
          <a:p>
            <a:pPr indent="0" marL="0">
              <a:buNone/>
            </a:pPr>
            <a:r>
              <a:rPr lang="en-US" sz="1600" dirty="0">
                <a:solidFill>
                  <a:schemeClr val="tx1"/>
                </a:solidFill>
              </a:rPr>
              <a:t>Verificar herramientas, equipos y EPP con la lista pre-uso</a:t>
            </a:r>
            <a:endParaRPr lang="en-US" sz="1600" dirty="0"/>
          </a:p>
        </p:txBody>
      </p:sp>
      <p:sp>
        <p:nvSpPr>
          <p:cNvPr id="13" name="icono FaHardHat"/>
          <p:cNvSpPr/>
          <p:nvPr/>
        </p:nvSpPr>
        <p:spPr>
          <a:xfrm>
            <a:off x="6217920" y="2697480"/>
            <a:ext cx="640080" cy="640080"/>
          </a:xfrm>
          <a:prstGeom prst="ellipse">
            <a:avLst/>
          </a:prstGeom>
          <a:solidFill>
            <a:schemeClr val="accent1"/>
          </a:solidFill>
          <a:ln/>
        </p:spPr>
      </p:sp>
      <p:pic>
        <p:nvPicPr>
          <p:cNvPr id="14" name="Image 3" descr="FaHardHat">    </p:cNvPr>
          <p:cNvPicPr>
            <a:picLocks noChangeAspect="1"/>
          </p:cNvPicPr>
          <p:nvPr/>
        </p:nvPicPr>
        <p:blipFill>
          <a:blip r:embed="rId4"/>
          <a:stretch>
            <a:fillRect/>
          </a:stretch>
        </p:blipFill>
        <p:spPr>
          <a:xfrm>
            <a:off x="6371539" y="2851099"/>
            <a:ext cx="332842" cy="332842"/>
          </a:xfrm>
          <a:prstGeom prst="rect">
            <a:avLst/>
          </a:prstGeom>
        </p:spPr>
      </p:pic>
      <p:sp>
        <p:nvSpPr>
          <p:cNvPr id="15" name="Text 9"/>
          <p:cNvSpPr txBox="1"/>
          <p:nvPr/>
        </p:nvSpPr>
        <p:spPr>
          <a:xfrm>
            <a:off x="7086600" y="2697480"/>
            <a:ext cx="4526280" cy="640080"/>
          </a:xfrm>
          <a:prstGeom prst="rect">
            <a:avLst/>
          </a:prstGeom>
          <a:noFill/>
          <a:ln/>
        </p:spPr>
        <p:txBody>
          <a:bodyPr wrap="square" lIns="0" tIns="0" rIns="0" bIns="0" rtlCol="0" anchor="ctr"/>
          <a:lstStyle/>
          <a:p>
            <a:pPr indent="0" marL="0">
              <a:buNone/>
            </a:pPr>
            <a:r>
              <a:rPr lang="en-US" sz="1600" dirty="0">
                <a:solidFill>
                  <a:schemeClr val="tx1"/>
                </a:solidFill>
              </a:rPr>
              <a:t>Estar presente en terreno y corregir en el momento</a:t>
            </a:r>
            <a:endParaRPr lang="en-US" sz="1600" dirty="0"/>
          </a:p>
        </p:txBody>
      </p:sp>
      <p:sp>
        <p:nvSpPr>
          <p:cNvPr id="16" name="icono FaHandPaper"/>
          <p:cNvSpPr/>
          <p:nvPr/>
        </p:nvSpPr>
        <p:spPr>
          <a:xfrm>
            <a:off x="548640" y="3611880"/>
            <a:ext cx="640080" cy="640080"/>
          </a:xfrm>
          <a:prstGeom prst="ellipse">
            <a:avLst/>
          </a:prstGeom>
          <a:solidFill>
            <a:schemeClr val="accent1"/>
          </a:solidFill>
          <a:ln/>
        </p:spPr>
      </p:sp>
      <p:pic>
        <p:nvPicPr>
          <p:cNvPr id="17" name="Image 4" descr="FaHandPaper">    </p:cNvPr>
          <p:cNvPicPr>
            <a:picLocks noChangeAspect="1"/>
          </p:cNvPicPr>
          <p:nvPr/>
        </p:nvPicPr>
        <p:blipFill>
          <a:blip r:embed="rId5"/>
          <a:stretch>
            <a:fillRect/>
          </a:stretch>
        </p:blipFill>
        <p:spPr>
          <a:xfrm>
            <a:off x="702259" y="3765499"/>
            <a:ext cx="332842" cy="332842"/>
          </a:xfrm>
          <a:prstGeom prst="rect">
            <a:avLst/>
          </a:prstGeom>
        </p:spPr>
      </p:pic>
      <p:sp>
        <p:nvSpPr>
          <p:cNvPr id="18" name="Text 11"/>
          <p:cNvSpPr txBox="1"/>
          <p:nvPr/>
        </p:nvSpPr>
        <p:spPr>
          <a:xfrm>
            <a:off x="1417320" y="3611880"/>
            <a:ext cx="4526280" cy="640080"/>
          </a:xfrm>
          <a:prstGeom prst="rect">
            <a:avLst/>
          </a:prstGeom>
          <a:noFill/>
          <a:ln/>
        </p:spPr>
        <p:txBody>
          <a:bodyPr wrap="square" lIns="0" tIns="0" rIns="0" bIns="0" rtlCol="0" anchor="ctr"/>
          <a:lstStyle/>
          <a:p>
            <a:pPr indent="0" marL="0">
              <a:buNone/>
            </a:pPr>
            <a:r>
              <a:rPr lang="en-US" sz="1600" dirty="0">
                <a:solidFill>
                  <a:schemeClr val="tx1"/>
                </a:solidFill>
              </a:rPr>
              <a:t>Detener el trabajo si cambian las condiciones o falta un control</a:t>
            </a:r>
            <a:endParaRPr lang="en-US" sz="1600" dirty="0"/>
          </a:p>
        </p:txBody>
      </p:sp>
      <p:sp>
        <p:nvSpPr>
          <p:cNvPr id="19" name="icono FaBullhorn"/>
          <p:cNvSpPr/>
          <p:nvPr/>
        </p:nvSpPr>
        <p:spPr>
          <a:xfrm>
            <a:off x="6217920" y="3611880"/>
            <a:ext cx="640080" cy="640080"/>
          </a:xfrm>
          <a:prstGeom prst="ellipse">
            <a:avLst/>
          </a:prstGeom>
          <a:solidFill>
            <a:schemeClr val="accent1"/>
          </a:solidFill>
          <a:ln/>
        </p:spPr>
      </p:sp>
      <p:pic>
        <p:nvPicPr>
          <p:cNvPr id="20" name="Image 5" descr="FaBullhorn">    </p:cNvPr>
          <p:cNvPicPr>
            <a:picLocks noChangeAspect="1"/>
          </p:cNvPicPr>
          <p:nvPr/>
        </p:nvPicPr>
        <p:blipFill>
          <a:blip r:embed="rId6"/>
          <a:stretch>
            <a:fillRect/>
          </a:stretch>
        </p:blipFill>
        <p:spPr>
          <a:xfrm>
            <a:off x="6371539" y="3765499"/>
            <a:ext cx="332842" cy="332842"/>
          </a:xfrm>
          <a:prstGeom prst="rect">
            <a:avLst/>
          </a:prstGeom>
        </p:spPr>
      </p:pic>
      <p:sp>
        <p:nvSpPr>
          <p:cNvPr id="21" name="Text 13"/>
          <p:cNvSpPr txBox="1"/>
          <p:nvPr/>
        </p:nvSpPr>
        <p:spPr>
          <a:xfrm>
            <a:off x="7086600" y="3611880"/>
            <a:ext cx="4526280" cy="640080"/>
          </a:xfrm>
          <a:prstGeom prst="rect">
            <a:avLst/>
          </a:prstGeom>
          <a:noFill/>
          <a:ln/>
        </p:spPr>
        <p:txBody>
          <a:bodyPr wrap="square" lIns="0" tIns="0" rIns="0" bIns="0" rtlCol="0" anchor="ctr"/>
          <a:lstStyle/>
          <a:p>
            <a:pPr indent="0" marL="0">
              <a:buNone/>
            </a:pPr>
            <a:r>
              <a:rPr lang="en-US" sz="1600" dirty="0">
                <a:solidFill>
                  <a:schemeClr val="tx1"/>
                </a:solidFill>
              </a:rPr>
              <a:t>Reportar todo incidente, incluso sin lesionados</a:t>
            </a:r>
            <a:endParaRPr lang="en-US" sz="1600" dirty="0"/>
          </a:p>
        </p:txBody>
      </p:sp>
      <p:sp>
        <p:nvSpPr>
          <p:cNvPr id="22" name="recuadro actividad"/>
          <p:cNvSpPr/>
          <p:nvPr/>
        </p:nvSpPr>
        <p:spPr>
          <a:xfrm>
            <a:off x="548640" y="4800600"/>
            <a:ext cx="11064240" cy="1234440"/>
          </a:xfrm>
          <a:prstGeom prst="roundRect">
            <a:avLst>
              <a:gd name="adj" fmla="val 8889"/>
            </a:avLst>
          </a:prstGeom>
          <a:solidFill>
            <a:schemeClr val="accent6"/>
          </a:solidFill>
          <a:ln/>
        </p:spPr>
      </p:sp>
      <p:sp>
        <p:nvSpPr>
          <p:cNvPr id="23" name="icono FaQuestionCircle"/>
          <p:cNvSpPr/>
          <p:nvPr/>
        </p:nvSpPr>
        <p:spPr>
          <a:xfrm>
            <a:off x="777240" y="5120640"/>
            <a:ext cx="594360" cy="594360"/>
          </a:xfrm>
          <a:prstGeom prst="ellipse">
            <a:avLst/>
          </a:prstGeom>
          <a:solidFill>
            <a:schemeClr val="accent1"/>
          </a:solidFill>
          <a:ln/>
        </p:spPr>
      </p:sp>
      <p:pic>
        <p:nvPicPr>
          <p:cNvPr id="24" name="Image 6" descr="FaQuestionCircle">    </p:cNvPr>
          <p:cNvPicPr>
            <a:picLocks noChangeAspect="1"/>
          </p:cNvPicPr>
          <p:nvPr/>
        </p:nvPicPr>
        <p:blipFill>
          <a:blip r:embed="rId7"/>
          <a:stretch>
            <a:fillRect/>
          </a:stretch>
        </p:blipFill>
        <p:spPr>
          <a:xfrm>
            <a:off x="919886" y="5263286"/>
            <a:ext cx="309067" cy="309067"/>
          </a:xfrm>
          <a:prstGeom prst="rect">
            <a:avLst/>
          </a:prstGeom>
        </p:spPr>
      </p:pic>
      <p:sp>
        <p:nvSpPr>
          <p:cNvPr id="25" name="Text 16"/>
          <p:cNvSpPr txBox="1"/>
          <p:nvPr/>
        </p:nvSpPr>
        <p:spPr>
          <a:xfrm>
            <a:off x="1600200" y="4965192"/>
            <a:ext cx="9784080" cy="960120"/>
          </a:xfrm>
          <a:prstGeom prst="rect">
            <a:avLst/>
          </a:prstGeom>
          <a:noFill/>
          <a:ln/>
        </p:spPr>
        <p:txBody>
          <a:bodyPr wrap="square" lIns="0" tIns="0" rIns="0" bIns="0" rtlCol="0" anchor="ctr"/>
          <a:lstStyle/>
          <a:p>
            <a:pPr indent="0" marL="0">
              <a:buNone/>
            </a:pPr>
            <a:r>
              <a:rPr lang="en-US" sz="1500" b="1" dirty="0">
                <a:solidFill>
                  <a:schemeClr val="tx1"/>
                </a:solidFill>
              </a:rPr>
              <a:t>Pregunta al grupo</a:t>
            </a:r>
            <a:endParaRPr lang="en-US" sz="1500" dirty="0"/>
          </a:p>
          <a:p>
            <a:pPr indent="0" marL="0">
              <a:buNone/>
            </a:pPr>
            <a:r>
              <a:rPr lang="en-US" sz="1400" dirty="0">
                <a:solidFill>
                  <a:schemeClr val="tx1"/>
                </a:solidFill>
              </a:rPr>
              <a:t>Si un trabajador de su cuadrilla se accidenta haciendo una tarea que usted le asignó, sin el EPP adecuado, ¿quién responde?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1 · MARCO LEGAL (CHILE)</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Las normas que respaldan su rol</a:t>
            </a:r>
            <a:endParaRPr lang="en-US" sz="3400" dirty="0"/>
          </a:p>
        </p:txBody>
      </p:sp>
      <p:sp>
        <p:nvSpPr>
          <p:cNvPr id="4" name="norma 1"/>
          <p:cNvSpPr/>
          <p:nvPr/>
        </p:nvSpPr>
        <p:spPr>
          <a:xfrm>
            <a:off x="548640" y="1783080"/>
            <a:ext cx="2560320" cy="3429000"/>
          </a:xfrm>
          <a:prstGeom prst="roundRect">
            <a:avLst>
              <a:gd name="adj" fmla="val 4286"/>
            </a:avLst>
          </a:prstGeom>
          <a:solidFill>
            <a:schemeClr val="bg2"/>
          </a:solidFill>
          <a:ln/>
        </p:spPr>
      </p:sp>
      <p:sp>
        <p:nvSpPr>
          <p:cNvPr id="5" name="icono FaGavel"/>
          <p:cNvSpPr/>
          <p:nvPr/>
        </p:nvSpPr>
        <p:spPr>
          <a:xfrm>
            <a:off x="822960" y="2057400"/>
            <a:ext cx="548640" cy="548640"/>
          </a:xfrm>
          <a:prstGeom prst="ellipse">
            <a:avLst/>
          </a:prstGeom>
          <a:solidFill>
            <a:schemeClr val="accent1"/>
          </a:solidFill>
          <a:ln/>
        </p:spPr>
      </p:sp>
      <p:pic>
        <p:nvPicPr>
          <p:cNvPr id="6" name="Image 0" descr="FaGavel">    </p:cNvPr>
          <p:cNvPicPr>
            <a:picLocks noChangeAspect="1"/>
          </p:cNvPicPr>
          <p:nvPr/>
        </p:nvPicPr>
        <p:blipFill>
          <a:blip r:embed="rId1"/>
          <a:stretch>
            <a:fillRect/>
          </a:stretch>
        </p:blipFill>
        <p:spPr>
          <a:xfrm>
            <a:off x="954634" y="2189074"/>
            <a:ext cx="285293" cy="285293"/>
          </a:xfrm>
          <a:prstGeom prst="rect">
            <a:avLst/>
          </a:prstGeom>
        </p:spPr>
      </p:pic>
      <p:sp>
        <p:nvSpPr>
          <p:cNvPr id="7" name="Text 4"/>
          <p:cNvSpPr txBox="1"/>
          <p:nvPr/>
        </p:nvSpPr>
        <p:spPr>
          <a:xfrm>
            <a:off x="822960" y="2788920"/>
            <a:ext cx="2011680" cy="457200"/>
          </a:xfrm>
          <a:prstGeom prst="rect">
            <a:avLst/>
          </a:prstGeom>
          <a:noFill/>
          <a:ln/>
        </p:spPr>
        <p:txBody>
          <a:bodyPr wrap="square" lIns="0" tIns="0" rIns="0" bIns="0" rtlCol="0" anchor="t"/>
          <a:lstStyle/>
          <a:p>
            <a:pPr indent="0" marL="0">
              <a:buNone/>
            </a:pPr>
            <a:r>
              <a:rPr lang="en-US" sz="2400" b="1" dirty="0">
                <a:solidFill>
                  <a:schemeClr val="tx1"/>
                </a:solidFill>
              </a:rPr>
              <a:t>Art. 184</a:t>
            </a:r>
            <a:endParaRPr lang="en-US" sz="2400" dirty="0"/>
          </a:p>
        </p:txBody>
      </p:sp>
      <p:sp>
        <p:nvSpPr>
          <p:cNvPr id="8" name="Text 5"/>
          <p:cNvSpPr txBox="1"/>
          <p:nvPr/>
        </p:nvSpPr>
        <p:spPr>
          <a:xfrm>
            <a:off x="822960" y="3246120"/>
            <a:ext cx="2011680" cy="320040"/>
          </a:xfrm>
          <a:prstGeom prst="rect">
            <a:avLst/>
          </a:prstGeom>
          <a:noFill/>
          <a:ln/>
        </p:spPr>
        <p:txBody>
          <a:bodyPr wrap="square" lIns="0" tIns="0" rIns="0" bIns="0" rtlCol="0" anchor="t"/>
          <a:lstStyle/>
          <a:p>
            <a:pPr indent="0" marL="0">
              <a:buNone/>
            </a:pPr>
            <a:r>
              <a:rPr lang="en-US" sz="1300" b="1" dirty="0">
                <a:solidFill>
                  <a:schemeClr val="tx2"/>
                </a:solidFill>
              </a:rPr>
              <a:t>Código del Trabajo</a:t>
            </a:r>
            <a:endParaRPr lang="en-US" sz="1300" dirty="0"/>
          </a:p>
        </p:txBody>
      </p:sp>
      <p:sp>
        <p:nvSpPr>
          <p:cNvPr id="9" name="Text 6"/>
          <p:cNvSpPr txBox="1"/>
          <p:nvPr/>
        </p:nvSpPr>
        <p:spPr>
          <a:xfrm>
            <a:off x="822960" y="3657600"/>
            <a:ext cx="2011680" cy="1463040"/>
          </a:xfrm>
          <a:prstGeom prst="rect">
            <a:avLst/>
          </a:prstGeom>
          <a:noFill/>
          <a:ln/>
        </p:spPr>
        <p:txBody>
          <a:bodyPr wrap="square" lIns="0" tIns="0" rIns="0" bIns="0" rtlCol="0" anchor="t"/>
          <a:lstStyle/>
          <a:p>
            <a:pPr indent="0" marL="0">
              <a:buNone/>
            </a:pPr>
            <a:r>
              <a:rPr lang="en-US" sz="1400" dirty="0">
                <a:solidFill>
                  <a:schemeClr val="tx1"/>
                </a:solidFill>
              </a:rPr>
              <a:t>El empleador debe tomar todas las medidas necesarias para proteger eficazmente la vida y salud de los trabajadores.</a:t>
            </a:r>
            <a:endParaRPr lang="en-US" sz="1400" dirty="0"/>
          </a:p>
        </p:txBody>
      </p:sp>
      <p:sp>
        <p:nvSpPr>
          <p:cNvPr id="10" name="norma 2"/>
          <p:cNvSpPr/>
          <p:nvPr/>
        </p:nvSpPr>
        <p:spPr>
          <a:xfrm>
            <a:off x="3383280" y="1783080"/>
            <a:ext cx="2560320" cy="3429000"/>
          </a:xfrm>
          <a:prstGeom prst="roundRect">
            <a:avLst>
              <a:gd name="adj" fmla="val 4286"/>
            </a:avLst>
          </a:prstGeom>
          <a:solidFill>
            <a:schemeClr val="bg2"/>
          </a:solidFill>
          <a:ln/>
        </p:spPr>
      </p:sp>
      <p:sp>
        <p:nvSpPr>
          <p:cNvPr id="11" name="icono FaGavel"/>
          <p:cNvSpPr/>
          <p:nvPr/>
        </p:nvSpPr>
        <p:spPr>
          <a:xfrm>
            <a:off x="3657600" y="2057400"/>
            <a:ext cx="548640" cy="548640"/>
          </a:xfrm>
          <a:prstGeom prst="ellipse">
            <a:avLst/>
          </a:prstGeom>
          <a:solidFill>
            <a:schemeClr val="accent1"/>
          </a:solidFill>
          <a:ln/>
        </p:spPr>
      </p:sp>
      <p:pic>
        <p:nvPicPr>
          <p:cNvPr id="12" name="Image 1" descr="FaGavel">    </p:cNvPr>
          <p:cNvPicPr>
            <a:picLocks noChangeAspect="1"/>
          </p:cNvPicPr>
          <p:nvPr/>
        </p:nvPicPr>
        <p:blipFill>
          <a:blip r:embed="rId2"/>
          <a:stretch>
            <a:fillRect/>
          </a:stretch>
        </p:blipFill>
        <p:spPr>
          <a:xfrm>
            <a:off x="3789274" y="2189074"/>
            <a:ext cx="285293" cy="285293"/>
          </a:xfrm>
          <a:prstGeom prst="rect">
            <a:avLst/>
          </a:prstGeom>
        </p:spPr>
      </p:pic>
      <p:sp>
        <p:nvSpPr>
          <p:cNvPr id="13" name="Text 9"/>
          <p:cNvSpPr txBox="1"/>
          <p:nvPr/>
        </p:nvSpPr>
        <p:spPr>
          <a:xfrm>
            <a:off x="3657600" y="2788920"/>
            <a:ext cx="2011680" cy="457200"/>
          </a:xfrm>
          <a:prstGeom prst="rect">
            <a:avLst/>
          </a:prstGeom>
          <a:noFill/>
          <a:ln/>
        </p:spPr>
        <p:txBody>
          <a:bodyPr wrap="square" lIns="0" tIns="0" rIns="0" bIns="0" rtlCol="0" anchor="t"/>
          <a:lstStyle/>
          <a:p>
            <a:pPr indent="0" marL="0">
              <a:buNone/>
            </a:pPr>
            <a:r>
              <a:rPr lang="en-US" sz="2400" b="1" dirty="0">
                <a:solidFill>
                  <a:schemeClr val="tx1"/>
                </a:solidFill>
              </a:rPr>
              <a:t>Art. 184 bis</a:t>
            </a:r>
            <a:endParaRPr lang="en-US" sz="2400" dirty="0"/>
          </a:p>
        </p:txBody>
      </p:sp>
      <p:sp>
        <p:nvSpPr>
          <p:cNvPr id="14" name="Text 10"/>
          <p:cNvSpPr txBox="1"/>
          <p:nvPr/>
        </p:nvSpPr>
        <p:spPr>
          <a:xfrm>
            <a:off x="3657600" y="3246120"/>
            <a:ext cx="2011680" cy="320040"/>
          </a:xfrm>
          <a:prstGeom prst="rect">
            <a:avLst/>
          </a:prstGeom>
          <a:noFill/>
          <a:ln/>
        </p:spPr>
        <p:txBody>
          <a:bodyPr wrap="square" lIns="0" tIns="0" rIns="0" bIns="0" rtlCol="0" anchor="t"/>
          <a:lstStyle/>
          <a:p>
            <a:pPr indent="0" marL="0">
              <a:buNone/>
            </a:pPr>
            <a:r>
              <a:rPr lang="en-US" sz="1300" b="1" dirty="0">
                <a:solidFill>
                  <a:schemeClr val="tx2"/>
                </a:solidFill>
              </a:rPr>
              <a:t>Código del Trabajo</a:t>
            </a:r>
            <a:endParaRPr lang="en-US" sz="1300" dirty="0"/>
          </a:p>
        </p:txBody>
      </p:sp>
      <p:sp>
        <p:nvSpPr>
          <p:cNvPr id="15" name="Text 11"/>
          <p:cNvSpPr txBox="1"/>
          <p:nvPr/>
        </p:nvSpPr>
        <p:spPr>
          <a:xfrm>
            <a:off x="3657600" y="3657600"/>
            <a:ext cx="2011680" cy="1463040"/>
          </a:xfrm>
          <a:prstGeom prst="rect">
            <a:avLst/>
          </a:prstGeom>
          <a:noFill/>
          <a:ln/>
        </p:spPr>
        <p:txBody>
          <a:bodyPr wrap="square" lIns="0" tIns="0" rIns="0" bIns="0" rtlCol="0" anchor="t"/>
          <a:lstStyle/>
          <a:p>
            <a:pPr indent="0" marL="0">
              <a:buNone/>
            </a:pPr>
            <a:r>
              <a:rPr lang="en-US" sz="1400" dirty="0">
                <a:solidFill>
                  <a:schemeClr val="tx1"/>
                </a:solidFill>
              </a:rPr>
              <a:t>Ante un riesgo grave e inminente, el trabajador puede interrumpir sus labores y abandonar el lugar.</a:t>
            </a:r>
            <a:endParaRPr lang="en-US" sz="1400" dirty="0"/>
          </a:p>
        </p:txBody>
      </p:sp>
      <p:sp>
        <p:nvSpPr>
          <p:cNvPr id="16" name="norma 3"/>
          <p:cNvSpPr/>
          <p:nvPr/>
        </p:nvSpPr>
        <p:spPr>
          <a:xfrm>
            <a:off x="6217920" y="1783080"/>
            <a:ext cx="2560320" cy="3429000"/>
          </a:xfrm>
          <a:prstGeom prst="roundRect">
            <a:avLst>
              <a:gd name="adj" fmla="val 4286"/>
            </a:avLst>
          </a:prstGeom>
          <a:solidFill>
            <a:schemeClr val="bg2"/>
          </a:solidFill>
          <a:ln/>
        </p:spPr>
      </p:sp>
      <p:sp>
        <p:nvSpPr>
          <p:cNvPr id="17" name="icono FaGavel"/>
          <p:cNvSpPr/>
          <p:nvPr/>
        </p:nvSpPr>
        <p:spPr>
          <a:xfrm>
            <a:off x="6492240" y="2057400"/>
            <a:ext cx="548640" cy="548640"/>
          </a:xfrm>
          <a:prstGeom prst="ellipse">
            <a:avLst/>
          </a:prstGeom>
          <a:solidFill>
            <a:schemeClr val="accent1"/>
          </a:solidFill>
          <a:ln/>
        </p:spPr>
      </p:sp>
      <p:pic>
        <p:nvPicPr>
          <p:cNvPr id="18" name="Image 2" descr="FaGavel">    </p:cNvPr>
          <p:cNvPicPr>
            <a:picLocks noChangeAspect="1"/>
          </p:cNvPicPr>
          <p:nvPr/>
        </p:nvPicPr>
        <p:blipFill>
          <a:blip r:embed="rId3"/>
          <a:stretch>
            <a:fillRect/>
          </a:stretch>
        </p:blipFill>
        <p:spPr>
          <a:xfrm>
            <a:off x="6623914" y="2189074"/>
            <a:ext cx="285293" cy="285293"/>
          </a:xfrm>
          <a:prstGeom prst="rect">
            <a:avLst/>
          </a:prstGeom>
        </p:spPr>
      </p:pic>
      <p:sp>
        <p:nvSpPr>
          <p:cNvPr id="19" name="Text 14"/>
          <p:cNvSpPr txBox="1"/>
          <p:nvPr/>
        </p:nvSpPr>
        <p:spPr>
          <a:xfrm>
            <a:off x="6492240" y="2788920"/>
            <a:ext cx="2011680" cy="457200"/>
          </a:xfrm>
          <a:prstGeom prst="rect">
            <a:avLst/>
          </a:prstGeom>
          <a:noFill/>
          <a:ln/>
        </p:spPr>
        <p:txBody>
          <a:bodyPr wrap="square" lIns="0" tIns="0" rIns="0" bIns="0" rtlCol="0" anchor="t"/>
          <a:lstStyle/>
          <a:p>
            <a:pPr indent="0" marL="0">
              <a:buNone/>
            </a:pPr>
            <a:r>
              <a:rPr lang="en-US" sz="2400" b="1" dirty="0">
                <a:solidFill>
                  <a:schemeClr val="tx1"/>
                </a:solidFill>
              </a:rPr>
              <a:t>Ley 16.744</a:t>
            </a:r>
            <a:endParaRPr lang="en-US" sz="2400" dirty="0"/>
          </a:p>
        </p:txBody>
      </p:sp>
      <p:sp>
        <p:nvSpPr>
          <p:cNvPr id="20" name="Text 15"/>
          <p:cNvSpPr txBox="1"/>
          <p:nvPr/>
        </p:nvSpPr>
        <p:spPr>
          <a:xfrm>
            <a:off x="6492240" y="3246120"/>
            <a:ext cx="2011680" cy="320040"/>
          </a:xfrm>
          <a:prstGeom prst="rect">
            <a:avLst/>
          </a:prstGeom>
          <a:noFill/>
          <a:ln/>
        </p:spPr>
        <p:txBody>
          <a:bodyPr wrap="square" lIns="0" tIns="0" rIns="0" bIns="0" rtlCol="0" anchor="t"/>
          <a:lstStyle/>
          <a:p>
            <a:pPr indent="0" marL="0">
              <a:buNone/>
            </a:pPr>
            <a:r>
              <a:rPr lang="en-US" sz="1300" b="1" dirty="0">
                <a:solidFill>
                  <a:schemeClr val="tx2"/>
                </a:solidFill>
              </a:rPr>
              <a:t>Seguro de accidentes</a:t>
            </a:r>
            <a:endParaRPr lang="en-US" sz="1300" dirty="0"/>
          </a:p>
        </p:txBody>
      </p:sp>
      <p:sp>
        <p:nvSpPr>
          <p:cNvPr id="21" name="Text 16"/>
          <p:cNvSpPr txBox="1"/>
          <p:nvPr/>
        </p:nvSpPr>
        <p:spPr>
          <a:xfrm>
            <a:off x="6492240" y="3657600"/>
            <a:ext cx="2011680" cy="1463040"/>
          </a:xfrm>
          <a:prstGeom prst="rect">
            <a:avLst/>
          </a:prstGeom>
          <a:noFill/>
          <a:ln/>
        </p:spPr>
        <p:txBody>
          <a:bodyPr wrap="square" lIns="0" tIns="0" rIns="0" bIns="0" rtlCol="0" anchor="t"/>
          <a:lstStyle/>
          <a:p>
            <a:pPr indent="0" marL="0">
              <a:buNone/>
            </a:pPr>
            <a:r>
              <a:rPr lang="en-US" sz="1400" dirty="0">
                <a:solidFill>
                  <a:schemeClr val="tx1"/>
                </a:solidFill>
              </a:rPr>
              <a:t>Obliga a implementar medidas de higiene y seguridad y a denunciar los accidentes del trabajo.</a:t>
            </a:r>
            <a:endParaRPr lang="en-US" sz="1400" dirty="0"/>
          </a:p>
        </p:txBody>
      </p:sp>
      <p:sp>
        <p:nvSpPr>
          <p:cNvPr id="22" name="norma 4"/>
          <p:cNvSpPr/>
          <p:nvPr/>
        </p:nvSpPr>
        <p:spPr>
          <a:xfrm>
            <a:off x="9052560" y="1783080"/>
            <a:ext cx="2560320" cy="3429000"/>
          </a:xfrm>
          <a:prstGeom prst="roundRect">
            <a:avLst>
              <a:gd name="adj" fmla="val 4286"/>
            </a:avLst>
          </a:prstGeom>
          <a:solidFill>
            <a:schemeClr val="bg2"/>
          </a:solidFill>
          <a:ln/>
        </p:spPr>
      </p:sp>
      <p:sp>
        <p:nvSpPr>
          <p:cNvPr id="23" name="icono FaGavel"/>
          <p:cNvSpPr/>
          <p:nvPr/>
        </p:nvSpPr>
        <p:spPr>
          <a:xfrm>
            <a:off x="9326880" y="2057400"/>
            <a:ext cx="548640" cy="548640"/>
          </a:xfrm>
          <a:prstGeom prst="ellipse">
            <a:avLst/>
          </a:prstGeom>
          <a:solidFill>
            <a:schemeClr val="accent1"/>
          </a:solidFill>
          <a:ln/>
        </p:spPr>
      </p:sp>
      <p:pic>
        <p:nvPicPr>
          <p:cNvPr id="24" name="Image 3" descr="FaGavel">    </p:cNvPr>
          <p:cNvPicPr>
            <a:picLocks noChangeAspect="1"/>
          </p:cNvPicPr>
          <p:nvPr/>
        </p:nvPicPr>
        <p:blipFill>
          <a:blip r:embed="rId4"/>
          <a:stretch>
            <a:fillRect/>
          </a:stretch>
        </p:blipFill>
        <p:spPr>
          <a:xfrm>
            <a:off x="9458554" y="2189074"/>
            <a:ext cx="285293" cy="285293"/>
          </a:xfrm>
          <a:prstGeom prst="rect">
            <a:avLst/>
          </a:prstGeom>
        </p:spPr>
      </p:pic>
      <p:sp>
        <p:nvSpPr>
          <p:cNvPr id="25" name="Text 19"/>
          <p:cNvSpPr txBox="1"/>
          <p:nvPr/>
        </p:nvSpPr>
        <p:spPr>
          <a:xfrm>
            <a:off x="9326880" y="2788920"/>
            <a:ext cx="2011680" cy="457200"/>
          </a:xfrm>
          <a:prstGeom prst="rect">
            <a:avLst/>
          </a:prstGeom>
          <a:noFill/>
          <a:ln/>
        </p:spPr>
        <p:txBody>
          <a:bodyPr wrap="square" lIns="0" tIns="0" rIns="0" bIns="0" rtlCol="0" anchor="t"/>
          <a:lstStyle/>
          <a:p>
            <a:pPr indent="0" marL="0">
              <a:buNone/>
            </a:pPr>
            <a:r>
              <a:rPr lang="en-US" sz="2400" b="1" dirty="0">
                <a:solidFill>
                  <a:schemeClr val="tx1"/>
                </a:solidFill>
              </a:rPr>
              <a:t>D.S. 44</a:t>
            </a:r>
            <a:endParaRPr lang="en-US" sz="2400" dirty="0"/>
          </a:p>
        </p:txBody>
      </p:sp>
      <p:sp>
        <p:nvSpPr>
          <p:cNvPr id="26" name="Text 20"/>
          <p:cNvSpPr txBox="1"/>
          <p:nvPr/>
        </p:nvSpPr>
        <p:spPr>
          <a:xfrm>
            <a:off x="9326880" y="3246120"/>
            <a:ext cx="2011680" cy="320040"/>
          </a:xfrm>
          <a:prstGeom prst="rect">
            <a:avLst/>
          </a:prstGeom>
          <a:noFill/>
          <a:ln/>
        </p:spPr>
        <p:txBody>
          <a:bodyPr wrap="square" lIns="0" tIns="0" rIns="0" bIns="0" rtlCol="0" anchor="t"/>
          <a:lstStyle/>
          <a:p>
            <a:pPr indent="0" marL="0">
              <a:buNone/>
            </a:pPr>
            <a:r>
              <a:rPr lang="en-US" sz="1300" b="1" dirty="0">
                <a:solidFill>
                  <a:schemeClr val="tx2"/>
                </a:solidFill>
              </a:rPr>
              <a:t>Gestión preventiva (2024)</a:t>
            </a:r>
            <a:endParaRPr lang="en-US" sz="1300" dirty="0"/>
          </a:p>
        </p:txBody>
      </p:sp>
      <p:sp>
        <p:nvSpPr>
          <p:cNvPr id="27" name="Text 21"/>
          <p:cNvSpPr txBox="1"/>
          <p:nvPr/>
        </p:nvSpPr>
        <p:spPr>
          <a:xfrm>
            <a:off x="9326880" y="3657600"/>
            <a:ext cx="2011680" cy="1463040"/>
          </a:xfrm>
          <a:prstGeom prst="rect">
            <a:avLst/>
          </a:prstGeom>
          <a:noFill/>
          <a:ln/>
        </p:spPr>
        <p:txBody>
          <a:bodyPr wrap="square" lIns="0" tIns="0" rIns="0" bIns="0" rtlCol="0" anchor="t"/>
          <a:lstStyle/>
          <a:p>
            <a:pPr indent="0" marL="0">
              <a:buNone/>
            </a:pPr>
            <a:r>
              <a:rPr lang="en-US" sz="1400" dirty="0">
                <a:solidFill>
                  <a:schemeClr val="tx1"/>
                </a:solidFill>
              </a:rPr>
              <a:t>Exige identificar peligros, evaluar riesgos, informar a los trabajadores y capacitarlos.</a:t>
            </a:r>
            <a:endParaRPr lang="en-US" sz="1400" dirty="0"/>
          </a:p>
        </p:txBody>
      </p:sp>
      <p:sp>
        <p:nvSpPr>
          <p:cNvPr id="28" name="icono FaBook"/>
          <p:cNvSpPr/>
          <p:nvPr/>
        </p:nvSpPr>
        <p:spPr>
          <a:xfrm>
            <a:off x="548640" y="5440680"/>
            <a:ext cx="548640" cy="548640"/>
          </a:xfrm>
          <a:prstGeom prst="ellipse">
            <a:avLst/>
          </a:prstGeom>
          <a:solidFill>
            <a:schemeClr val="accent1"/>
          </a:solidFill>
          <a:ln/>
        </p:spPr>
      </p:sp>
      <p:pic>
        <p:nvPicPr>
          <p:cNvPr id="29" name="Image 4" descr="FaBook">    </p:cNvPr>
          <p:cNvPicPr>
            <a:picLocks noChangeAspect="1"/>
          </p:cNvPicPr>
          <p:nvPr/>
        </p:nvPicPr>
        <p:blipFill>
          <a:blip r:embed="rId5"/>
          <a:stretch>
            <a:fillRect/>
          </a:stretch>
        </p:blipFill>
        <p:spPr>
          <a:xfrm>
            <a:off x="680314" y="5572354"/>
            <a:ext cx="285293" cy="285293"/>
          </a:xfrm>
          <a:prstGeom prst="rect">
            <a:avLst/>
          </a:prstGeom>
        </p:spPr>
      </p:pic>
      <p:sp>
        <p:nvSpPr>
          <p:cNvPr id="30" name="Text 23"/>
          <p:cNvSpPr txBox="1"/>
          <p:nvPr/>
        </p:nvSpPr>
        <p:spPr>
          <a:xfrm>
            <a:off x="1325880" y="5440680"/>
            <a:ext cx="10241280" cy="548640"/>
          </a:xfrm>
          <a:prstGeom prst="rect">
            <a:avLst/>
          </a:prstGeom>
          <a:noFill/>
          <a:ln/>
        </p:spPr>
        <p:txBody>
          <a:bodyPr wrap="square" lIns="0" tIns="0" rIns="0" bIns="0" rtlCol="0" anchor="ctr"/>
          <a:lstStyle/>
          <a:p>
            <a:pPr indent="0" marL="0">
              <a:buNone/>
            </a:pPr>
            <a:r>
              <a:rPr lang="en-US" sz="1500" dirty="0">
                <a:solidFill>
                  <a:schemeClr val="tx1"/>
                </a:solidFill>
              </a:rPr>
              <a:t>También aplican el Reglamento Interno de Orden, Higiene y Seguridad y los estándares del mandante de la faena.</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2 · PELIGROS Y RIESGOS · 25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Peligro no es lo mismo que riesgo</a:t>
            </a:r>
            <a:endParaRPr lang="en-US" sz="3400" dirty="0"/>
          </a:p>
        </p:txBody>
      </p:sp>
      <p:sp>
        <p:nvSpPr>
          <p:cNvPr id="4" name="peligro"/>
          <p:cNvSpPr/>
          <p:nvPr/>
        </p:nvSpPr>
        <p:spPr>
          <a:xfrm>
            <a:off x="548640" y="1783080"/>
            <a:ext cx="5394960" cy="2743200"/>
          </a:xfrm>
          <a:prstGeom prst="roundRect">
            <a:avLst>
              <a:gd name="adj" fmla="val 4000"/>
            </a:avLst>
          </a:prstGeom>
          <a:solidFill>
            <a:schemeClr val="bg2"/>
          </a:solidFill>
          <a:ln/>
        </p:spPr>
      </p:sp>
      <p:sp>
        <p:nvSpPr>
          <p:cNvPr id="5" name="icono FaExclamationTriangle"/>
          <p:cNvSpPr/>
          <p:nvPr/>
        </p:nvSpPr>
        <p:spPr>
          <a:xfrm>
            <a:off x="868680" y="2103120"/>
            <a:ext cx="731520" cy="731520"/>
          </a:xfrm>
          <a:prstGeom prst="ellipse">
            <a:avLst/>
          </a:prstGeom>
          <a:solidFill>
            <a:schemeClr val="accent1"/>
          </a:solidFill>
          <a:ln/>
        </p:spPr>
      </p:sp>
      <p:pic>
        <p:nvPicPr>
          <p:cNvPr id="6" name="Image 0" descr="FaExclamationTriangle">    </p:cNvPr>
          <p:cNvPicPr>
            <a:picLocks noChangeAspect="1"/>
          </p:cNvPicPr>
          <p:nvPr/>
        </p:nvPicPr>
        <p:blipFill>
          <a:blip r:embed="rId1"/>
          <a:stretch>
            <a:fillRect/>
          </a:stretch>
        </p:blipFill>
        <p:spPr>
          <a:xfrm>
            <a:off x="1044245" y="2278685"/>
            <a:ext cx="380390" cy="380390"/>
          </a:xfrm>
          <a:prstGeom prst="rect">
            <a:avLst/>
          </a:prstGeom>
        </p:spPr>
      </p:pic>
      <p:sp>
        <p:nvSpPr>
          <p:cNvPr id="7" name="Text 4"/>
          <p:cNvSpPr txBox="1"/>
          <p:nvPr/>
        </p:nvSpPr>
        <p:spPr>
          <a:xfrm>
            <a:off x="1828800" y="2103120"/>
            <a:ext cx="3840480" cy="731520"/>
          </a:xfrm>
          <a:prstGeom prst="rect">
            <a:avLst/>
          </a:prstGeom>
          <a:noFill/>
          <a:ln/>
        </p:spPr>
        <p:txBody>
          <a:bodyPr wrap="square" lIns="0" tIns="0" rIns="0" bIns="0" rtlCol="0" anchor="ctr"/>
          <a:lstStyle/>
          <a:p>
            <a:pPr indent="0" marL="0">
              <a:buNone/>
            </a:pPr>
            <a:r>
              <a:rPr lang="en-US" sz="2600" b="1" spc="200" kern="0" dirty="0">
                <a:solidFill>
                  <a:schemeClr val="tx1"/>
                </a:solidFill>
              </a:rPr>
              <a:t>PELIGRO</a:t>
            </a:r>
            <a:endParaRPr lang="en-US" sz="2600" dirty="0"/>
          </a:p>
        </p:txBody>
      </p:sp>
      <p:sp>
        <p:nvSpPr>
          <p:cNvPr id="8" name="Text 5"/>
          <p:cNvSpPr txBox="1"/>
          <p:nvPr/>
        </p:nvSpPr>
        <p:spPr>
          <a:xfrm>
            <a:off x="868680" y="3063240"/>
            <a:ext cx="4754880" cy="128016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Lo que puede causar daño.</a:t>
            </a:r>
            <a:endParaRPr lang="en-US" sz="1800" dirty="0"/>
          </a:p>
          <a:p>
            <a:pPr indent="0" marL="0">
              <a:spcAft>
                <a:spcPts val="800"/>
              </a:spcAft>
              <a:buNone/>
            </a:pPr>
            <a:r>
              <a:rPr lang="en-US" sz="1500" i="1" dirty="0">
                <a:solidFill>
                  <a:schemeClr val="tx2"/>
                </a:solidFill>
              </a:rPr>
              <a:t>Ej.: una carga suspendida sobre el área de trabajo.</a:t>
            </a:r>
            <a:endParaRPr lang="en-US" sz="1800" dirty="0"/>
          </a:p>
        </p:txBody>
      </p:sp>
      <p:sp>
        <p:nvSpPr>
          <p:cNvPr id="9" name="riesgo"/>
          <p:cNvSpPr/>
          <p:nvPr/>
        </p:nvSpPr>
        <p:spPr>
          <a:xfrm>
            <a:off x="6217920" y="1783080"/>
            <a:ext cx="5394960" cy="2743200"/>
          </a:xfrm>
          <a:prstGeom prst="roundRect">
            <a:avLst>
              <a:gd name="adj" fmla="val 4000"/>
            </a:avLst>
          </a:prstGeom>
          <a:solidFill>
            <a:schemeClr val="bg2"/>
          </a:solidFill>
          <a:ln/>
        </p:spPr>
      </p:sp>
      <p:sp>
        <p:nvSpPr>
          <p:cNvPr id="10" name="icono FaWeightHanging"/>
          <p:cNvSpPr/>
          <p:nvPr/>
        </p:nvSpPr>
        <p:spPr>
          <a:xfrm>
            <a:off x="6537960" y="2103120"/>
            <a:ext cx="731520" cy="731520"/>
          </a:xfrm>
          <a:prstGeom prst="ellipse">
            <a:avLst/>
          </a:prstGeom>
          <a:solidFill>
            <a:schemeClr val="accent1"/>
          </a:solidFill>
          <a:ln/>
        </p:spPr>
      </p:sp>
      <p:pic>
        <p:nvPicPr>
          <p:cNvPr id="11" name="Image 1" descr="FaWeightHanging">    </p:cNvPr>
          <p:cNvPicPr>
            <a:picLocks noChangeAspect="1"/>
          </p:cNvPicPr>
          <p:nvPr/>
        </p:nvPicPr>
        <p:blipFill>
          <a:blip r:embed="rId2"/>
          <a:stretch>
            <a:fillRect/>
          </a:stretch>
        </p:blipFill>
        <p:spPr>
          <a:xfrm>
            <a:off x="6713525" y="2278685"/>
            <a:ext cx="380390" cy="380390"/>
          </a:xfrm>
          <a:prstGeom prst="rect">
            <a:avLst/>
          </a:prstGeom>
        </p:spPr>
      </p:pic>
      <p:sp>
        <p:nvSpPr>
          <p:cNvPr id="12" name="Text 8"/>
          <p:cNvSpPr txBox="1"/>
          <p:nvPr/>
        </p:nvSpPr>
        <p:spPr>
          <a:xfrm>
            <a:off x="7498080" y="2103120"/>
            <a:ext cx="3840480" cy="731520"/>
          </a:xfrm>
          <a:prstGeom prst="rect">
            <a:avLst/>
          </a:prstGeom>
          <a:noFill/>
          <a:ln/>
        </p:spPr>
        <p:txBody>
          <a:bodyPr wrap="square" lIns="0" tIns="0" rIns="0" bIns="0" rtlCol="0" anchor="ctr"/>
          <a:lstStyle/>
          <a:p>
            <a:pPr indent="0" marL="0">
              <a:buNone/>
            </a:pPr>
            <a:r>
              <a:rPr lang="en-US" sz="2600" b="1" spc="200" kern="0" dirty="0">
                <a:solidFill>
                  <a:schemeClr val="tx1"/>
                </a:solidFill>
              </a:rPr>
              <a:t>RIESGO</a:t>
            </a:r>
            <a:endParaRPr lang="en-US" sz="2600" dirty="0"/>
          </a:p>
        </p:txBody>
      </p:sp>
      <p:sp>
        <p:nvSpPr>
          <p:cNvPr id="13" name="Text 9"/>
          <p:cNvSpPr txBox="1"/>
          <p:nvPr/>
        </p:nvSpPr>
        <p:spPr>
          <a:xfrm>
            <a:off x="6537960" y="3063240"/>
            <a:ext cx="4754880" cy="128016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La probabilidad de que ese daño ocurra y su gravedad.</a:t>
            </a:r>
            <a:endParaRPr lang="en-US" sz="1800" dirty="0"/>
          </a:p>
          <a:p>
            <a:pPr indent="0" marL="0">
              <a:spcAft>
                <a:spcPts val="800"/>
              </a:spcAft>
              <a:buNone/>
            </a:pPr>
            <a:r>
              <a:rPr lang="en-US" sz="1500" i="1" dirty="0">
                <a:solidFill>
                  <a:schemeClr val="tx2"/>
                </a:solidFill>
              </a:rPr>
              <a:t>Ej.: ser golpeado o aplastado por la carga.</a:t>
            </a:r>
            <a:endParaRPr lang="en-US" sz="1800" dirty="0"/>
          </a:p>
        </p:txBody>
      </p:sp>
      <p:sp>
        <p:nvSpPr>
          <p:cNvPr id="14" name="recuadro actividad"/>
          <p:cNvSpPr/>
          <p:nvPr/>
        </p:nvSpPr>
        <p:spPr>
          <a:xfrm>
            <a:off x="548640" y="4754880"/>
            <a:ext cx="11064240" cy="1371600"/>
          </a:xfrm>
          <a:prstGeom prst="roundRect">
            <a:avLst>
              <a:gd name="adj" fmla="val 8000"/>
            </a:avLst>
          </a:prstGeom>
          <a:solidFill>
            <a:schemeClr val="accent6"/>
          </a:solidFill>
          <a:ln/>
        </p:spPr>
      </p:sp>
      <p:sp>
        <p:nvSpPr>
          <p:cNvPr id="15" name="icono FaUsers"/>
          <p:cNvSpPr/>
          <p:nvPr/>
        </p:nvSpPr>
        <p:spPr>
          <a:xfrm>
            <a:off x="777240" y="5143500"/>
            <a:ext cx="594360" cy="594360"/>
          </a:xfrm>
          <a:prstGeom prst="ellipse">
            <a:avLst/>
          </a:prstGeom>
          <a:solidFill>
            <a:schemeClr val="accent1"/>
          </a:solidFill>
          <a:ln/>
        </p:spPr>
      </p:sp>
      <p:pic>
        <p:nvPicPr>
          <p:cNvPr id="16" name="Image 2" descr="FaUsers">    </p:cNvPr>
          <p:cNvPicPr>
            <a:picLocks noChangeAspect="1"/>
          </p:cNvPicPr>
          <p:nvPr/>
        </p:nvPicPr>
        <p:blipFill>
          <a:blip r:embed="rId3"/>
          <a:stretch>
            <a:fillRect/>
          </a:stretch>
        </p:blipFill>
        <p:spPr>
          <a:xfrm>
            <a:off x="919886" y="5286146"/>
            <a:ext cx="309067" cy="309067"/>
          </a:xfrm>
          <a:prstGeom prst="rect">
            <a:avLst/>
          </a:prstGeom>
        </p:spPr>
      </p:pic>
      <p:sp>
        <p:nvSpPr>
          <p:cNvPr id="17" name="Text 12"/>
          <p:cNvSpPr txBox="1"/>
          <p:nvPr/>
        </p:nvSpPr>
        <p:spPr>
          <a:xfrm>
            <a:off x="1600200" y="4919472"/>
            <a:ext cx="9784080" cy="1097280"/>
          </a:xfrm>
          <a:prstGeom prst="rect">
            <a:avLst/>
          </a:prstGeom>
          <a:noFill/>
          <a:ln/>
        </p:spPr>
        <p:txBody>
          <a:bodyPr wrap="square" lIns="0" tIns="0" rIns="0" bIns="0" rtlCol="0" anchor="ctr"/>
          <a:lstStyle/>
          <a:p>
            <a:pPr indent="0" marL="0">
              <a:buNone/>
            </a:pPr>
            <a:r>
              <a:rPr lang="en-US" sz="1500" b="1" dirty="0">
                <a:solidFill>
                  <a:schemeClr val="tx1"/>
                </a:solidFill>
              </a:rPr>
              <a:t>Ejercicio en grupos · 10 min</a:t>
            </a:r>
            <a:endParaRPr lang="en-US" sz="1500" dirty="0"/>
          </a:p>
          <a:p>
            <a:pPr indent="0" marL="0">
              <a:buNone/>
            </a:pPr>
            <a:r>
              <a:rPr lang="en-US" sz="1400" dirty="0">
                <a:solidFill>
                  <a:schemeClr val="tx1"/>
                </a:solidFill>
              </a:rPr>
              <a:t>Cada grupo recibe una tarea real de la obra (montaje de una viga, corte con esmeril angular, traslado de planchas). Listen 3 peligros y propongan un control por cada nivel de la jerarquía. Presentan en 2 minutos.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2 · JERARQUÍA DE CONTROLES</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Primero eliminar, el EPP siempre al final</a:t>
            </a:r>
            <a:endParaRPr lang="en-US" sz="3400" dirty="0"/>
          </a:p>
        </p:txBody>
      </p:sp>
      <p:sp>
        <p:nvSpPr>
          <p:cNvPr id="4" name="nivel 1"/>
          <p:cNvSpPr/>
          <p:nvPr/>
        </p:nvSpPr>
        <p:spPr>
          <a:xfrm>
            <a:off x="548640" y="1737360"/>
            <a:ext cx="5669280" cy="731520"/>
          </a:xfrm>
          <a:prstGeom prst="roundRect">
            <a:avLst>
              <a:gd name="adj" fmla="val 10000"/>
            </a:avLst>
          </a:prstGeom>
          <a:solidFill>
            <a:schemeClr val="accent3"/>
          </a:solidFill>
          <a:ln/>
        </p:spPr>
      </p:sp>
      <p:sp>
        <p:nvSpPr>
          <p:cNvPr id="5" name="Text 3"/>
          <p:cNvSpPr txBox="1"/>
          <p:nvPr/>
        </p:nvSpPr>
        <p:spPr>
          <a:xfrm>
            <a:off x="548640" y="1737360"/>
            <a:ext cx="5669280" cy="731520"/>
          </a:xfrm>
          <a:prstGeom prst="rect">
            <a:avLst/>
          </a:prstGeom>
          <a:noFill/>
          <a:ln/>
        </p:spPr>
        <p:txBody>
          <a:bodyPr wrap="square" lIns="0" tIns="0" rIns="0" bIns="0" rtlCol="0" anchor="ctr"/>
          <a:lstStyle/>
          <a:p>
            <a:pPr algn="ctr" indent="0" marL="0">
              <a:buNone/>
            </a:pPr>
            <a:r>
              <a:rPr lang="en-US" sz="1800" b="1" dirty="0">
                <a:solidFill>
                  <a:schemeClr val="bg1"/>
                </a:solidFill>
              </a:rPr>
              <a:t>1  Eliminar</a:t>
            </a:r>
            <a:endParaRPr lang="en-US" sz="1800" dirty="0"/>
          </a:p>
        </p:txBody>
      </p:sp>
      <p:sp>
        <p:nvSpPr>
          <p:cNvPr id="6" name="Text 4"/>
          <p:cNvSpPr txBox="1"/>
          <p:nvPr/>
        </p:nvSpPr>
        <p:spPr>
          <a:xfrm>
            <a:off x="6675120" y="1737360"/>
            <a:ext cx="4937760" cy="731520"/>
          </a:xfrm>
          <a:prstGeom prst="rect">
            <a:avLst/>
          </a:prstGeom>
          <a:noFill/>
          <a:ln/>
        </p:spPr>
        <p:txBody>
          <a:bodyPr wrap="square" lIns="0" tIns="0" rIns="0" bIns="0" rtlCol="0" anchor="ctr"/>
          <a:lstStyle/>
          <a:p>
            <a:pPr indent="0" marL="0">
              <a:buNone/>
            </a:pPr>
            <a:r>
              <a:rPr lang="en-US" sz="1500" dirty="0">
                <a:solidFill>
                  <a:schemeClr val="tx1"/>
                </a:solidFill>
              </a:rPr>
              <a:t>Prearmar en piso para no trabajar en altura.</a:t>
            </a:r>
            <a:endParaRPr lang="en-US" sz="1500" dirty="0"/>
          </a:p>
        </p:txBody>
      </p:sp>
      <p:sp>
        <p:nvSpPr>
          <p:cNvPr id="7" name="nivel 2"/>
          <p:cNvSpPr/>
          <p:nvPr/>
        </p:nvSpPr>
        <p:spPr>
          <a:xfrm>
            <a:off x="914400" y="2624328"/>
            <a:ext cx="4937760" cy="731520"/>
          </a:xfrm>
          <a:prstGeom prst="roundRect">
            <a:avLst>
              <a:gd name="adj" fmla="val 10000"/>
            </a:avLst>
          </a:prstGeom>
          <a:solidFill>
            <a:schemeClr val="accent3">
              <a:alpha val="70000"/>
            </a:schemeClr>
          </a:solidFill>
          <a:ln/>
        </p:spPr>
      </p:sp>
      <p:sp>
        <p:nvSpPr>
          <p:cNvPr id="8" name="Text 6"/>
          <p:cNvSpPr txBox="1"/>
          <p:nvPr/>
        </p:nvSpPr>
        <p:spPr>
          <a:xfrm>
            <a:off x="914400" y="2624328"/>
            <a:ext cx="4937760" cy="731520"/>
          </a:xfrm>
          <a:prstGeom prst="rect">
            <a:avLst/>
          </a:prstGeom>
          <a:noFill/>
          <a:ln/>
        </p:spPr>
        <p:txBody>
          <a:bodyPr wrap="square" lIns="0" tIns="0" rIns="0" bIns="0" rtlCol="0" anchor="ctr"/>
          <a:lstStyle/>
          <a:p>
            <a:pPr algn="ctr" indent="0" marL="0">
              <a:buNone/>
            </a:pPr>
            <a:r>
              <a:rPr lang="en-US" sz="1800" b="1" dirty="0">
                <a:solidFill>
                  <a:schemeClr val="bg1"/>
                </a:solidFill>
              </a:rPr>
              <a:t>2  Sustituir</a:t>
            </a:r>
            <a:endParaRPr lang="en-US" sz="1800" dirty="0"/>
          </a:p>
        </p:txBody>
      </p:sp>
      <p:sp>
        <p:nvSpPr>
          <p:cNvPr id="9" name="Text 7"/>
          <p:cNvSpPr txBox="1"/>
          <p:nvPr/>
        </p:nvSpPr>
        <p:spPr>
          <a:xfrm>
            <a:off x="6675120" y="2624328"/>
            <a:ext cx="4937760" cy="731520"/>
          </a:xfrm>
          <a:prstGeom prst="rect">
            <a:avLst/>
          </a:prstGeom>
          <a:noFill/>
          <a:ln/>
        </p:spPr>
        <p:txBody>
          <a:bodyPr wrap="square" lIns="0" tIns="0" rIns="0" bIns="0" rtlCol="0" anchor="ctr"/>
          <a:lstStyle/>
          <a:p>
            <a:pPr indent="0" marL="0">
              <a:buNone/>
            </a:pPr>
            <a:r>
              <a:rPr lang="en-US" sz="1500" dirty="0">
                <a:solidFill>
                  <a:schemeClr val="tx1"/>
                </a:solidFill>
              </a:rPr>
              <a:t>Herramienta inalámbrica en vez de eléctrica con extensión.</a:t>
            </a:r>
            <a:endParaRPr lang="en-US" sz="1500" dirty="0"/>
          </a:p>
        </p:txBody>
      </p:sp>
      <p:sp>
        <p:nvSpPr>
          <p:cNvPr id="10" name="nivel 3"/>
          <p:cNvSpPr/>
          <p:nvPr/>
        </p:nvSpPr>
        <p:spPr>
          <a:xfrm>
            <a:off x="1280160" y="3511296"/>
            <a:ext cx="4206240" cy="731520"/>
          </a:xfrm>
          <a:prstGeom prst="roundRect">
            <a:avLst>
              <a:gd name="adj" fmla="val 10000"/>
            </a:avLst>
          </a:prstGeom>
          <a:solidFill>
            <a:schemeClr val="accent1"/>
          </a:solidFill>
          <a:ln/>
        </p:spPr>
      </p:sp>
      <p:sp>
        <p:nvSpPr>
          <p:cNvPr id="11" name="Text 9"/>
          <p:cNvSpPr txBox="1"/>
          <p:nvPr/>
        </p:nvSpPr>
        <p:spPr>
          <a:xfrm>
            <a:off x="1280160" y="3511296"/>
            <a:ext cx="4206240" cy="731520"/>
          </a:xfrm>
          <a:prstGeom prst="rect">
            <a:avLst/>
          </a:prstGeom>
          <a:noFill/>
          <a:ln/>
        </p:spPr>
        <p:txBody>
          <a:bodyPr wrap="square" lIns="0" tIns="0" rIns="0" bIns="0" rtlCol="0" anchor="ctr"/>
          <a:lstStyle/>
          <a:p>
            <a:pPr algn="ctr" indent="0" marL="0">
              <a:buNone/>
            </a:pPr>
            <a:r>
              <a:rPr lang="en-US" sz="1800" b="1" dirty="0">
                <a:solidFill>
                  <a:schemeClr val="tx1"/>
                </a:solidFill>
              </a:rPr>
              <a:t>3  Ingeniería</a:t>
            </a:r>
            <a:endParaRPr lang="en-US" sz="1800" dirty="0"/>
          </a:p>
        </p:txBody>
      </p:sp>
      <p:sp>
        <p:nvSpPr>
          <p:cNvPr id="12" name="Text 10"/>
          <p:cNvSpPr txBox="1"/>
          <p:nvPr/>
        </p:nvSpPr>
        <p:spPr>
          <a:xfrm>
            <a:off x="6675120" y="3511296"/>
            <a:ext cx="4937760" cy="731520"/>
          </a:xfrm>
          <a:prstGeom prst="rect">
            <a:avLst/>
          </a:prstGeom>
          <a:noFill/>
          <a:ln/>
        </p:spPr>
        <p:txBody>
          <a:bodyPr wrap="square" lIns="0" tIns="0" rIns="0" bIns="0" rtlCol="0" anchor="ctr"/>
          <a:lstStyle/>
          <a:p>
            <a:pPr indent="0" marL="0">
              <a:buNone/>
            </a:pPr>
            <a:r>
              <a:rPr lang="en-US" sz="1500" dirty="0">
                <a:solidFill>
                  <a:schemeClr val="tx1"/>
                </a:solidFill>
              </a:rPr>
              <a:t>Barandas, protecciones de máquinas, líneas de vida.</a:t>
            </a:r>
            <a:endParaRPr lang="en-US" sz="1500" dirty="0"/>
          </a:p>
        </p:txBody>
      </p:sp>
      <p:sp>
        <p:nvSpPr>
          <p:cNvPr id="13" name="nivel 4"/>
          <p:cNvSpPr/>
          <p:nvPr/>
        </p:nvSpPr>
        <p:spPr>
          <a:xfrm>
            <a:off x="1645920" y="4398264"/>
            <a:ext cx="3474720" cy="731520"/>
          </a:xfrm>
          <a:prstGeom prst="roundRect">
            <a:avLst>
              <a:gd name="adj" fmla="val 10000"/>
            </a:avLst>
          </a:prstGeom>
          <a:solidFill>
            <a:schemeClr val="accent1">
              <a:alpha val="55000"/>
            </a:schemeClr>
          </a:solidFill>
          <a:ln/>
        </p:spPr>
      </p:sp>
      <p:sp>
        <p:nvSpPr>
          <p:cNvPr id="14" name="Text 12"/>
          <p:cNvSpPr txBox="1"/>
          <p:nvPr/>
        </p:nvSpPr>
        <p:spPr>
          <a:xfrm>
            <a:off x="1645920" y="4398264"/>
            <a:ext cx="3474720" cy="731520"/>
          </a:xfrm>
          <a:prstGeom prst="rect">
            <a:avLst/>
          </a:prstGeom>
          <a:noFill/>
          <a:ln/>
        </p:spPr>
        <p:txBody>
          <a:bodyPr wrap="square" lIns="0" tIns="0" rIns="0" bIns="0" rtlCol="0" anchor="ctr"/>
          <a:lstStyle/>
          <a:p>
            <a:pPr algn="ctr" indent="0" marL="0">
              <a:buNone/>
            </a:pPr>
            <a:r>
              <a:rPr lang="en-US" sz="1800" b="1" dirty="0">
                <a:solidFill>
                  <a:schemeClr val="tx1"/>
                </a:solidFill>
              </a:rPr>
              <a:t>4  Administrativos</a:t>
            </a:r>
            <a:endParaRPr lang="en-US" sz="1800" dirty="0"/>
          </a:p>
        </p:txBody>
      </p:sp>
      <p:sp>
        <p:nvSpPr>
          <p:cNvPr id="15" name="Text 13"/>
          <p:cNvSpPr txBox="1"/>
          <p:nvPr/>
        </p:nvSpPr>
        <p:spPr>
          <a:xfrm>
            <a:off x="6675120" y="4398264"/>
            <a:ext cx="4937760" cy="731520"/>
          </a:xfrm>
          <a:prstGeom prst="rect">
            <a:avLst/>
          </a:prstGeom>
          <a:noFill/>
          <a:ln/>
        </p:spPr>
        <p:txBody>
          <a:bodyPr wrap="square" lIns="0" tIns="0" rIns="0" bIns="0" rtlCol="0" anchor="ctr"/>
          <a:lstStyle/>
          <a:p>
            <a:pPr indent="0" marL="0">
              <a:buNone/>
            </a:pPr>
            <a:r>
              <a:rPr lang="en-US" sz="1500" dirty="0">
                <a:solidFill>
                  <a:schemeClr val="tx1"/>
                </a:solidFill>
              </a:rPr>
              <a:t>Procedimientos, permisos de trabajo, segregación, señalización.</a:t>
            </a:r>
            <a:endParaRPr lang="en-US" sz="1500" dirty="0"/>
          </a:p>
        </p:txBody>
      </p:sp>
      <p:sp>
        <p:nvSpPr>
          <p:cNvPr id="16" name="nivel 5"/>
          <p:cNvSpPr/>
          <p:nvPr/>
        </p:nvSpPr>
        <p:spPr>
          <a:xfrm>
            <a:off x="2011680" y="5285232"/>
            <a:ext cx="2743200" cy="731520"/>
          </a:xfrm>
          <a:prstGeom prst="roundRect">
            <a:avLst>
              <a:gd name="adj" fmla="val 10000"/>
            </a:avLst>
          </a:prstGeom>
          <a:solidFill>
            <a:schemeClr val="accent2"/>
          </a:solidFill>
          <a:ln/>
        </p:spPr>
      </p:sp>
      <p:sp>
        <p:nvSpPr>
          <p:cNvPr id="17" name="Text 15"/>
          <p:cNvSpPr txBox="1"/>
          <p:nvPr/>
        </p:nvSpPr>
        <p:spPr>
          <a:xfrm>
            <a:off x="2011680" y="5285232"/>
            <a:ext cx="2743200" cy="731520"/>
          </a:xfrm>
          <a:prstGeom prst="rect">
            <a:avLst/>
          </a:prstGeom>
          <a:noFill/>
          <a:ln/>
        </p:spPr>
        <p:txBody>
          <a:bodyPr wrap="square" lIns="0" tIns="0" rIns="0" bIns="0" rtlCol="0" anchor="ctr"/>
          <a:lstStyle/>
          <a:p>
            <a:pPr algn="ctr" indent="0" marL="0">
              <a:buNone/>
            </a:pPr>
            <a:r>
              <a:rPr lang="en-US" sz="1800" b="1" dirty="0">
                <a:solidFill>
                  <a:schemeClr val="bg1"/>
                </a:solidFill>
              </a:rPr>
              <a:t>5  EPP</a:t>
            </a:r>
            <a:endParaRPr lang="en-US" sz="1800" dirty="0"/>
          </a:p>
        </p:txBody>
      </p:sp>
      <p:sp>
        <p:nvSpPr>
          <p:cNvPr id="18" name="Text 16"/>
          <p:cNvSpPr txBox="1"/>
          <p:nvPr/>
        </p:nvSpPr>
        <p:spPr>
          <a:xfrm>
            <a:off x="6675120" y="5285232"/>
            <a:ext cx="4937760" cy="731520"/>
          </a:xfrm>
          <a:prstGeom prst="rect">
            <a:avLst/>
          </a:prstGeom>
          <a:noFill/>
          <a:ln/>
        </p:spPr>
        <p:txBody>
          <a:bodyPr wrap="square" lIns="0" tIns="0" rIns="0" bIns="0" rtlCol="0" anchor="ctr"/>
          <a:lstStyle/>
          <a:p>
            <a:pPr indent="0" marL="0">
              <a:buNone/>
            </a:pPr>
            <a:r>
              <a:rPr lang="en-US" sz="1500" dirty="0">
                <a:solidFill>
                  <a:schemeClr val="tx1"/>
                </a:solidFill>
              </a:rPr>
              <a:t>La última barrera: no evita el evento, solo reduce la lesión.</a:t>
            </a:r>
            <a:endParaRPr lang="en-US" sz="1500" dirty="0"/>
          </a:p>
        </p:txBody>
      </p:sp>
      <p:sp>
        <p:nvSpPr>
          <p:cNvPr id="19" name="Text 17"/>
          <p:cNvSpPr txBox="1"/>
          <p:nvPr/>
        </p:nvSpPr>
        <p:spPr>
          <a:xfrm>
            <a:off x="6675120" y="1417320"/>
            <a:ext cx="2743200" cy="274320"/>
          </a:xfrm>
          <a:prstGeom prst="rect">
            <a:avLst/>
          </a:prstGeom>
          <a:noFill/>
          <a:ln/>
        </p:spPr>
        <p:txBody>
          <a:bodyPr wrap="square" lIns="0" tIns="0" rIns="0" bIns="0" rtlCol="0" anchor="t"/>
          <a:lstStyle/>
          <a:p>
            <a:pPr indent="0" marL="0">
              <a:buNone/>
            </a:pPr>
            <a:r>
              <a:rPr lang="en-US" sz="1100" b="1" dirty="0">
                <a:solidFill>
                  <a:schemeClr val="accent3"/>
                </a:solidFill>
              </a:rPr>
              <a:t>Más eficaz ▲</a:t>
            </a:r>
            <a:endParaRPr lang="en-US" sz="1100" dirty="0"/>
          </a:p>
        </p:txBody>
      </p:sp>
      <p:sp>
        <p:nvSpPr>
          <p:cNvPr id="20" name="Text 18"/>
          <p:cNvSpPr txBox="1"/>
          <p:nvPr/>
        </p:nvSpPr>
        <p:spPr>
          <a:xfrm>
            <a:off x="6675120" y="6080760"/>
            <a:ext cx="2743200" cy="274320"/>
          </a:xfrm>
          <a:prstGeom prst="rect">
            <a:avLst/>
          </a:prstGeom>
          <a:noFill/>
          <a:ln/>
        </p:spPr>
        <p:txBody>
          <a:bodyPr wrap="square" lIns="0" tIns="0" rIns="0" bIns="0" rtlCol="0" anchor="t"/>
          <a:lstStyle/>
          <a:p>
            <a:pPr indent="0" marL="0">
              <a:buNone/>
            </a:pPr>
            <a:r>
              <a:rPr lang="en-US" sz="1100" b="1" dirty="0">
                <a:solidFill>
                  <a:schemeClr val="accent2"/>
                </a:solidFill>
              </a:rPr>
              <a:t>Menos eficaz ▼</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3 · RIESGOS CRÍTICOS · 30 MIN</a:t>
            </a:r>
            <a:endParaRPr lang="en-US" sz="1200" dirty="0"/>
          </a:p>
        </p:txBody>
      </p:sp>
      <p:sp>
        <p:nvSpPr>
          <p:cNvPr id="3" name="Text 0"/>
          <p:cNvSpPr/>
          <p:nvPr>
            <p:ph idx="101" type="title" hasCustomPrompt="1"/>
          </p:nvPr>
        </p:nvSpPr>
        <p:spPr>
          <a:xfrm>
            <a:off x="548640" y="1463040"/>
            <a:ext cx="6949440" cy="2377440"/>
          </a:xfrm>
          <a:prstGeom prst="rect">
            <a:avLst/>
          </a:prstGeom>
          <a:noFill/>
          <a:ln/>
        </p:spPr>
        <p:txBody>
          <a:bodyPr wrap="square" lIns="0" tIns="0" rIns="0" bIns="0" rtlCol="0" anchor="t"/>
          <a:lstStyle/>
          <a:p>
            <a:pPr algn="l" indent="0" marL="0">
              <a:buNone/>
            </a:pPr>
            <a:r>
              <a:rPr lang="en-US" sz="4000" b="1" dirty="0">
                <a:solidFill>
                  <a:schemeClr val="bg1"/>
                </a:solidFill>
              </a:rPr>
              <a:t>Si falta un control crítico, el trabajo no parte</a:t>
            </a:r>
            <a:endParaRPr lang="en-US" sz="4000" dirty="0"/>
          </a:p>
        </p:txBody>
      </p:sp>
      <p:sp>
        <p:nvSpPr>
          <p:cNvPr id="4" name="Text 2"/>
          <p:cNvSpPr txBox="1"/>
          <p:nvPr/>
        </p:nvSpPr>
        <p:spPr>
          <a:xfrm>
            <a:off x="548640" y="4114800"/>
            <a:ext cx="6949440" cy="1371600"/>
          </a:xfrm>
          <a:prstGeom prst="rect">
            <a:avLst/>
          </a:prstGeom>
          <a:noFill/>
          <a:ln/>
        </p:spPr>
        <p:txBody>
          <a:bodyPr wrap="square" lIns="0" tIns="0" rIns="0" bIns="0" rtlCol="0" anchor="t"/>
          <a:lstStyle/>
          <a:p>
            <a:pPr indent="0" marL="0">
              <a:spcAft>
                <a:spcPts val="1000"/>
              </a:spcAft>
              <a:buNone/>
            </a:pPr>
            <a:r>
              <a:rPr lang="en-US" sz="1800" b="1" dirty="0">
                <a:solidFill>
                  <a:schemeClr val="accent1"/>
                </a:solidFill>
              </a:rPr>
              <a:t>Riesgo crítico: </a:t>
            </a:r>
            <a:pPr indent="0" marL="0">
              <a:spcAft>
                <a:spcPts val="1000"/>
              </a:spcAft>
              <a:buNone/>
            </a:pPr>
            <a:r>
              <a:rPr lang="en-US" sz="1800" dirty="0">
                <a:solidFill>
                  <a:schemeClr val="bg1"/>
                </a:solidFill>
              </a:rPr>
              <a:t>puede causar una fatalidad o una lesión grave.</a:t>
            </a:r>
            <a:endParaRPr lang="en-US" sz="1800" dirty="0"/>
          </a:p>
          <a:p>
            <a:pPr indent="0" marL="0">
              <a:spcAft>
                <a:spcPts val="1000"/>
              </a:spcAft>
              <a:buNone/>
            </a:pPr>
            <a:r>
              <a:rPr lang="en-US" sz="1800" b="1" dirty="0">
                <a:solidFill>
                  <a:schemeClr val="accent1"/>
                </a:solidFill>
              </a:rPr>
              <a:t>Control crítico: </a:t>
            </a:r>
            <a:pPr indent="0" marL="0">
              <a:spcAft>
                <a:spcPts val="1000"/>
              </a:spcAft>
              <a:buNone/>
            </a:pPr>
            <a:r>
              <a:rPr lang="en-US" sz="1800" dirty="0">
                <a:solidFill>
                  <a:schemeClr val="bg1"/>
                </a:solidFill>
              </a:rPr>
              <a:t>la barrera que, si falta, deja el accidente a un paso.</a:t>
            </a:r>
            <a:endParaRPr lang="en-US" sz="1800" dirty="0"/>
          </a:p>
        </p:txBody>
      </p:sp>
      <p:sp>
        <p:nvSpPr>
          <p:cNvPr id="5" name="icono FaHandPaper"/>
          <p:cNvSpPr/>
          <p:nvPr/>
        </p:nvSpPr>
        <p:spPr>
          <a:xfrm>
            <a:off x="8321040" y="1737360"/>
            <a:ext cx="3017520" cy="3017520"/>
          </a:xfrm>
          <a:prstGeom prst="ellipse">
            <a:avLst/>
          </a:prstGeom>
          <a:solidFill>
            <a:schemeClr val="accent2"/>
          </a:solidFill>
          <a:ln/>
        </p:spPr>
      </p:sp>
      <p:pic>
        <p:nvPicPr>
          <p:cNvPr id="6" name="Image 0" descr="FaHandPaper">    </p:cNvPr>
          <p:cNvPicPr>
            <a:picLocks noChangeAspect="1"/>
          </p:cNvPicPr>
          <p:nvPr/>
        </p:nvPicPr>
        <p:blipFill>
          <a:blip r:embed="rId1"/>
          <a:stretch>
            <a:fillRect/>
          </a:stretch>
        </p:blipFill>
        <p:spPr>
          <a:xfrm>
            <a:off x="9045245" y="2461565"/>
            <a:ext cx="1569110" cy="156911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3 · CONTROLES CRÍTICOS</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Altura, izaje y energías peligrosas</a:t>
            </a:r>
            <a:endParaRPr lang="en-US" sz="3400" dirty="0"/>
          </a:p>
        </p:txBody>
      </p:sp>
      <p:sp>
        <p:nvSpPr>
          <p:cNvPr id="4" name="riesgo 1"/>
          <p:cNvSpPr/>
          <p:nvPr/>
        </p:nvSpPr>
        <p:spPr>
          <a:xfrm>
            <a:off x="548640" y="1783080"/>
            <a:ext cx="3520440" cy="4343400"/>
          </a:xfrm>
          <a:prstGeom prst="roundRect">
            <a:avLst>
              <a:gd name="adj" fmla="val 3117"/>
            </a:avLst>
          </a:prstGeom>
          <a:solidFill>
            <a:schemeClr val="bg2"/>
          </a:solidFill>
          <a:ln/>
        </p:spPr>
      </p:sp>
      <p:sp>
        <p:nvSpPr>
          <p:cNvPr id="5" name="icono FaArrowsAltV"/>
          <p:cNvSpPr/>
          <p:nvPr/>
        </p:nvSpPr>
        <p:spPr>
          <a:xfrm>
            <a:off x="822960" y="2057400"/>
            <a:ext cx="685800" cy="685800"/>
          </a:xfrm>
          <a:prstGeom prst="ellipse">
            <a:avLst/>
          </a:prstGeom>
          <a:solidFill>
            <a:schemeClr val="accent1"/>
          </a:solidFill>
          <a:ln/>
        </p:spPr>
      </p:sp>
      <p:pic>
        <p:nvPicPr>
          <p:cNvPr id="6" name="Image 0" descr="FaArrowsAltV">    </p:cNvPr>
          <p:cNvPicPr>
            <a:picLocks noChangeAspect="1"/>
          </p:cNvPicPr>
          <p:nvPr/>
        </p:nvPicPr>
        <p:blipFill>
          <a:blip r:embed="rId1"/>
          <a:stretch>
            <a:fillRect/>
          </a:stretch>
        </p:blipFill>
        <p:spPr>
          <a:xfrm>
            <a:off x="987552" y="2221992"/>
            <a:ext cx="356616" cy="356616"/>
          </a:xfrm>
          <a:prstGeom prst="rect">
            <a:avLst/>
          </a:prstGeom>
        </p:spPr>
      </p:pic>
      <p:sp>
        <p:nvSpPr>
          <p:cNvPr id="7" name="Text 4"/>
          <p:cNvSpPr txBox="1"/>
          <p:nvPr/>
        </p:nvSpPr>
        <p:spPr>
          <a:xfrm>
            <a:off x="164592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Altura ≥ 1,8 m</a:t>
            </a:r>
            <a:endParaRPr lang="en-US" sz="1800" dirty="0"/>
          </a:p>
        </p:txBody>
      </p:sp>
      <p:sp>
        <p:nvSpPr>
          <p:cNvPr id="8" name="Text 5"/>
          <p:cNvSpPr txBox="1"/>
          <p:nvPr/>
        </p:nvSpPr>
        <p:spPr>
          <a:xfrm>
            <a:off x="82296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Arnés inspeccionado y 100% de conexión</a:t>
            </a:r>
            <a:endParaRPr lang="en-US" sz="1500" dirty="0"/>
          </a:p>
          <a:p>
            <a:pPr marL="342900" indent="-342900">
              <a:spcAft>
                <a:spcPts val="800"/>
              </a:spcAft>
              <a:buSzPct val="100000"/>
              <a:buChar char="•"/>
            </a:pPr>
            <a:r>
              <a:rPr lang="en-US" sz="1500" dirty="0">
                <a:solidFill>
                  <a:schemeClr val="tx1"/>
                </a:solidFill>
              </a:rPr>
              <a:t>Anclaje o línea de vida certificada</a:t>
            </a:r>
            <a:endParaRPr lang="en-US" sz="1500" dirty="0"/>
          </a:p>
          <a:p>
            <a:pPr marL="342900" indent="-342900">
              <a:spcAft>
                <a:spcPts val="800"/>
              </a:spcAft>
              <a:buSzPct val="100000"/>
              <a:buChar char="•"/>
            </a:pPr>
            <a:r>
              <a:rPr lang="en-US" sz="1500" dirty="0">
                <a:solidFill>
                  <a:schemeClr val="tx1"/>
                </a:solidFill>
              </a:rPr>
              <a:t>Andamio con tarjeta verde, plataforma completa y barandas</a:t>
            </a:r>
            <a:endParaRPr lang="en-US" sz="1500" dirty="0"/>
          </a:p>
          <a:p>
            <a:pPr marL="342900" indent="-342900">
              <a:spcAft>
                <a:spcPts val="800"/>
              </a:spcAft>
              <a:buSzPct val="100000"/>
              <a:buChar char="•"/>
            </a:pPr>
            <a:r>
              <a:rPr lang="en-US" sz="1500" dirty="0">
                <a:solidFill>
                  <a:schemeClr val="tx1"/>
                </a:solidFill>
              </a:rPr>
              <a:t>Área inferior segregada; herramientas amarradas</a:t>
            </a:r>
            <a:endParaRPr lang="en-US" sz="1500" dirty="0"/>
          </a:p>
        </p:txBody>
      </p:sp>
      <p:sp>
        <p:nvSpPr>
          <p:cNvPr id="9" name="riesgo 2"/>
          <p:cNvSpPr/>
          <p:nvPr/>
        </p:nvSpPr>
        <p:spPr>
          <a:xfrm>
            <a:off x="4343400" y="1783080"/>
            <a:ext cx="3520440" cy="4343400"/>
          </a:xfrm>
          <a:prstGeom prst="roundRect">
            <a:avLst>
              <a:gd name="adj" fmla="val 3117"/>
            </a:avLst>
          </a:prstGeom>
          <a:solidFill>
            <a:schemeClr val="bg2"/>
          </a:solidFill>
          <a:ln/>
        </p:spPr>
      </p:sp>
      <p:sp>
        <p:nvSpPr>
          <p:cNvPr id="10" name="icono FaWeightHanging"/>
          <p:cNvSpPr/>
          <p:nvPr/>
        </p:nvSpPr>
        <p:spPr>
          <a:xfrm>
            <a:off x="4617720" y="2057400"/>
            <a:ext cx="685800" cy="685800"/>
          </a:xfrm>
          <a:prstGeom prst="ellipse">
            <a:avLst/>
          </a:prstGeom>
          <a:solidFill>
            <a:schemeClr val="accent1"/>
          </a:solidFill>
          <a:ln/>
        </p:spPr>
      </p:sp>
      <p:pic>
        <p:nvPicPr>
          <p:cNvPr id="11" name="Image 1" descr="FaWeightHanging">    </p:cNvPr>
          <p:cNvPicPr>
            <a:picLocks noChangeAspect="1"/>
          </p:cNvPicPr>
          <p:nvPr/>
        </p:nvPicPr>
        <p:blipFill>
          <a:blip r:embed="rId2"/>
          <a:stretch>
            <a:fillRect/>
          </a:stretch>
        </p:blipFill>
        <p:spPr>
          <a:xfrm>
            <a:off x="4782312" y="2221992"/>
            <a:ext cx="356616" cy="356616"/>
          </a:xfrm>
          <a:prstGeom prst="rect">
            <a:avLst/>
          </a:prstGeom>
        </p:spPr>
      </p:pic>
      <p:sp>
        <p:nvSpPr>
          <p:cNvPr id="12" name="Text 8"/>
          <p:cNvSpPr txBox="1"/>
          <p:nvPr/>
        </p:nvSpPr>
        <p:spPr>
          <a:xfrm>
            <a:off x="544068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Izaje de cargas</a:t>
            </a:r>
            <a:endParaRPr lang="en-US" sz="1800" dirty="0"/>
          </a:p>
        </p:txBody>
      </p:sp>
      <p:sp>
        <p:nvSpPr>
          <p:cNvPr id="13" name="Text 9"/>
          <p:cNvSpPr txBox="1"/>
          <p:nvPr/>
        </p:nvSpPr>
        <p:spPr>
          <a:xfrm>
            <a:off x="461772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Plan de izaje; operador y rigger acreditados</a:t>
            </a:r>
            <a:endParaRPr lang="en-US" sz="1500" dirty="0"/>
          </a:p>
          <a:p>
            <a:pPr marL="342900" indent="-342900">
              <a:spcAft>
                <a:spcPts val="800"/>
              </a:spcAft>
              <a:buSzPct val="100000"/>
              <a:buChar char="•"/>
            </a:pPr>
            <a:r>
              <a:rPr lang="en-US" sz="1500" dirty="0">
                <a:solidFill>
                  <a:schemeClr val="tx1"/>
                </a:solidFill>
              </a:rPr>
              <a:t>Elementos inspeccionados, con color del mes y capacidad conocida</a:t>
            </a:r>
            <a:endParaRPr lang="en-US" sz="1500" dirty="0"/>
          </a:p>
          <a:p>
            <a:pPr marL="342900" indent="-342900">
              <a:spcAft>
                <a:spcPts val="800"/>
              </a:spcAft>
              <a:buSzPct val="100000"/>
              <a:buChar char="•"/>
            </a:pPr>
            <a:r>
              <a:rPr lang="en-US" sz="1500" dirty="0">
                <a:solidFill>
                  <a:schemeClr val="tx1"/>
                </a:solidFill>
              </a:rPr>
              <a:t>Nadie bajo la carga suspendida</a:t>
            </a:r>
            <a:endParaRPr lang="en-US" sz="1500" dirty="0"/>
          </a:p>
          <a:p>
            <a:pPr marL="342900" indent="-342900">
              <a:spcAft>
                <a:spcPts val="800"/>
              </a:spcAft>
              <a:buSzPct val="100000"/>
              <a:buChar char="•"/>
            </a:pPr>
            <a:r>
              <a:rPr lang="en-US" sz="1500" dirty="0">
                <a:solidFill>
                  <a:schemeClr val="tx1"/>
                </a:solidFill>
              </a:rPr>
              <a:t>Uso de vientos; detener con viento fuera de rango</a:t>
            </a:r>
            <a:endParaRPr lang="en-US" sz="1500" dirty="0"/>
          </a:p>
        </p:txBody>
      </p:sp>
      <p:sp>
        <p:nvSpPr>
          <p:cNvPr id="14" name="riesgo 3"/>
          <p:cNvSpPr/>
          <p:nvPr/>
        </p:nvSpPr>
        <p:spPr>
          <a:xfrm>
            <a:off x="8138160" y="1783080"/>
            <a:ext cx="3520440" cy="4343400"/>
          </a:xfrm>
          <a:prstGeom prst="roundRect">
            <a:avLst>
              <a:gd name="adj" fmla="val 3117"/>
            </a:avLst>
          </a:prstGeom>
          <a:solidFill>
            <a:schemeClr val="bg2"/>
          </a:solidFill>
          <a:ln/>
        </p:spPr>
      </p:sp>
      <p:sp>
        <p:nvSpPr>
          <p:cNvPr id="15" name="icono FaBolt"/>
          <p:cNvSpPr/>
          <p:nvPr/>
        </p:nvSpPr>
        <p:spPr>
          <a:xfrm>
            <a:off x="8412480" y="2057400"/>
            <a:ext cx="685800" cy="685800"/>
          </a:xfrm>
          <a:prstGeom prst="ellipse">
            <a:avLst/>
          </a:prstGeom>
          <a:solidFill>
            <a:schemeClr val="accent1"/>
          </a:solidFill>
          <a:ln/>
        </p:spPr>
      </p:sp>
      <p:pic>
        <p:nvPicPr>
          <p:cNvPr id="16" name="Image 2" descr="FaBolt">    </p:cNvPr>
          <p:cNvPicPr>
            <a:picLocks noChangeAspect="1"/>
          </p:cNvPicPr>
          <p:nvPr/>
        </p:nvPicPr>
        <p:blipFill>
          <a:blip r:embed="rId3"/>
          <a:stretch>
            <a:fillRect/>
          </a:stretch>
        </p:blipFill>
        <p:spPr>
          <a:xfrm>
            <a:off x="8577072" y="2221992"/>
            <a:ext cx="356616" cy="356616"/>
          </a:xfrm>
          <a:prstGeom prst="rect">
            <a:avLst/>
          </a:prstGeom>
        </p:spPr>
      </p:pic>
      <p:sp>
        <p:nvSpPr>
          <p:cNvPr id="17" name="Text 12"/>
          <p:cNvSpPr txBox="1"/>
          <p:nvPr/>
        </p:nvSpPr>
        <p:spPr>
          <a:xfrm>
            <a:off x="923544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Energías peligrosas</a:t>
            </a:r>
            <a:endParaRPr lang="en-US" sz="1800" dirty="0"/>
          </a:p>
        </p:txBody>
      </p:sp>
      <p:sp>
        <p:nvSpPr>
          <p:cNvPr id="18" name="Text 13"/>
          <p:cNvSpPr txBox="1"/>
          <p:nvPr/>
        </p:nvSpPr>
        <p:spPr>
          <a:xfrm>
            <a:off x="841248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Aislamiento, bloqueo y tarjeta personal de cada trabajador</a:t>
            </a:r>
            <a:endParaRPr lang="en-US" sz="1500" dirty="0"/>
          </a:p>
          <a:p>
            <a:pPr marL="342900" indent="-342900">
              <a:spcAft>
                <a:spcPts val="800"/>
              </a:spcAft>
              <a:buSzPct val="100000"/>
              <a:buChar char="•"/>
            </a:pPr>
            <a:r>
              <a:rPr lang="en-US" sz="1500" dirty="0">
                <a:solidFill>
                  <a:schemeClr val="tx1"/>
                </a:solidFill>
              </a:rPr>
              <a:t>Verificar energía cero antes de intervenir</a:t>
            </a:r>
            <a:endParaRPr lang="en-US" sz="1500" dirty="0"/>
          </a:p>
          <a:p>
            <a:pPr marL="342900" indent="-342900">
              <a:spcAft>
                <a:spcPts val="800"/>
              </a:spcAft>
              <a:buSzPct val="100000"/>
              <a:buChar char="•"/>
            </a:pPr>
            <a:r>
              <a:rPr lang="en-US" sz="1500" dirty="0">
                <a:solidFill>
                  <a:schemeClr val="tx1"/>
                </a:solidFill>
              </a:rPr>
              <a:t>Considerar energía eléctrica, hidráulica, neumática, mecánica y térmica</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3 · CONTROLES CRÍTICOS</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Caliente, confinados y equipos móviles</a:t>
            </a:r>
            <a:endParaRPr lang="en-US" sz="3400" dirty="0"/>
          </a:p>
        </p:txBody>
      </p:sp>
      <p:sp>
        <p:nvSpPr>
          <p:cNvPr id="4" name="riesgo 1"/>
          <p:cNvSpPr/>
          <p:nvPr/>
        </p:nvSpPr>
        <p:spPr>
          <a:xfrm>
            <a:off x="548640" y="1783080"/>
            <a:ext cx="3520440" cy="4343400"/>
          </a:xfrm>
          <a:prstGeom prst="roundRect">
            <a:avLst>
              <a:gd name="adj" fmla="val 3117"/>
            </a:avLst>
          </a:prstGeom>
          <a:solidFill>
            <a:schemeClr val="bg2"/>
          </a:solidFill>
          <a:ln/>
        </p:spPr>
      </p:sp>
      <p:sp>
        <p:nvSpPr>
          <p:cNvPr id="5" name="icono FaFire"/>
          <p:cNvSpPr/>
          <p:nvPr/>
        </p:nvSpPr>
        <p:spPr>
          <a:xfrm>
            <a:off x="822960" y="2057400"/>
            <a:ext cx="685800" cy="685800"/>
          </a:xfrm>
          <a:prstGeom prst="ellipse">
            <a:avLst/>
          </a:prstGeom>
          <a:solidFill>
            <a:schemeClr val="accent1"/>
          </a:solidFill>
          <a:ln/>
        </p:spPr>
      </p:sp>
      <p:pic>
        <p:nvPicPr>
          <p:cNvPr id="6" name="Image 0" descr="FaFire">    </p:cNvPr>
          <p:cNvPicPr>
            <a:picLocks noChangeAspect="1"/>
          </p:cNvPicPr>
          <p:nvPr/>
        </p:nvPicPr>
        <p:blipFill>
          <a:blip r:embed="rId1"/>
          <a:stretch>
            <a:fillRect/>
          </a:stretch>
        </p:blipFill>
        <p:spPr>
          <a:xfrm>
            <a:off x="987552" y="2221992"/>
            <a:ext cx="356616" cy="356616"/>
          </a:xfrm>
          <a:prstGeom prst="rect">
            <a:avLst/>
          </a:prstGeom>
        </p:spPr>
      </p:pic>
      <p:sp>
        <p:nvSpPr>
          <p:cNvPr id="7" name="Text 4"/>
          <p:cNvSpPr txBox="1"/>
          <p:nvPr/>
        </p:nvSpPr>
        <p:spPr>
          <a:xfrm>
            <a:off x="164592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Trabajos en caliente</a:t>
            </a:r>
            <a:endParaRPr lang="en-US" sz="1800" dirty="0"/>
          </a:p>
        </p:txBody>
      </p:sp>
      <p:sp>
        <p:nvSpPr>
          <p:cNvPr id="8" name="Text 5"/>
          <p:cNvSpPr txBox="1"/>
          <p:nvPr/>
        </p:nvSpPr>
        <p:spPr>
          <a:xfrm>
            <a:off x="82296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Permiso de trabajo en caliente vigente</a:t>
            </a:r>
            <a:endParaRPr lang="en-US" sz="1500" dirty="0"/>
          </a:p>
          <a:p>
            <a:pPr marL="342900" indent="-342900">
              <a:spcAft>
                <a:spcPts val="800"/>
              </a:spcAft>
              <a:buSzPct val="100000"/>
              <a:buChar char="•"/>
            </a:pPr>
            <a:r>
              <a:rPr lang="en-US" sz="1500" dirty="0">
                <a:solidFill>
                  <a:schemeClr val="tx1"/>
                </a:solidFill>
              </a:rPr>
              <a:t>Retiro de combustibles y mantas ignífugas</a:t>
            </a:r>
            <a:endParaRPr lang="en-US" sz="1500" dirty="0"/>
          </a:p>
          <a:p>
            <a:pPr marL="342900" indent="-342900">
              <a:spcAft>
                <a:spcPts val="800"/>
              </a:spcAft>
              <a:buSzPct val="100000"/>
              <a:buChar char="•"/>
            </a:pPr>
            <a:r>
              <a:rPr lang="en-US" sz="1500" dirty="0">
                <a:solidFill>
                  <a:schemeClr val="tx1"/>
                </a:solidFill>
              </a:rPr>
              <a:t>Extintor operativo</a:t>
            </a:r>
            <a:endParaRPr lang="en-US" sz="1500" dirty="0"/>
          </a:p>
          <a:p>
            <a:pPr marL="342900" indent="-342900">
              <a:spcAft>
                <a:spcPts val="800"/>
              </a:spcAft>
              <a:buSzPct val="100000"/>
              <a:buChar char="•"/>
            </a:pPr>
            <a:r>
              <a:rPr lang="en-US" sz="1500" dirty="0">
                <a:solidFill>
                  <a:schemeClr val="tx1"/>
                </a:solidFill>
              </a:rPr>
              <a:t>Vigía de fuego durante y después de la tarea</a:t>
            </a:r>
            <a:endParaRPr lang="en-US" sz="1500" dirty="0"/>
          </a:p>
        </p:txBody>
      </p:sp>
      <p:sp>
        <p:nvSpPr>
          <p:cNvPr id="9" name="riesgo 2"/>
          <p:cNvSpPr/>
          <p:nvPr/>
        </p:nvSpPr>
        <p:spPr>
          <a:xfrm>
            <a:off x="4343400" y="1783080"/>
            <a:ext cx="3520440" cy="4343400"/>
          </a:xfrm>
          <a:prstGeom prst="roundRect">
            <a:avLst>
              <a:gd name="adj" fmla="val 3117"/>
            </a:avLst>
          </a:prstGeom>
          <a:solidFill>
            <a:schemeClr val="bg2"/>
          </a:solidFill>
          <a:ln/>
        </p:spPr>
      </p:sp>
      <p:sp>
        <p:nvSpPr>
          <p:cNvPr id="10" name="icono FaDoorOpen"/>
          <p:cNvSpPr/>
          <p:nvPr/>
        </p:nvSpPr>
        <p:spPr>
          <a:xfrm>
            <a:off x="4617720" y="2057400"/>
            <a:ext cx="685800" cy="685800"/>
          </a:xfrm>
          <a:prstGeom prst="ellipse">
            <a:avLst/>
          </a:prstGeom>
          <a:solidFill>
            <a:schemeClr val="accent1"/>
          </a:solidFill>
          <a:ln/>
        </p:spPr>
      </p:sp>
      <p:pic>
        <p:nvPicPr>
          <p:cNvPr id="11" name="Image 1" descr="FaDoorOpen">    </p:cNvPr>
          <p:cNvPicPr>
            <a:picLocks noChangeAspect="1"/>
          </p:cNvPicPr>
          <p:nvPr/>
        </p:nvPicPr>
        <p:blipFill>
          <a:blip r:embed="rId2"/>
          <a:stretch>
            <a:fillRect/>
          </a:stretch>
        </p:blipFill>
        <p:spPr>
          <a:xfrm>
            <a:off x="4782312" y="2221992"/>
            <a:ext cx="356616" cy="356616"/>
          </a:xfrm>
          <a:prstGeom prst="rect">
            <a:avLst/>
          </a:prstGeom>
        </p:spPr>
      </p:pic>
      <p:sp>
        <p:nvSpPr>
          <p:cNvPr id="12" name="Text 8"/>
          <p:cNvSpPr txBox="1"/>
          <p:nvPr/>
        </p:nvSpPr>
        <p:spPr>
          <a:xfrm>
            <a:off x="544068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Espacios confinados</a:t>
            </a:r>
            <a:endParaRPr lang="en-US" sz="1800" dirty="0"/>
          </a:p>
        </p:txBody>
      </p:sp>
      <p:sp>
        <p:nvSpPr>
          <p:cNvPr id="13" name="Text 9"/>
          <p:cNvSpPr txBox="1"/>
          <p:nvPr/>
        </p:nvSpPr>
        <p:spPr>
          <a:xfrm>
            <a:off x="461772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Permiso de ingreso</a:t>
            </a:r>
            <a:endParaRPr lang="en-US" sz="1500" dirty="0"/>
          </a:p>
          <a:p>
            <a:pPr marL="342900" indent="-342900">
              <a:spcAft>
                <a:spcPts val="800"/>
              </a:spcAft>
              <a:buSzPct val="100000"/>
              <a:buChar char="•"/>
            </a:pPr>
            <a:r>
              <a:rPr lang="en-US" sz="1500" dirty="0">
                <a:solidFill>
                  <a:schemeClr val="tx1"/>
                </a:solidFill>
              </a:rPr>
              <a:t>Medición de atmósfera: O₂, gases inflamables y tóxicos</a:t>
            </a:r>
            <a:endParaRPr lang="en-US" sz="1500" dirty="0"/>
          </a:p>
          <a:p>
            <a:pPr marL="342900" indent="-342900">
              <a:spcAft>
                <a:spcPts val="800"/>
              </a:spcAft>
              <a:buSzPct val="100000"/>
              <a:buChar char="•"/>
            </a:pPr>
            <a:r>
              <a:rPr lang="en-US" sz="1500" dirty="0">
                <a:solidFill>
                  <a:schemeClr val="tx1"/>
                </a:solidFill>
              </a:rPr>
              <a:t>Vigía permanente en el acceso</a:t>
            </a:r>
            <a:endParaRPr lang="en-US" sz="1500" dirty="0"/>
          </a:p>
          <a:p>
            <a:pPr marL="342900" indent="-342900">
              <a:spcAft>
                <a:spcPts val="800"/>
              </a:spcAft>
              <a:buSzPct val="100000"/>
              <a:buChar char="•"/>
            </a:pPr>
            <a:r>
              <a:rPr lang="en-US" sz="1500" dirty="0">
                <a:solidFill>
                  <a:schemeClr val="tx1"/>
                </a:solidFill>
              </a:rPr>
              <a:t>Plan de rescate definido antes de entrar</a:t>
            </a:r>
            <a:endParaRPr lang="en-US" sz="1500" dirty="0"/>
          </a:p>
        </p:txBody>
      </p:sp>
      <p:sp>
        <p:nvSpPr>
          <p:cNvPr id="14" name="riesgo 3"/>
          <p:cNvSpPr/>
          <p:nvPr/>
        </p:nvSpPr>
        <p:spPr>
          <a:xfrm>
            <a:off x="8138160" y="1783080"/>
            <a:ext cx="3520440" cy="4343400"/>
          </a:xfrm>
          <a:prstGeom prst="roundRect">
            <a:avLst>
              <a:gd name="adj" fmla="val 3117"/>
            </a:avLst>
          </a:prstGeom>
          <a:solidFill>
            <a:schemeClr val="bg2"/>
          </a:solidFill>
          <a:ln/>
        </p:spPr>
      </p:sp>
      <p:sp>
        <p:nvSpPr>
          <p:cNvPr id="15" name="icono FaTruck"/>
          <p:cNvSpPr/>
          <p:nvPr/>
        </p:nvSpPr>
        <p:spPr>
          <a:xfrm>
            <a:off x="8412480" y="2057400"/>
            <a:ext cx="685800" cy="685800"/>
          </a:xfrm>
          <a:prstGeom prst="ellipse">
            <a:avLst/>
          </a:prstGeom>
          <a:solidFill>
            <a:schemeClr val="accent1"/>
          </a:solidFill>
          <a:ln/>
        </p:spPr>
      </p:sp>
      <p:pic>
        <p:nvPicPr>
          <p:cNvPr id="16" name="Image 2" descr="FaTruck">    </p:cNvPr>
          <p:cNvPicPr>
            <a:picLocks noChangeAspect="1"/>
          </p:cNvPicPr>
          <p:nvPr/>
        </p:nvPicPr>
        <p:blipFill>
          <a:blip r:embed="rId3"/>
          <a:stretch>
            <a:fillRect/>
          </a:stretch>
        </p:blipFill>
        <p:spPr>
          <a:xfrm>
            <a:off x="8577072" y="2221992"/>
            <a:ext cx="356616" cy="356616"/>
          </a:xfrm>
          <a:prstGeom prst="rect">
            <a:avLst/>
          </a:prstGeom>
        </p:spPr>
      </p:pic>
      <p:sp>
        <p:nvSpPr>
          <p:cNvPr id="17" name="Text 12"/>
          <p:cNvSpPr txBox="1"/>
          <p:nvPr/>
        </p:nvSpPr>
        <p:spPr>
          <a:xfrm>
            <a:off x="9235440" y="2057400"/>
            <a:ext cx="2194560" cy="685800"/>
          </a:xfrm>
          <a:prstGeom prst="rect">
            <a:avLst/>
          </a:prstGeom>
          <a:noFill/>
          <a:ln/>
        </p:spPr>
        <p:txBody>
          <a:bodyPr wrap="square" lIns="0" tIns="0" rIns="0" bIns="0" rtlCol="0" anchor="ctr"/>
          <a:lstStyle/>
          <a:p>
            <a:pPr indent="0" marL="0">
              <a:buNone/>
            </a:pPr>
            <a:r>
              <a:rPr lang="en-US" sz="1800" b="1" dirty="0">
                <a:solidFill>
                  <a:schemeClr val="tx1"/>
                </a:solidFill>
              </a:rPr>
              <a:t>Equipos móviles</a:t>
            </a:r>
            <a:endParaRPr lang="en-US" sz="1800" dirty="0"/>
          </a:p>
        </p:txBody>
      </p:sp>
      <p:sp>
        <p:nvSpPr>
          <p:cNvPr id="18" name="Text 13"/>
          <p:cNvSpPr txBox="1"/>
          <p:nvPr/>
        </p:nvSpPr>
        <p:spPr>
          <a:xfrm>
            <a:off x="8412480" y="2971800"/>
            <a:ext cx="3017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Segregación entre peatones y equipos</a:t>
            </a:r>
            <a:endParaRPr lang="en-US" sz="1500" dirty="0"/>
          </a:p>
          <a:p>
            <a:pPr marL="342900" indent="-342900">
              <a:spcAft>
                <a:spcPts val="800"/>
              </a:spcAft>
              <a:buSzPct val="100000"/>
              <a:buChar char="•"/>
            </a:pPr>
            <a:r>
              <a:rPr lang="en-US" sz="1500" dirty="0">
                <a:solidFill>
                  <a:schemeClr val="tx1"/>
                </a:solidFill>
              </a:rPr>
              <a:t>Contacto visual con el operador antes de acercarse</a:t>
            </a:r>
            <a:endParaRPr lang="en-US" sz="1500" dirty="0"/>
          </a:p>
          <a:p>
            <a:pPr marL="342900" indent="-342900">
              <a:spcAft>
                <a:spcPts val="800"/>
              </a:spcAft>
              <a:buSzPct val="100000"/>
              <a:buChar char="•"/>
            </a:pPr>
            <a:r>
              <a:rPr lang="en-US" sz="1500" dirty="0">
                <a:solidFill>
                  <a:schemeClr val="tx1"/>
                </a:solidFill>
              </a:rPr>
              <a:t>No ubicarse en puntos ciegos ni en la línea de fuego</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3 · EJERCICIO · 10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¿Parte o no parte?</a:t>
            </a:r>
            <a:endParaRPr lang="en-US" sz="3400" dirty="0"/>
          </a:p>
        </p:txBody>
      </p:sp>
      <p:sp>
        <p:nvSpPr>
          <p:cNvPr id="4" name="tarjeta verde"/>
          <p:cNvSpPr/>
          <p:nvPr/>
        </p:nvSpPr>
        <p:spPr>
          <a:xfrm>
            <a:off x="548640" y="1783080"/>
            <a:ext cx="5394960" cy="2194560"/>
          </a:xfrm>
          <a:prstGeom prst="roundRect">
            <a:avLst>
              <a:gd name="adj" fmla="val 5000"/>
            </a:avLst>
          </a:prstGeom>
          <a:solidFill>
            <a:schemeClr val="accent3"/>
          </a:solidFill>
          <a:ln/>
        </p:spPr>
      </p:sp>
      <p:sp>
        <p:nvSpPr>
          <p:cNvPr id="5" name="icono FaCheckCircle"/>
          <p:cNvSpPr/>
          <p:nvPr/>
        </p:nvSpPr>
        <p:spPr>
          <a:xfrm>
            <a:off x="868680" y="2148840"/>
            <a:ext cx="822960" cy="822960"/>
          </a:xfrm>
          <a:prstGeom prst="ellipse">
            <a:avLst/>
          </a:prstGeom>
          <a:solidFill>
            <a:schemeClr val="bg1"/>
          </a:solidFill>
          <a:ln/>
        </p:spPr>
      </p:sp>
      <p:pic>
        <p:nvPicPr>
          <p:cNvPr id="6" name="Image 0" descr="FaCheckCircle">    </p:cNvPr>
          <p:cNvPicPr>
            <a:picLocks noChangeAspect="1"/>
          </p:cNvPicPr>
          <p:nvPr/>
        </p:nvPicPr>
        <p:blipFill>
          <a:blip r:embed="rId1"/>
          <a:stretch>
            <a:fillRect/>
          </a:stretch>
        </p:blipFill>
        <p:spPr>
          <a:xfrm>
            <a:off x="1066190" y="2346350"/>
            <a:ext cx="427939" cy="427939"/>
          </a:xfrm>
          <a:prstGeom prst="rect">
            <a:avLst/>
          </a:prstGeom>
        </p:spPr>
      </p:pic>
      <p:sp>
        <p:nvSpPr>
          <p:cNvPr id="7" name="Text 4"/>
          <p:cNvSpPr txBox="1"/>
          <p:nvPr/>
        </p:nvSpPr>
        <p:spPr>
          <a:xfrm>
            <a:off x="1965960" y="2103120"/>
            <a:ext cx="3749040" cy="1645920"/>
          </a:xfrm>
          <a:prstGeom prst="rect">
            <a:avLst/>
          </a:prstGeom>
          <a:noFill/>
          <a:ln/>
        </p:spPr>
        <p:txBody>
          <a:bodyPr wrap="square" lIns="0" tIns="0" rIns="0" bIns="0" rtlCol="0" anchor="ctr"/>
          <a:lstStyle/>
          <a:p>
            <a:pPr indent="0" marL="0">
              <a:buNone/>
            </a:pPr>
            <a:r>
              <a:rPr lang="en-US" sz="2800" b="1" dirty="0">
                <a:solidFill>
                  <a:schemeClr val="bg1"/>
                </a:solidFill>
              </a:rPr>
              <a:t>PARTE</a:t>
            </a:r>
            <a:endParaRPr lang="en-US" sz="2800" dirty="0"/>
          </a:p>
          <a:p>
            <a:pPr indent="0" marL="0">
              <a:buNone/>
            </a:pPr>
            <a:r>
              <a:rPr lang="en-US" sz="1600" dirty="0">
                <a:solidFill>
                  <a:schemeClr val="bg1"/>
                </a:solidFill>
              </a:rPr>
              <a:t>Todos los controles críticos están presentes.</a:t>
            </a:r>
            <a:endParaRPr lang="en-US" sz="2800" dirty="0"/>
          </a:p>
        </p:txBody>
      </p:sp>
      <p:sp>
        <p:nvSpPr>
          <p:cNvPr id="8" name="tarjeta roja"/>
          <p:cNvSpPr/>
          <p:nvPr/>
        </p:nvSpPr>
        <p:spPr>
          <a:xfrm>
            <a:off x="6217920" y="1783080"/>
            <a:ext cx="5394960" cy="2194560"/>
          </a:xfrm>
          <a:prstGeom prst="roundRect">
            <a:avLst>
              <a:gd name="adj" fmla="val 5000"/>
            </a:avLst>
          </a:prstGeom>
          <a:solidFill>
            <a:schemeClr val="accent2"/>
          </a:solidFill>
          <a:ln/>
        </p:spPr>
      </p:sp>
      <p:sp>
        <p:nvSpPr>
          <p:cNvPr id="9" name="icono FaTimesCircle"/>
          <p:cNvSpPr/>
          <p:nvPr/>
        </p:nvSpPr>
        <p:spPr>
          <a:xfrm>
            <a:off x="6537960" y="2148840"/>
            <a:ext cx="822960" cy="822960"/>
          </a:xfrm>
          <a:prstGeom prst="ellipse">
            <a:avLst/>
          </a:prstGeom>
          <a:solidFill>
            <a:schemeClr val="bg1"/>
          </a:solidFill>
          <a:ln/>
        </p:spPr>
      </p:sp>
      <p:pic>
        <p:nvPicPr>
          <p:cNvPr id="10" name="Image 1" descr="FaTimesCircle">    </p:cNvPr>
          <p:cNvPicPr>
            <a:picLocks noChangeAspect="1"/>
          </p:cNvPicPr>
          <p:nvPr/>
        </p:nvPicPr>
        <p:blipFill>
          <a:blip r:embed="rId2"/>
          <a:stretch>
            <a:fillRect/>
          </a:stretch>
        </p:blipFill>
        <p:spPr>
          <a:xfrm>
            <a:off x="6735470" y="2346350"/>
            <a:ext cx="427939" cy="427939"/>
          </a:xfrm>
          <a:prstGeom prst="rect">
            <a:avLst/>
          </a:prstGeom>
        </p:spPr>
      </p:pic>
      <p:sp>
        <p:nvSpPr>
          <p:cNvPr id="11" name="Text 7"/>
          <p:cNvSpPr txBox="1"/>
          <p:nvPr/>
        </p:nvSpPr>
        <p:spPr>
          <a:xfrm>
            <a:off x="7635240" y="2103120"/>
            <a:ext cx="3749040" cy="1645920"/>
          </a:xfrm>
          <a:prstGeom prst="rect">
            <a:avLst/>
          </a:prstGeom>
          <a:noFill/>
          <a:ln/>
        </p:spPr>
        <p:txBody>
          <a:bodyPr wrap="square" lIns="0" tIns="0" rIns="0" bIns="0" rtlCol="0" anchor="ctr"/>
          <a:lstStyle/>
          <a:p>
            <a:pPr indent="0" marL="0">
              <a:buNone/>
            </a:pPr>
            <a:r>
              <a:rPr lang="en-US" sz="2800" b="1" dirty="0">
                <a:solidFill>
                  <a:schemeClr val="bg1"/>
                </a:solidFill>
              </a:rPr>
              <a:t>NO PARTE</a:t>
            </a:r>
            <a:endParaRPr lang="en-US" sz="2800" dirty="0"/>
          </a:p>
          <a:p>
            <a:pPr indent="0" marL="0">
              <a:buNone/>
            </a:pPr>
            <a:r>
              <a:rPr lang="en-US" sz="1600" dirty="0">
                <a:solidFill>
                  <a:schemeClr val="bg1"/>
                </a:solidFill>
              </a:rPr>
              <a:t>Falta al menos un control crítico.</a:t>
            </a:r>
            <a:endParaRPr lang="en-US" sz="2800" dirty="0"/>
          </a:p>
        </p:txBody>
      </p:sp>
      <p:sp>
        <p:nvSpPr>
          <p:cNvPr id="12" name="paso 1"/>
          <p:cNvSpPr/>
          <p:nvPr/>
        </p:nvSpPr>
        <p:spPr>
          <a:xfrm>
            <a:off x="548640" y="4206240"/>
            <a:ext cx="3505200" cy="1920240"/>
          </a:xfrm>
          <a:prstGeom prst="roundRect">
            <a:avLst>
              <a:gd name="adj" fmla="val 5714"/>
            </a:avLst>
          </a:prstGeom>
          <a:solidFill>
            <a:schemeClr val="bg2"/>
          </a:solidFill>
          <a:ln/>
        </p:spPr>
      </p:sp>
      <p:sp>
        <p:nvSpPr>
          <p:cNvPr id="13" name="numero 1"/>
          <p:cNvSpPr/>
          <p:nvPr/>
        </p:nvSpPr>
        <p:spPr>
          <a:xfrm>
            <a:off x="777240" y="4434840"/>
            <a:ext cx="502920" cy="502920"/>
          </a:xfrm>
          <a:prstGeom prst="ellipse">
            <a:avLst/>
          </a:prstGeom>
          <a:solidFill>
            <a:schemeClr val="accent1"/>
          </a:solidFill>
          <a:ln/>
        </p:spPr>
      </p:sp>
      <p:sp>
        <p:nvSpPr>
          <p:cNvPr id="14" name="Text 10"/>
          <p:cNvSpPr txBox="1"/>
          <p:nvPr/>
        </p:nvSpPr>
        <p:spPr>
          <a:xfrm>
            <a:off x="777240" y="44348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5" name="Text 11"/>
          <p:cNvSpPr txBox="1"/>
          <p:nvPr/>
        </p:nvSpPr>
        <p:spPr>
          <a:xfrm>
            <a:off x="777240" y="5120640"/>
            <a:ext cx="3048000" cy="8229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El relator muestra</a:t>
            </a:r>
            <a:endParaRPr lang="en-US" sz="1700" dirty="0"/>
          </a:p>
          <a:p>
            <a:pPr indent="0" marL="0">
              <a:spcAft>
                <a:spcPts val="600"/>
              </a:spcAft>
              <a:buNone/>
            </a:pPr>
            <a:r>
              <a:rPr lang="en-US" sz="1400" dirty="0">
                <a:solidFill>
                  <a:schemeClr val="tx2"/>
                </a:solidFill>
              </a:rPr>
              <a:t>una foto o describe una escena real de terreno.</a:t>
            </a:r>
            <a:endParaRPr lang="en-US" sz="1700" dirty="0"/>
          </a:p>
        </p:txBody>
      </p:sp>
      <p:sp>
        <p:nvSpPr>
          <p:cNvPr id="16" name="paso 2"/>
          <p:cNvSpPr/>
          <p:nvPr/>
        </p:nvSpPr>
        <p:spPr>
          <a:xfrm>
            <a:off x="4328160" y="4206240"/>
            <a:ext cx="3505200" cy="1920240"/>
          </a:xfrm>
          <a:prstGeom prst="roundRect">
            <a:avLst>
              <a:gd name="adj" fmla="val 5714"/>
            </a:avLst>
          </a:prstGeom>
          <a:solidFill>
            <a:schemeClr val="bg2"/>
          </a:solidFill>
          <a:ln/>
        </p:spPr>
      </p:sp>
      <p:sp>
        <p:nvSpPr>
          <p:cNvPr id="17" name="numero 2"/>
          <p:cNvSpPr/>
          <p:nvPr/>
        </p:nvSpPr>
        <p:spPr>
          <a:xfrm>
            <a:off x="4556760" y="4434840"/>
            <a:ext cx="502920" cy="502920"/>
          </a:xfrm>
          <a:prstGeom prst="ellipse">
            <a:avLst/>
          </a:prstGeom>
          <a:solidFill>
            <a:schemeClr val="accent1"/>
          </a:solidFill>
          <a:ln/>
        </p:spPr>
      </p:sp>
      <p:sp>
        <p:nvSpPr>
          <p:cNvPr id="18" name="Text 14"/>
          <p:cNvSpPr txBox="1"/>
          <p:nvPr/>
        </p:nvSpPr>
        <p:spPr>
          <a:xfrm>
            <a:off x="4556760" y="44348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9" name="Text 15"/>
          <p:cNvSpPr txBox="1"/>
          <p:nvPr/>
        </p:nvSpPr>
        <p:spPr>
          <a:xfrm>
            <a:off x="4556760" y="5120640"/>
            <a:ext cx="3048000" cy="8229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Todos levantan</a:t>
            </a:r>
            <a:endParaRPr lang="en-US" sz="1700" dirty="0"/>
          </a:p>
          <a:p>
            <a:pPr indent="0" marL="0">
              <a:spcAft>
                <a:spcPts val="600"/>
              </a:spcAft>
              <a:buNone/>
            </a:pPr>
            <a:r>
              <a:rPr lang="en-US" sz="1400" dirty="0">
                <a:solidFill>
                  <a:schemeClr val="tx2"/>
                </a:solidFill>
              </a:rPr>
              <a:t>la tarjeta verde o roja al mismo tiempo.</a:t>
            </a:r>
            <a:endParaRPr lang="en-US" sz="1700" dirty="0"/>
          </a:p>
        </p:txBody>
      </p:sp>
      <p:sp>
        <p:nvSpPr>
          <p:cNvPr id="20" name="paso 3"/>
          <p:cNvSpPr/>
          <p:nvPr/>
        </p:nvSpPr>
        <p:spPr>
          <a:xfrm>
            <a:off x="8107680" y="4206240"/>
            <a:ext cx="3505200" cy="1920240"/>
          </a:xfrm>
          <a:prstGeom prst="roundRect">
            <a:avLst>
              <a:gd name="adj" fmla="val 5714"/>
            </a:avLst>
          </a:prstGeom>
          <a:solidFill>
            <a:schemeClr val="bg2"/>
          </a:solidFill>
          <a:ln/>
        </p:spPr>
      </p:sp>
      <p:sp>
        <p:nvSpPr>
          <p:cNvPr id="21" name="numero 3"/>
          <p:cNvSpPr/>
          <p:nvPr/>
        </p:nvSpPr>
        <p:spPr>
          <a:xfrm>
            <a:off x="8336280" y="4434840"/>
            <a:ext cx="502920" cy="502920"/>
          </a:xfrm>
          <a:prstGeom prst="ellipse">
            <a:avLst/>
          </a:prstGeom>
          <a:solidFill>
            <a:schemeClr val="accent1"/>
          </a:solidFill>
          <a:ln/>
        </p:spPr>
      </p:sp>
      <p:sp>
        <p:nvSpPr>
          <p:cNvPr id="22" name="Text 18"/>
          <p:cNvSpPr txBox="1"/>
          <p:nvPr/>
        </p:nvSpPr>
        <p:spPr>
          <a:xfrm>
            <a:off x="8336280" y="443484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3" name="Text 19"/>
          <p:cNvSpPr txBox="1"/>
          <p:nvPr/>
        </p:nvSpPr>
        <p:spPr>
          <a:xfrm>
            <a:off x="8336280" y="5120640"/>
            <a:ext cx="3048000" cy="8229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Se justifica</a:t>
            </a:r>
            <a:endParaRPr lang="en-US" sz="1700" dirty="0"/>
          </a:p>
          <a:p>
            <a:pPr indent="0" marL="0">
              <a:spcAft>
                <a:spcPts val="600"/>
              </a:spcAft>
              <a:buNone/>
            </a:pPr>
            <a:r>
              <a:rPr lang="en-US" sz="1400" dirty="0">
                <a:solidFill>
                  <a:schemeClr val="tx2"/>
                </a:solidFill>
              </a:rPr>
              <a:t>qué control crítico falta y cómo se corrige.</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4 · HERRAMIENTAS EN TERRENO · 30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Charla diaria: corta, concreta y sobre la tarea del día</a:t>
            </a:r>
            <a:endParaRPr lang="en-US" sz="3400" dirty="0"/>
          </a:p>
        </p:txBody>
      </p:sp>
      <p:sp>
        <p:nvSpPr>
          <p:cNvPr id="4" name="etapa 1"/>
          <p:cNvSpPr/>
          <p:nvPr/>
        </p:nvSpPr>
        <p:spPr>
          <a:xfrm>
            <a:off x="548640" y="1828800"/>
            <a:ext cx="2926080" cy="1188720"/>
          </a:xfrm>
          <a:prstGeom prst="homePlate">
            <a:avLst/>
          </a:prstGeom>
          <a:solidFill>
            <a:schemeClr val="accent1"/>
          </a:solidFill>
          <a:ln/>
        </p:spPr>
      </p:sp>
      <p:sp>
        <p:nvSpPr>
          <p:cNvPr id="5" name="Text 3"/>
          <p:cNvSpPr txBox="1"/>
          <p:nvPr/>
        </p:nvSpPr>
        <p:spPr>
          <a:xfrm>
            <a:off x="777240" y="1828800"/>
            <a:ext cx="2011680" cy="1188720"/>
          </a:xfrm>
          <a:prstGeom prst="rect">
            <a:avLst/>
          </a:prstGeom>
          <a:noFill/>
          <a:ln/>
        </p:spPr>
        <p:txBody>
          <a:bodyPr wrap="square" lIns="0" tIns="0" rIns="0" bIns="0" rtlCol="0" anchor="ctr"/>
          <a:lstStyle/>
          <a:p>
            <a:pPr algn="ctr" indent="0" marL="0">
              <a:buNone/>
            </a:pPr>
            <a:r>
              <a:rPr lang="en-US" sz="1700" b="1" dirty="0">
                <a:solidFill>
                  <a:schemeClr val="tx1"/>
                </a:solidFill>
              </a:rPr>
              <a:t>Qué haremos</a:t>
            </a:r>
            <a:endParaRPr lang="en-US" sz="1700" dirty="0"/>
          </a:p>
        </p:txBody>
      </p:sp>
      <p:sp>
        <p:nvSpPr>
          <p:cNvPr id="6" name="etapa 2"/>
          <p:cNvSpPr/>
          <p:nvPr/>
        </p:nvSpPr>
        <p:spPr>
          <a:xfrm>
            <a:off x="3291840" y="1828800"/>
            <a:ext cx="2926080" cy="1188720"/>
          </a:xfrm>
          <a:prstGeom prst="chevron">
            <a:avLst/>
          </a:prstGeom>
          <a:solidFill>
            <a:schemeClr val="accent1"/>
          </a:solidFill>
          <a:ln/>
        </p:spPr>
      </p:sp>
      <p:sp>
        <p:nvSpPr>
          <p:cNvPr id="7" name="Text 5"/>
          <p:cNvSpPr txBox="1"/>
          <p:nvPr/>
        </p:nvSpPr>
        <p:spPr>
          <a:xfrm>
            <a:off x="3840480" y="1828800"/>
            <a:ext cx="2011680" cy="1188720"/>
          </a:xfrm>
          <a:prstGeom prst="rect">
            <a:avLst/>
          </a:prstGeom>
          <a:noFill/>
          <a:ln/>
        </p:spPr>
        <p:txBody>
          <a:bodyPr wrap="square" lIns="0" tIns="0" rIns="0" bIns="0" rtlCol="0" anchor="ctr"/>
          <a:lstStyle/>
          <a:p>
            <a:pPr algn="ctr" indent="0" marL="0">
              <a:buNone/>
            </a:pPr>
            <a:r>
              <a:rPr lang="en-US" sz="1700" b="1" dirty="0">
                <a:solidFill>
                  <a:schemeClr val="tx1"/>
                </a:solidFill>
              </a:rPr>
              <a:t>Qué nos puede pasar</a:t>
            </a:r>
            <a:endParaRPr lang="en-US" sz="1700" dirty="0"/>
          </a:p>
        </p:txBody>
      </p:sp>
      <p:sp>
        <p:nvSpPr>
          <p:cNvPr id="8" name="etapa 3"/>
          <p:cNvSpPr/>
          <p:nvPr/>
        </p:nvSpPr>
        <p:spPr>
          <a:xfrm>
            <a:off x="6035040" y="1828800"/>
            <a:ext cx="2926080" cy="1188720"/>
          </a:xfrm>
          <a:prstGeom prst="chevron">
            <a:avLst/>
          </a:prstGeom>
          <a:solidFill>
            <a:schemeClr val="accent1"/>
          </a:solidFill>
          <a:ln/>
        </p:spPr>
      </p:sp>
      <p:sp>
        <p:nvSpPr>
          <p:cNvPr id="9" name="Text 7"/>
          <p:cNvSpPr txBox="1"/>
          <p:nvPr/>
        </p:nvSpPr>
        <p:spPr>
          <a:xfrm>
            <a:off x="6583680" y="1828800"/>
            <a:ext cx="2011680" cy="1188720"/>
          </a:xfrm>
          <a:prstGeom prst="rect">
            <a:avLst/>
          </a:prstGeom>
          <a:noFill/>
          <a:ln/>
        </p:spPr>
        <p:txBody>
          <a:bodyPr wrap="square" lIns="0" tIns="0" rIns="0" bIns="0" rtlCol="0" anchor="ctr"/>
          <a:lstStyle/>
          <a:p>
            <a:pPr algn="ctr" indent="0" marL="0">
              <a:buNone/>
            </a:pPr>
            <a:r>
              <a:rPr lang="en-US" sz="1700" b="1" dirty="0">
                <a:solidFill>
                  <a:schemeClr val="tx1"/>
                </a:solidFill>
              </a:rPr>
              <a:t>Cómo lo controlamos</a:t>
            </a:r>
            <a:endParaRPr lang="en-US" sz="1700" dirty="0"/>
          </a:p>
        </p:txBody>
      </p:sp>
      <p:sp>
        <p:nvSpPr>
          <p:cNvPr id="10" name="etapa 4"/>
          <p:cNvSpPr/>
          <p:nvPr/>
        </p:nvSpPr>
        <p:spPr>
          <a:xfrm>
            <a:off x="8778240" y="1828800"/>
            <a:ext cx="2926080" cy="1188720"/>
          </a:xfrm>
          <a:prstGeom prst="chevron">
            <a:avLst/>
          </a:prstGeom>
          <a:solidFill>
            <a:schemeClr val="accent1"/>
          </a:solidFill>
          <a:ln/>
        </p:spPr>
      </p:sp>
      <p:sp>
        <p:nvSpPr>
          <p:cNvPr id="11" name="Text 9"/>
          <p:cNvSpPr txBox="1"/>
          <p:nvPr/>
        </p:nvSpPr>
        <p:spPr>
          <a:xfrm>
            <a:off x="9326880" y="1828800"/>
            <a:ext cx="2011680" cy="1188720"/>
          </a:xfrm>
          <a:prstGeom prst="rect">
            <a:avLst/>
          </a:prstGeom>
          <a:noFill/>
          <a:ln/>
        </p:spPr>
        <p:txBody>
          <a:bodyPr wrap="square" lIns="0" tIns="0" rIns="0" bIns="0" rtlCol="0" anchor="ctr"/>
          <a:lstStyle/>
          <a:p>
            <a:pPr algn="ctr" indent="0" marL="0">
              <a:buNone/>
            </a:pPr>
            <a:r>
              <a:rPr lang="en-US" sz="1700" b="1" dirty="0">
                <a:solidFill>
                  <a:schemeClr val="tx1"/>
                </a:solidFill>
              </a:rPr>
              <a:t>Quién hace qué</a:t>
            </a:r>
            <a:endParaRPr lang="en-US" sz="1700" dirty="0"/>
          </a:p>
        </p:txBody>
      </p:sp>
      <p:sp>
        <p:nvSpPr>
          <p:cNvPr id="12" name="consejo 1"/>
          <p:cNvSpPr/>
          <p:nvPr/>
        </p:nvSpPr>
        <p:spPr>
          <a:xfrm>
            <a:off x="548640" y="3474720"/>
            <a:ext cx="3520440" cy="2514600"/>
          </a:xfrm>
          <a:prstGeom prst="roundRect">
            <a:avLst>
              <a:gd name="adj" fmla="val 4364"/>
            </a:avLst>
          </a:prstGeom>
          <a:solidFill>
            <a:schemeClr val="bg2"/>
          </a:solidFill>
          <a:ln/>
        </p:spPr>
      </p:sp>
      <p:sp>
        <p:nvSpPr>
          <p:cNvPr id="13" name="icono FaMapMarkerAlt"/>
          <p:cNvSpPr/>
          <p:nvPr/>
        </p:nvSpPr>
        <p:spPr>
          <a:xfrm>
            <a:off x="822960" y="3749040"/>
            <a:ext cx="640080" cy="640080"/>
          </a:xfrm>
          <a:prstGeom prst="ellipse">
            <a:avLst/>
          </a:prstGeom>
          <a:solidFill>
            <a:schemeClr val="accent1"/>
          </a:solidFill>
          <a:ln/>
        </p:spPr>
      </p:sp>
      <p:pic>
        <p:nvPicPr>
          <p:cNvPr id="14" name="Image 0" descr="FaMapMarkerAlt">    </p:cNvPr>
          <p:cNvPicPr>
            <a:picLocks noChangeAspect="1"/>
          </p:cNvPicPr>
          <p:nvPr/>
        </p:nvPicPr>
        <p:blipFill>
          <a:blip r:embed="rId1"/>
          <a:stretch>
            <a:fillRect/>
          </a:stretch>
        </p:blipFill>
        <p:spPr>
          <a:xfrm>
            <a:off x="976579" y="3902659"/>
            <a:ext cx="332842" cy="332842"/>
          </a:xfrm>
          <a:prstGeom prst="rect">
            <a:avLst/>
          </a:prstGeom>
        </p:spPr>
      </p:pic>
      <p:sp>
        <p:nvSpPr>
          <p:cNvPr id="15" name="Text 12"/>
          <p:cNvSpPr txBox="1"/>
          <p:nvPr/>
        </p:nvSpPr>
        <p:spPr>
          <a:xfrm>
            <a:off x="822960" y="4572000"/>
            <a:ext cx="2971800" cy="12801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En el frente de trabajo</a:t>
            </a:r>
            <a:endParaRPr lang="en-US" sz="1700" dirty="0"/>
          </a:p>
          <a:p>
            <a:pPr indent="0" marL="0">
              <a:spcAft>
                <a:spcPts val="600"/>
              </a:spcAft>
              <a:buNone/>
            </a:pPr>
            <a:r>
              <a:rPr lang="en-US" sz="1500" dirty="0">
                <a:solidFill>
                  <a:schemeClr val="tx2"/>
                </a:solidFill>
              </a:rPr>
              <a:t>No en la oficina ni en el bus.</a:t>
            </a:r>
            <a:endParaRPr lang="en-US" sz="1700" dirty="0"/>
          </a:p>
        </p:txBody>
      </p:sp>
      <p:sp>
        <p:nvSpPr>
          <p:cNvPr id="16" name="consejo 2"/>
          <p:cNvSpPr/>
          <p:nvPr/>
        </p:nvSpPr>
        <p:spPr>
          <a:xfrm>
            <a:off x="4343400" y="3474720"/>
            <a:ext cx="3520440" cy="2514600"/>
          </a:xfrm>
          <a:prstGeom prst="roundRect">
            <a:avLst>
              <a:gd name="adj" fmla="val 4364"/>
            </a:avLst>
          </a:prstGeom>
          <a:solidFill>
            <a:schemeClr val="bg2"/>
          </a:solidFill>
          <a:ln/>
        </p:spPr>
      </p:sp>
      <p:sp>
        <p:nvSpPr>
          <p:cNvPr id="17" name="icono FaClock"/>
          <p:cNvSpPr/>
          <p:nvPr/>
        </p:nvSpPr>
        <p:spPr>
          <a:xfrm>
            <a:off x="4617720" y="3749040"/>
            <a:ext cx="640080" cy="640080"/>
          </a:xfrm>
          <a:prstGeom prst="ellipse">
            <a:avLst/>
          </a:prstGeom>
          <a:solidFill>
            <a:schemeClr val="accent1"/>
          </a:solidFill>
          <a:ln/>
        </p:spPr>
      </p:sp>
      <p:pic>
        <p:nvPicPr>
          <p:cNvPr id="18" name="Image 1" descr="FaClock">    </p:cNvPr>
          <p:cNvPicPr>
            <a:picLocks noChangeAspect="1"/>
          </p:cNvPicPr>
          <p:nvPr/>
        </p:nvPicPr>
        <p:blipFill>
          <a:blip r:embed="rId2"/>
          <a:stretch>
            <a:fillRect/>
          </a:stretch>
        </p:blipFill>
        <p:spPr>
          <a:xfrm>
            <a:off x="4771339" y="3902659"/>
            <a:ext cx="332842" cy="332842"/>
          </a:xfrm>
          <a:prstGeom prst="rect">
            <a:avLst/>
          </a:prstGeom>
        </p:spPr>
      </p:pic>
      <p:sp>
        <p:nvSpPr>
          <p:cNvPr id="19" name="Text 15"/>
          <p:cNvSpPr txBox="1"/>
          <p:nvPr/>
        </p:nvSpPr>
        <p:spPr>
          <a:xfrm>
            <a:off x="4617720" y="4572000"/>
            <a:ext cx="2971800" cy="12801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5 a 10 minutos</a:t>
            </a:r>
            <a:endParaRPr lang="en-US" sz="1700" dirty="0"/>
          </a:p>
          <a:p>
            <a:pPr indent="0" marL="0">
              <a:spcAft>
                <a:spcPts val="600"/>
              </a:spcAft>
              <a:buNone/>
            </a:pPr>
            <a:r>
              <a:rPr lang="en-US" sz="1500" dirty="0">
                <a:solidFill>
                  <a:schemeClr val="tx2"/>
                </a:solidFill>
              </a:rPr>
              <a:t>Al inicio del turno, antes de tomar herramientas.</a:t>
            </a:r>
            <a:endParaRPr lang="en-US" sz="1700" dirty="0"/>
          </a:p>
        </p:txBody>
      </p:sp>
      <p:sp>
        <p:nvSpPr>
          <p:cNvPr id="20" name="consejo 3"/>
          <p:cNvSpPr/>
          <p:nvPr/>
        </p:nvSpPr>
        <p:spPr>
          <a:xfrm>
            <a:off x="8138160" y="3474720"/>
            <a:ext cx="3520440" cy="2514600"/>
          </a:xfrm>
          <a:prstGeom prst="roundRect">
            <a:avLst>
              <a:gd name="adj" fmla="val 4364"/>
            </a:avLst>
          </a:prstGeom>
          <a:solidFill>
            <a:schemeClr val="bg2"/>
          </a:solidFill>
          <a:ln/>
        </p:spPr>
      </p:sp>
      <p:sp>
        <p:nvSpPr>
          <p:cNvPr id="21" name="icono FaQuestionCircle"/>
          <p:cNvSpPr/>
          <p:nvPr/>
        </p:nvSpPr>
        <p:spPr>
          <a:xfrm>
            <a:off x="8412480" y="3749040"/>
            <a:ext cx="640080" cy="640080"/>
          </a:xfrm>
          <a:prstGeom prst="ellipse">
            <a:avLst/>
          </a:prstGeom>
          <a:solidFill>
            <a:schemeClr val="accent1"/>
          </a:solidFill>
          <a:ln/>
        </p:spPr>
      </p:sp>
      <p:pic>
        <p:nvPicPr>
          <p:cNvPr id="22" name="Image 2" descr="FaQuestionCircle">    </p:cNvPr>
          <p:cNvPicPr>
            <a:picLocks noChangeAspect="1"/>
          </p:cNvPicPr>
          <p:nvPr/>
        </p:nvPicPr>
        <p:blipFill>
          <a:blip r:embed="rId3"/>
          <a:stretch>
            <a:fillRect/>
          </a:stretch>
        </p:blipFill>
        <p:spPr>
          <a:xfrm>
            <a:off x="8566099" y="3902659"/>
            <a:ext cx="332842" cy="332842"/>
          </a:xfrm>
          <a:prstGeom prst="rect">
            <a:avLst/>
          </a:prstGeom>
        </p:spPr>
      </p:pic>
      <p:sp>
        <p:nvSpPr>
          <p:cNvPr id="23" name="Text 18"/>
          <p:cNvSpPr txBox="1"/>
          <p:nvPr/>
        </p:nvSpPr>
        <p:spPr>
          <a:xfrm>
            <a:off x="8412480" y="4572000"/>
            <a:ext cx="2971800" cy="128016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Termine preguntando</a:t>
            </a:r>
            <a:endParaRPr lang="en-US" sz="1700" dirty="0"/>
          </a:p>
          <a:p>
            <a:pPr indent="0" marL="0">
              <a:spcAft>
                <a:spcPts val="600"/>
              </a:spcAft>
              <a:buNone/>
            </a:pPr>
            <a:r>
              <a:rPr lang="en-US" sz="1500" dirty="0">
                <a:solidFill>
                  <a:schemeClr val="tx2"/>
                </a:solidFill>
              </a:rPr>
              <a:t>«¿Qué te preocupa de este trabajo?»</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4 · ART</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Análisis de Riesgo del Trabajo en 5 pasos</a:t>
            </a:r>
            <a:endParaRPr lang="en-US" sz="3400" dirty="0"/>
          </a:p>
        </p:txBody>
      </p:sp>
      <p:sp>
        <p:nvSpPr>
          <p:cNvPr id="4" name="paso 1"/>
          <p:cNvSpPr/>
          <p:nvPr/>
        </p:nvSpPr>
        <p:spPr>
          <a:xfrm>
            <a:off x="548640" y="1783080"/>
            <a:ext cx="1993392" cy="2194560"/>
          </a:xfrm>
          <a:prstGeom prst="roundRect">
            <a:avLst>
              <a:gd name="adj" fmla="val 5505"/>
            </a:avLst>
          </a:prstGeom>
          <a:solidFill>
            <a:schemeClr val="bg2"/>
          </a:solidFill>
          <a:ln/>
        </p:spPr>
      </p:sp>
      <p:sp>
        <p:nvSpPr>
          <p:cNvPr id="5" name="numero 1"/>
          <p:cNvSpPr/>
          <p:nvPr/>
        </p:nvSpPr>
        <p:spPr>
          <a:xfrm>
            <a:off x="777240" y="2011680"/>
            <a:ext cx="502920" cy="502920"/>
          </a:xfrm>
          <a:prstGeom prst="ellipse">
            <a:avLst/>
          </a:prstGeom>
          <a:solidFill>
            <a:schemeClr val="accent1"/>
          </a:solidFill>
          <a:ln/>
        </p:spPr>
      </p:sp>
      <p:sp>
        <p:nvSpPr>
          <p:cNvPr id="6" name="Text 4"/>
          <p:cNvSpPr txBox="1"/>
          <p:nvPr/>
        </p:nvSpPr>
        <p:spPr>
          <a:xfrm>
            <a:off x="77724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777240" y="2697480"/>
            <a:ext cx="1536192" cy="10972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Dividir</a:t>
            </a:r>
            <a:endParaRPr lang="en-US" sz="1700" dirty="0"/>
          </a:p>
          <a:p>
            <a:pPr indent="0" marL="0">
              <a:spcAft>
                <a:spcPts val="600"/>
              </a:spcAft>
              <a:buNone/>
            </a:pPr>
            <a:r>
              <a:rPr lang="en-US" sz="1400" dirty="0">
                <a:solidFill>
                  <a:schemeClr val="tx2"/>
                </a:solidFill>
              </a:rPr>
              <a:t>la tarea en pasos.</a:t>
            </a:r>
            <a:endParaRPr lang="en-US" sz="1700" dirty="0"/>
          </a:p>
        </p:txBody>
      </p:sp>
      <p:sp>
        <p:nvSpPr>
          <p:cNvPr id="8" name="paso 2"/>
          <p:cNvSpPr/>
          <p:nvPr/>
        </p:nvSpPr>
        <p:spPr>
          <a:xfrm>
            <a:off x="2816352" y="1783080"/>
            <a:ext cx="1993392" cy="2194560"/>
          </a:xfrm>
          <a:prstGeom prst="roundRect">
            <a:avLst>
              <a:gd name="adj" fmla="val 5505"/>
            </a:avLst>
          </a:prstGeom>
          <a:solidFill>
            <a:schemeClr val="bg2"/>
          </a:solidFill>
          <a:ln/>
        </p:spPr>
      </p:sp>
      <p:sp>
        <p:nvSpPr>
          <p:cNvPr id="9" name="numero 2"/>
          <p:cNvSpPr/>
          <p:nvPr/>
        </p:nvSpPr>
        <p:spPr>
          <a:xfrm>
            <a:off x="3044952" y="2011680"/>
            <a:ext cx="502920" cy="502920"/>
          </a:xfrm>
          <a:prstGeom prst="ellipse">
            <a:avLst/>
          </a:prstGeom>
          <a:solidFill>
            <a:schemeClr val="accent1"/>
          </a:solidFill>
          <a:ln/>
        </p:spPr>
      </p:sp>
      <p:sp>
        <p:nvSpPr>
          <p:cNvPr id="10" name="Text 8"/>
          <p:cNvSpPr txBox="1"/>
          <p:nvPr/>
        </p:nvSpPr>
        <p:spPr>
          <a:xfrm>
            <a:off x="3044952"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9"/>
          <p:cNvSpPr txBox="1"/>
          <p:nvPr/>
        </p:nvSpPr>
        <p:spPr>
          <a:xfrm>
            <a:off x="3044952" y="2697480"/>
            <a:ext cx="1536192" cy="10972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Identificar</a:t>
            </a:r>
            <a:endParaRPr lang="en-US" sz="1700" dirty="0"/>
          </a:p>
          <a:p>
            <a:pPr indent="0" marL="0">
              <a:spcAft>
                <a:spcPts val="600"/>
              </a:spcAft>
              <a:buNone/>
            </a:pPr>
            <a:r>
              <a:rPr lang="en-US" sz="1400" dirty="0">
                <a:solidFill>
                  <a:schemeClr val="tx2"/>
                </a:solidFill>
              </a:rPr>
              <a:t>los peligros de cada paso.</a:t>
            </a:r>
            <a:endParaRPr lang="en-US" sz="1700" dirty="0"/>
          </a:p>
        </p:txBody>
      </p:sp>
      <p:sp>
        <p:nvSpPr>
          <p:cNvPr id="12" name="paso 3"/>
          <p:cNvSpPr/>
          <p:nvPr/>
        </p:nvSpPr>
        <p:spPr>
          <a:xfrm>
            <a:off x="5084064" y="1783080"/>
            <a:ext cx="1993392" cy="2194560"/>
          </a:xfrm>
          <a:prstGeom prst="roundRect">
            <a:avLst>
              <a:gd name="adj" fmla="val 5505"/>
            </a:avLst>
          </a:prstGeom>
          <a:solidFill>
            <a:schemeClr val="bg2"/>
          </a:solidFill>
          <a:ln/>
        </p:spPr>
      </p:sp>
      <p:sp>
        <p:nvSpPr>
          <p:cNvPr id="13" name="numero 3"/>
          <p:cNvSpPr/>
          <p:nvPr/>
        </p:nvSpPr>
        <p:spPr>
          <a:xfrm>
            <a:off x="5312664" y="2011680"/>
            <a:ext cx="502920" cy="502920"/>
          </a:xfrm>
          <a:prstGeom prst="ellipse">
            <a:avLst/>
          </a:prstGeom>
          <a:solidFill>
            <a:schemeClr val="accent1"/>
          </a:solidFill>
          <a:ln/>
        </p:spPr>
      </p:sp>
      <p:sp>
        <p:nvSpPr>
          <p:cNvPr id="14" name="Text 12"/>
          <p:cNvSpPr txBox="1"/>
          <p:nvPr/>
        </p:nvSpPr>
        <p:spPr>
          <a:xfrm>
            <a:off x="5312664"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3"/>
          <p:cNvSpPr txBox="1"/>
          <p:nvPr/>
        </p:nvSpPr>
        <p:spPr>
          <a:xfrm>
            <a:off x="5312664" y="2697480"/>
            <a:ext cx="1536192" cy="10972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Definir</a:t>
            </a:r>
            <a:endParaRPr lang="en-US" sz="1700" dirty="0"/>
          </a:p>
          <a:p>
            <a:pPr indent="0" marL="0">
              <a:spcAft>
                <a:spcPts val="600"/>
              </a:spcAft>
              <a:buNone/>
            </a:pPr>
            <a:r>
              <a:rPr lang="en-US" sz="1400" dirty="0">
                <a:solidFill>
                  <a:schemeClr val="tx2"/>
                </a:solidFill>
              </a:rPr>
              <a:t>los controles y su responsable.</a:t>
            </a:r>
            <a:endParaRPr lang="en-US" sz="1700" dirty="0"/>
          </a:p>
        </p:txBody>
      </p:sp>
      <p:sp>
        <p:nvSpPr>
          <p:cNvPr id="16" name="paso 4"/>
          <p:cNvSpPr/>
          <p:nvPr/>
        </p:nvSpPr>
        <p:spPr>
          <a:xfrm>
            <a:off x="7351776" y="1783080"/>
            <a:ext cx="1993392" cy="2194560"/>
          </a:xfrm>
          <a:prstGeom prst="roundRect">
            <a:avLst>
              <a:gd name="adj" fmla="val 5505"/>
            </a:avLst>
          </a:prstGeom>
          <a:solidFill>
            <a:schemeClr val="bg2"/>
          </a:solidFill>
          <a:ln/>
        </p:spPr>
      </p:sp>
      <p:sp>
        <p:nvSpPr>
          <p:cNvPr id="17" name="numero 4"/>
          <p:cNvSpPr/>
          <p:nvPr/>
        </p:nvSpPr>
        <p:spPr>
          <a:xfrm>
            <a:off x="7580376" y="2011680"/>
            <a:ext cx="502920" cy="502920"/>
          </a:xfrm>
          <a:prstGeom prst="ellipse">
            <a:avLst/>
          </a:prstGeom>
          <a:solidFill>
            <a:schemeClr val="accent1"/>
          </a:solidFill>
          <a:ln/>
        </p:spPr>
      </p:sp>
      <p:sp>
        <p:nvSpPr>
          <p:cNvPr id="18" name="Text 16"/>
          <p:cNvSpPr txBox="1"/>
          <p:nvPr/>
        </p:nvSpPr>
        <p:spPr>
          <a:xfrm>
            <a:off x="7580376"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Text 17"/>
          <p:cNvSpPr txBox="1"/>
          <p:nvPr/>
        </p:nvSpPr>
        <p:spPr>
          <a:xfrm>
            <a:off x="7580376" y="2697480"/>
            <a:ext cx="1536192" cy="10972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Verificar</a:t>
            </a:r>
            <a:endParaRPr lang="en-US" sz="1700" dirty="0"/>
          </a:p>
          <a:p>
            <a:pPr indent="0" marL="0">
              <a:spcAft>
                <a:spcPts val="600"/>
              </a:spcAft>
              <a:buNone/>
            </a:pPr>
            <a:r>
              <a:rPr lang="en-US" sz="1400" dirty="0">
                <a:solidFill>
                  <a:schemeClr val="tx2"/>
                </a:solidFill>
              </a:rPr>
              <a:t>que los controles críticos estén presentes.</a:t>
            </a:r>
            <a:endParaRPr lang="en-US" sz="1700" dirty="0"/>
          </a:p>
        </p:txBody>
      </p:sp>
      <p:sp>
        <p:nvSpPr>
          <p:cNvPr id="20" name="paso 5"/>
          <p:cNvSpPr/>
          <p:nvPr/>
        </p:nvSpPr>
        <p:spPr>
          <a:xfrm>
            <a:off x="9619488" y="1783080"/>
            <a:ext cx="1993392" cy="2194560"/>
          </a:xfrm>
          <a:prstGeom prst="roundRect">
            <a:avLst>
              <a:gd name="adj" fmla="val 5505"/>
            </a:avLst>
          </a:prstGeom>
          <a:solidFill>
            <a:schemeClr val="bg2"/>
          </a:solidFill>
          <a:ln/>
        </p:spPr>
      </p:sp>
      <p:sp>
        <p:nvSpPr>
          <p:cNvPr id="21" name="numero 5"/>
          <p:cNvSpPr/>
          <p:nvPr/>
        </p:nvSpPr>
        <p:spPr>
          <a:xfrm>
            <a:off x="9848088" y="2011680"/>
            <a:ext cx="502920" cy="502920"/>
          </a:xfrm>
          <a:prstGeom prst="ellipse">
            <a:avLst/>
          </a:prstGeom>
          <a:solidFill>
            <a:schemeClr val="accent1"/>
          </a:solidFill>
          <a:ln/>
        </p:spPr>
      </p:sp>
      <p:sp>
        <p:nvSpPr>
          <p:cNvPr id="22" name="Text 20"/>
          <p:cNvSpPr txBox="1"/>
          <p:nvPr/>
        </p:nvSpPr>
        <p:spPr>
          <a:xfrm>
            <a:off x="9848088"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3" name="Text 21"/>
          <p:cNvSpPr txBox="1"/>
          <p:nvPr/>
        </p:nvSpPr>
        <p:spPr>
          <a:xfrm>
            <a:off x="9848088" y="2697480"/>
            <a:ext cx="1536192" cy="10972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Firmar</a:t>
            </a:r>
            <a:endParaRPr lang="en-US" sz="1700" dirty="0"/>
          </a:p>
          <a:p>
            <a:pPr indent="0" marL="0">
              <a:spcAft>
                <a:spcPts val="600"/>
              </a:spcAft>
              <a:buNone/>
            </a:pPr>
            <a:r>
              <a:rPr lang="en-US" sz="1400" dirty="0">
                <a:solidFill>
                  <a:schemeClr val="tx2"/>
                </a:solidFill>
              </a:rPr>
              <a:t>todos; rehacer si cambian las condiciones.</a:t>
            </a:r>
            <a:endParaRPr lang="en-US" sz="1700" dirty="0"/>
          </a:p>
        </p:txBody>
      </p:sp>
      <p:sp>
        <p:nvSpPr>
          <p:cNvPr id="24" name="recuadro actividad"/>
          <p:cNvSpPr/>
          <p:nvPr/>
        </p:nvSpPr>
        <p:spPr>
          <a:xfrm>
            <a:off x="548640" y="4251960"/>
            <a:ext cx="11064240" cy="1097280"/>
          </a:xfrm>
          <a:prstGeom prst="roundRect">
            <a:avLst>
              <a:gd name="adj" fmla="val 10000"/>
            </a:avLst>
          </a:prstGeom>
          <a:solidFill>
            <a:schemeClr val="accent6"/>
          </a:solidFill>
          <a:ln/>
        </p:spPr>
      </p:sp>
      <p:sp>
        <p:nvSpPr>
          <p:cNvPr id="25" name="icono FaMapMarkerAlt"/>
          <p:cNvSpPr/>
          <p:nvPr/>
        </p:nvSpPr>
        <p:spPr>
          <a:xfrm>
            <a:off x="777240" y="4503420"/>
            <a:ext cx="594360" cy="594360"/>
          </a:xfrm>
          <a:prstGeom prst="ellipse">
            <a:avLst/>
          </a:prstGeom>
          <a:solidFill>
            <a:schemeClr val="accent1"/>
          </a:solidFill>
          <a:ln/>
        </p:spPr>
      </p:sp>
      <p:pic>
        <p:nvPicPr>
          <p:cNvPr id="26" name="Image 0" descr="FaMapMarkerAlt">    </p:cNvPr>
          <p:cNvPicPr>
            <a:picLocks noChangeAspect="1"/>
          </p:cNvPicPr>
          <p:nvPr/>
        </p:nvPicPr>
        <p:blipFill>
          <a:blip r:embed="rId1"/>
          <a:stretch>
            <a:fillRect/>
          </a:stretch>
        </p:blipFill>
        <p:spPr>
          <a:xfrm>
            <a:off x="919886" y="4646066"/>
            <a:ext cx="309067" cy="309067"/>
          </a:xfrm>
          <a:prstGeom prst="rect">
            <a:avLst/>
          </a:prstGeom>
        </p:spPr>
      </p:pic>
      <p:sp>
        <p:nvSpPr>
          <p:cNvPr id="27" name="Text 24"/>
          <p:cNvSpPr txBox="1"/>
          <p:nvPr/>
        </p:nvSpPr>
        <p:spPr>
          <a:xfrm>
            <a:off x="1600200" y="4416552"/>
            <a:ext cx="9784080" cy="822960"/>
          </a:xfrm>
          <a:prstGeom prst="rect">
            <a:avLst/>
          </a:prstGeom>
          <a:noFill/>
          <a:ln/>
        </p:spPr>
        <p:txBody>
          <a:bodyPr wrap="square" lIns="0" tIns="0" rIns="0" bIns="0" rtlCol="0" anchor="ctr"/>
          <a:lstStyle/>
          <a:p>
            <a:pPr indent="0" marL="0">
              <a:buNone/>
            </a:pPr>
            <a:r>
              <a:rPr lang="en-US" sz="1500" b="1" dirty="0">
                <a:solidFill>
                  <a:schemeClr val="tx1"/>
                </a:solidFill>
              </a:rPr>
              <a:t>Dónde y con quién</a:t>
            </a:r>
            <a:endParaRPr lang="en-US" sz="1500" dirty="0"/>
          </a:p>
          <a:p>
            <a:pPr indent="0" marL="0">
              <a:buNone/>
            </a:pPr>
            <a:r>
              <a:rPr lang="en-US" sz="1400" dirty="0">
                <a:solidFill>
                  <a:schemeClr val="tx1"/>
                </a:solidFill>
              </a:rPr>
              <a:t>Se hace en el lugar de trabajo, con la cuadrilla que ejecutará la tarea. Un ART copiado del día anterior no sirve.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4 · PRE-USO Y OBSERVACIÓN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Verificar el equipo y observar la conducta</a:t>
            </a:r>
            <a:endParaRPr lang="en-US" sz="3400" dirty="0"/>
          </a:p>
        </p:txBody>
      </p:sp>
      <p:sp>
        <p:nvSpPr>
          <p:cNvPr id="4" name="pre-uso"/>
          <p:cNvSpPr/>
          <p:nvPr/>
        </p:nvSpPr>
        <p:spPr>
          <a:xfrm>
            <a:off x="548640" y="1783080"/>
            <a:ext cx="4206240" cy="4297680"/>
          </a:xfrm>
          <a:prstGeom prst="roundRect">
            <a:avLst>
              <a:gd name="adj" fmla="val 2609"/>
            </a:avLst>
          </a:prstGeom>
          <a:solidFill>
            <a:schemeClr val="bg2"/>
          </a:solidFill>
          <a:ln/>
        </p:spPr>
      </p:sp>
      <p:sp>
        <p:nvSpPr>
          <p:cNvPr id="5" name="icono FaClipboardCheck"/>
          <p:cNvSpPr/>
          <p:nvPr/>
        </p:nvSpPr>
        <p:spPr>
          <a:xfrm>
            <a:off x="822960" y="2057400"/>
            <a:ext cx="685800" cy="685800"/>
          </a:xfrm>
          <a:prstGeom prst="ellipse">
            <a:avLst/>
          </a:prstGeom>
          <a:solidFill>
            <a:schemeClr val="accent1"/>
          </a:solidFill>
          <a:ln/>
        </p:spPr>
      </p:sp>
      <p:pic>
        <p:nvPicPr>
          <p:cNvPr id="6" name="Image 0" descr="FaClipboardCheck">    </p:cNvPr>
          <p:cNvPicPr>
            <a:picLocks noChangeAspect="1"/>
          </p:cNvPicPr>
          <p:nvPr/>
        </p:nvPicPr>
        <p:blipFill>
          <a:blip r:embed="rId1"/>
          <a:stretch>
            <a:fillRect/>
          </a:stretch>
        </p:blipFill>
        <p:spPr>
          <a:xfrm>
            <a:off x="987552" y="2221992"/>
            <a:ext cx="356616" cy="356616"/>
          </a:xfrm>
          <a:prstGeom prst="rect">
            <a:avLst/>
          </a:prstGeom>
        </p:spPr>
      </p:pic>
      <p:sp>
        <p:nvSpPr>
          <p:cNvPr id="7" name="Text 4"/>
          <p:cNvSpPr txBox="1"/>
          <p:nvPr/>
        </p:nvSpPr>
        <p:spPr>
          <a:xfrm>
            <a:off x="1691640" y="2057400"/>
            <a:ext cx="2926080" cy="685800"/>
          </a:xfrm>
          <a:prstGeom prst="rect">
            <a:avLst/>
          </a:prstGeom>
          <a:noFill/>
          <a:ln/>
        </p:spPr>
        <p:txBody>
          <a:bodyPr wrap="square" lIns="0" tIns="0" rIns="0" bIns="0" rtlCol="0" anchor="ctr"/>
          <a:lstStyle/>
          <a:p>
            <a:pPr indent="0" marL="0">
              <a:buNone/>
            </a:pPr>
            <a:r>
              <a:rPr lang="en-US" sz="2000" b="1" dirty="0">
                <a:solidFill>
                  <a:schemeClr val="tx1"/>
                </a:solidFill>
              </a:rPr>
              <a:t>Lista pre-uso</a:t>
            </a:r>
            <a:endParaRPr lang="en-US" sz="2000" dirty="0"/>
          </a:p>
        </p:txBody>
      </p:sp>
      <p:sp>
        <p:nvSpPr>
          <p:cNvPr id="8" name="Text 5"/>
          <p:cNvSpPr txBox="1"/>
          <p:nvPr/>
        </p:nvSpPr>
        <p:spPr>
          <a:xfrm>
            <a:off x="822960" y="297180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Cables y enchufes sin daño</a:t>
            </a:r>
            <a:endParaRPr lang="en-US" sz="1500" dirty="0"/>
          </a:p>
          <a:p>
            <a:pPr marL="342900" indent="-342900">
              <a:spcAft>
                <a:spcPts val="600"/>
              </a:spcAft>
              <a:buSzPct val="100000"/>
              <a:buChar char="•"/>
            </a:pPr>
            <a:r>
              <a:rPr lang="en-US" sz="1500" dirty="0">
                <a:solidFill>
                  <a:schemeClr val="tx1"/>
                </a:solidFill>
              </a:rPr>
              <a:t>Cinta del mes (código de colores)</a:t>
            </a:r>
            <a:endParaRPr lang="en-US" sz="1500" dirty="0"/>
          </a:p>
          <a:p>
            <a:pPr marL="342900" indent="-342900">
              <a:spcAft>
                <a:spcPts val="600"/>
              </a:spcAft>
              <a:buSzPct val="100000"/>
              <a:buChar char="•"/>
            </a:pPr>
            <a:r>
              <a:rPr lang="en-US" sz="1500" dirty="0">
                <a:solidFill>
                  <a:schemeClr val="tx1"/>
                </a:solidFill>
              </a:rPr>
              <a:t>Protecciones instaladas</a:t>
            </a:r>
            <a:endParaRPr lang="en-US" sz="1500" dirty="0"/>
          </a:p>
          <a:p>
            <a:pPr marL="342900" indent="-342900">
              <a:spcAft>
                <a:spcPts val="600"/>
              </a:spcAft>
              <a:buSzPct val="100000"/>
              <a:buChar char="•"/>
            </a:pPr>
            <a:r>
              <a:rPr lang="en-US" sz="1500" dirty="0">
                <a:solidFill>
                  <a:schemeClr val="tx1"/>
                </a:solidFill>
              </a:rPr>
              <a:t>EPP específico disponible</a:t>
            </a:r>
            <a:endParaRPr lang="en-US" sz="1500" dirty="0"/>
          </a:p>
        </p:txBody>
      </p:sp>
      <p:sp>
        <p:nvSpPr>
          <p:cNvPr id="9" name="Text 6"/>
          <p:cNvSpPr txBox="1"/>
          <p:nvPr/>
        </p:nvSpPr>
        <p:spPr>
          <a:xfrm>
            <a:off x="822960" y="4937760"/>
            <a:ext cx="3657600" cy="822960"/>
          </a:xfrm>
          <a:prstGeom prst="rect">
            <a:avLst/>
          </a:prstGeom>
          <a:noFill/>
          <a:ln/>
        </p:spPr>
        <p:txBody>
          <a:bodyPr wrap="square" lIns="0" tIns="0" rIns="0" bIns="0" rtlCol="0" anchor="t"/>
          <a:lstStyle/>
          <a:p>
            <a:pPr indent="0" marL="0">
              <a:buNone/>
            </a:pPr>
            <a:r>
              <a:rPr lang="en-US" sz="1500" b="1" dirty="0">
                <a:solidFill>
                  <a:schemeClr val="accent2"/>
                </a:solidFill>
              </a:rPr>
              <a:t>Un «No cumple» = la herramienta se retira y se etiqueta.</a:t>
            </a:r>
            <a:endParaRPr lang="en-US" sz="1500" dirty="0"/>
          </a:p>
        </p:txBody>
      </p:sp>
      <p:sp>
        <p:nvSpPr>
          <p:cNvPr id="10" name="icono FaEye"/>
          <p:cNvSpPr/>
          <p:nvPr/>
        </p:nvSpPr>
        <p:spPr>
          <a:xfrm>
            <a:off x="5120640" y="1783080"/>
            <a:ext cx="685800" cy="685800"/>
          </a:xfrm>
          <a:prstGeom prst="ellipse">
            <a:avLst/>
          </a:prstGeom>
          <a:solidFill>
            <a:schemeClr val="accent1"/>
          </a:solidFill>
          <a:ln/>
        </p:spPr>
      </p:sp>
      <p:pic>
        <p:nvPicPr>
          <p:cNvPr id="11" name="Image 1" descr="FaEye">    </p:cNvPr>
          <p:cNvPicPr>
            <a:picLocks noChangeAspect="1"/>
          </p:cNvPicPr>
          <p:nvPr/>
        </p:nvPicPr>
        <p:blipFill>
          <a:blip r:embed="rId2"/>
          <a:stretch>
            <a:fillRect/>
          </a:stretch>
        </p:blipFill>
        <p:spPr>
          <a:xfrm>
            <a:off x="5285232" y="1947672"/>
            <a:ext cx="356616" cy="356616"/>
          </a:xfrm>
          <a:prstGeom prst="rect">
            <a:avLst/>
          </a:prstGeom>
        </p:spPr>
      </p:pic>
      <p:sp>
        <p:nvSpPr>
          <p:cNvPr id="12" name="Text 8"/>
          <p:cNvSpPr txBox="1"/>
          <p:nvPr/>
        </p:nvSpPr>
        <p:spPr>
          <a:xfrm>
            <a:off x="5989320" y="1783080"/>
            <a:ext cx="5486400" cy="685800"/>
          </a:xfrm>
          <a:prstGeom prst="rect">
            <a:avLst/>
          </a:prstGeom>
          <a:noFill/>
          <a:ln/>
        </p:spPr>
        <p:txBody>
          <a:bodyPr wrap="square" lIns="0" tIns="0" rIns="0" bIns="0" rtlCol="0" anchor="ctr"/>
          <a:lstStyle/>
          <a:p>
            <a:pPr indent="0" marL="0">
              <a:buNone/>
            </a:pPr>
            <a:r>
              <a:rPr lang="en-US" sz="2000" b="1" dirty="0">
                <a:solidFill>
                  <a:schemeClr val="tx1"/>
                </a:solidFill>
              </a:rPr>
              <a:t>Observación de conducta</a:t>
            </a:r>
            <a:endParaRPr lang="en-US" sz="2000" dirty="0"/>
          </a:p>
        </p:txBody>
      </p:sp>
      <p:sp>
        <p:nvSpPr>
          <p:cNvPr id="13" name="observacion 1"/>
          <p:cNvSpPr/>
          <p:nvPr/>
        </p:nvSpPr>
        <p:spPr>
          <a:xfrm>
            <a:off x="5120640" y="2770632"/>
            <a:ext cx="548640" cy="548640"/>
          </a:xfrm>
          <a:prstGeom prst="ellipse">
            <a:avLst/>
          </a:prstGeom>
          <a:solidFill>
            <a:schemeClr val="accent1"/>
          </a:solidFill>
          <a:ln/>
        </p:spPr>
      </p:sp>
      <p:sp>
        <p:nvSpPr>
          <p:cNvPr id="14" name="Text 10"/>
          <p:cNvSpPr txBox="1"/>
          <p:nvPr/>
        </p:nvSpPr>
        <p:spPr>
          <a:xfrm>
            <a:off x="5120640" y="277063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5" name="Text 11"/>
          <p:cNvSpPr txBox="1"/>
          <p:nvPr/>
        </p:nvSpPr>
        <p:spPr>
          <a:xfrm>
            <a:off x="5897880" y="2697480"/>
            <a:ext cx="5669280" cy="685800"/>
          </a:xfrm>
          <a:prstGeom prst="rect">
            <a:avLst/>
          </a:prstGeom>
          <a:noFill/>
          <a:ln/>
        </p:spPr>
        <p:txBody>
          <a:bodyPr wrap="square" lIns="0" tIns="0" rIns="0" bIns="0" rtlCol="0" anchor="ctr"/>
          <a:lstStyle/>
          <a:p>
            <a:pPr indent="0" marL="0">
              <a:buNone/>
            </a:pPr>
            <a:r>
              <a:rPr lang="en-US" sz="1600" b="1" dirty="0">
                <a:solidFill>
                  <a:schemeClr val="tx1"/>
                </a:solidFill>
              </a:rPr>
              <a:t>Presentarse </a:t>
            </a:r>
            <a:pPr indent="0" marL="0">
              <a:buNone/>
            </a:pPr>
            <a:r>
              <a:rPr lang="en-US" sz="1600" dirty="0">
                <a:solidFill>
                  <a:schemeClr val="tx1"/>
                </a:solidFill>
              </a:rPr>
              <a:t>y explicar que es preventiva, no un castigo.</a:t>
            </a:r>
            <a:endParaRPr lang="en-US" sz="1600" dirty="0"/>
          </a:p>
        </p:txBody>
      </p:sp>
      <p:sp>
        <p:nvSpPr>
          <p:cNvPr id="16" name="observacion 2"/>
          <p:cNvSpPr/>
          <p:nvPr/>
        </p:nvSpPr>
        <p:spPr>
          <a:xfrm>
            <a:off x="5120640" y="3639312"/>
            <a:ext cx="548640" cy="548640"/>
          </a:xfrm>
          <a:prstGeom prst="ellipse">
            <a:avLst/>
          </a:prstGeom>
          <a:solidFill>
            <a:schemeClr val="accent1"/>
          </a:solidFill>
          <a:ln/>
        </p:spPr>
      </p:sp>
      <p:sp>
        <p:nvSpPr>
          <p:cNvPr id="17" name="Text 13"/>
          <p:cNvSpPr txBox="1"/>
          <p:nvPr/>
        </p:nvSpPr>
        <p:spPr>
          <a:xfrm>
            <a:off x="5120640" y="363931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8" name="Text 14"/>
          <p:cNvSpPr txBox="1"/>
          <p:nvPr/>
        </p:nvSpPr>
        <p:spPr>
          <a:xfrm>
            <a:off x="5897880" y="3566160"/>
            <a:ext cx="5669280" cy="685800"/>
          </a:xfrm>
          <a:prstGeom prst="rect">
            <a:avLst/>
          </a:prstGeom>
          <a:noFill/>
          <a:ln/>
        </p:spPr>
        <p:txBody>
          <a:bodyPr wrap="square" lIns="0" tIns="0" rIns="0" bIns="0" rtlCol="0" anchor="ctr"/>
          <a:lstStyle/>
          <a:p>
            <a:pPr indent="0" marL="0">
              <a:buNone/>
            </a:pPr>
            <a:r>
              <a:rPr lang="en-US" sz="1600" b="1" dirty="0">
                <a:solidFill>
                  <a:schemeClr val="tx1"/>
                </a:solidFill>
              </a:rPr>
              <a:t>Reconocer </a:t>
            </a:r>
            <a:pPr indent="0" marL="0">
              <a:buNone/>
            </a:pPr>
            <a:r>
              <a:rPr lang="en-US" sz="1600" dirty="0">
                <a:solidFill>
                  <a:schemeClr val="tx1"/>
                </a:solidFill>
              </a:rPr>
              <a:t>primero lo que hace bien.</a:t>
            </a:r>
            <a:endParaRPr lang="en-US" sz="1600" dirty="0"/>
          </a:p>
        </p:txBody>
      </p:sp>
      <p:sp>
        <p:nvSpPr>
          <p:cNvPr id="19" name="observacion 3"/>
          <p:cNvSpPr/>
          <p:nvPr/>
        </p:nvSpPr>
        <p:spPr>
          <a:xfrm>
            <a:off x="5120640" y="4507992"/>
            <a:ext cx="548640" cy="548640"/>
          </a:xfrm>
          <a:prstGeom prst="ellipse">
            <a:avLst/>
          </a:prstGeom>
          <a:solidFill>
            <a:schemeClr val="accent1"/>
          </a:solidFill>
          <a:ln/>
        </p:spPr>
      </p:sp>
      <p:sp>
        <p:nvSpPr>
          <p:cNvPr id="20" name="Text 16"/>
          <p:cNvSpPr txBox="1"/>
          <p:nvPr/>
        </p:nvSpPr>
        <p:spPr>
          <a:xfrm>
            <a:off x="5120640" y="450799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1" name="Text 17"/>
          <p:cNvSpPr txBox="1"/>
          <p:nvPr/>
        </p:nvSpPr>
        <p:spPr>
          <a:xfrm>
            <a:off x="5897880" y="4434840"/>
            <a:ext cx="5669280" cy="685800"/>
          </a:xfrm>
          <a:prstGeom prst="rect">
            <a:avLst/>
          </a:prstGeom>
          <a:noFill/>
          <a:ln/>
        </p:spPr>
        <p:txBody>
          <a:bodyPr wrap="square" lIns="0" tIns="0" rIns="0" bIns="0" rtlCol="0" anchor="ctr"/>
          <a:lstStyle/>
          <a:p>
            <a:pPr indent="0" marL="0">
              <a:buNone/>
            </a:pPr>
            <a:r>
              <a:rPr lang="en-US" sz="1600" b="1" dirty="0">
                <a:solidFill>
                  <a:schemeClr val="tx1"/>
                </a:solidFill>
              </a:rPr>
              <a:t>Preguntar </a:t>
            </a:r>
            <a:pPr indent="0" marL="0">
              <a:buNone/>
            </a:pPr>
            <a:r>
              <a:rPr lang="en-US" sz="1600" dirty="0">
                <a:solidFill>
                  <a:schemeClr val="tx1"/>
                </a:solidFill>
              </a:rPr>
              <a:t>«¿Qué podría pasar si…?»</a:t>
            </a:r>
            <a:endParaRPr lang="en-US" sz="1600" dirty="0"/>
          </a:p>
        </p:txBody>
      </p:sp>
      <p:sp>
        <p:nvSpPr>
          <p:cNvPr id="22" name="observacion 4"/>
          <p:cNvSpPr/>
          <p:nvPr/>
        </p:nvSpPr>
        <p:spPr>
          <a:xfrm>
            <a:off x="5120640" y="5376672"/>
            <a:ext cx="548640" cy="548640"/>
          </a:xfrm>
          <a:prstGeom prst="ellipse">
            <a:avLst/>
          </a:prstGeom>
          <a:solidFill>
            <a:schemeClr val="accent1"/>
          </a:solidFill>
          <a:ln/>
        </p:spPr>
      </p:sp>
      <p:sp>
        <p:nvSpPr>
          <p:cNvPr id="23" name="Text 19"/>
          <p:cNvSpPr txBox="1"/>
          <p:nvPr/>
        </p:nvSpPr>
        <p:spPr>
          <a:xfrm>
            <a:off x="5120640" y="537667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4" name="Text 20"/>
          <p:cNvSpPr txBox="1"/>
          <p:nvPr/>
        </p:nvSpPr>
        <p:spPr>
          <a:xfrm>
            <a:off x="5897880" y="5303520"/>
            <a:ext cx="5669280" cy="685800"/>
          </a:xfrm>
          <a:prstGeom prst="rect">
            <a:avLst/>
          </a:prstGeom>
          <a:noFill/>
          <a:ln/>
        </p:spPr>
        <p:txBody>
          <a:bodyPr wrap="square" lIns="0" tIns="0" rIns="0" bIns="0" rtlCol="0" anchor="ctr"/>
          <a:lstStyle/>
          <a:p>
            <a:pPr indent="0" marL="0">
              <a:buNone/>
            </a:pPr>
            <a:r>
              <a:rPr lang="en-US" sz="1600" b="1" dirty="0">
                <a:solidFill>
                  <a:schemeClr val="tx1"/>
                </a:solidFill>
              </a:rPr>
              <a:t>Acordar </a:t>
            </a:r>
            <a:pPr indent="0" marL="0">
              <a:buNone/>
            </a:pPr>
            <a:r>
              <a:rPr lang="en-US" sz="1600" dirty="0">
                <a:solidFill>
                  <a:schemeClr val="tx1"/>
                </a:solidFill>
              </a:rPr>
              <a:t>juntos la forma segura y registrarla.</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5 · LIDERAZGO Y COMUNICACIÓN · 20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La cuadrilla hace lo que el capataz hace</a:t>
            </a:r>
            <a:endParaRPr lang="en-US" sz="3400" dirty="0"/>
          </a:p>
        </p:txBody>
      </p:sp>
      <p:sp>
        <p:nvSpPr>
          <p:cNvPr id="4" name="principio 1"/>
          <p:cNvSpPr/>
          <p:nvPr/>
        </p:nvSpPr>
        <p:spPr>
          <a:xfrm>
            <a:off x="548640" y="1783080"/>
            <a:ext cx="5394960" cy="1920240"/>
          </a:xfrm>
          <a:prstGeom prst="roundRect">
            <a:avLst>
              <a:gd name="adj" fmla="val 5714"/>
            </a:avLst>
          </a:prstGeom>
          <a:solidFill>
            <a:schemeClr val="bg2"/>
          </a:solidFill>
          <a:ln/>
        </p:spPr>
      </p:sp>
      <p:sp>
        <p:nvSpPr>
          <p:cNvPr id="5" name="icono FaHardHat"/>
          <p:cNvSpPr/>
          <p:nvPr/>
        </p:nvSpPr>
        <p:spPr>
          <a:xfrm>
            <a:off x="822960" y="2057400"/>
            <a:ext cx="685800" cy="685800"/>
          </a:xfrm>
          <a:prstGeom prst="ellipse">
            <a:avLst/>
          </a:prstGeom>
          <a:solidFill>
            <a:schemeClr val="accent1"/>
          </a:solidFill>
          <a:ln/>
        </p:spPr>
      </p:sp>
      <p:pic>
        <p:nvPicPr>
          <p:cNvPr id="6" name="Image 0" descr="FaHardHat">    </p:cNvPr>
          <p:cNvPicPr>
            <a:picLocks noChangeAspect="1"/>
          </p:cNvPicPr>
          <p:nvPr/>
        </p:nvPicPr>
        <p:blipFill>
          <a:blip r:embed="rId1"/>
          <a:stretch>
            <a:fillRect/>
          </a:stretch>
        </p:blipFill>
        <p:spPr>
          <a:xfrm>
            <a:off x="987552" y="2221992"/>
            <a:ext cx="356616" cy="356616"/>
          </a:xfrm>
          <a:prstGeom prst="rect">
            <a:avLst/>
          </a:prstGeom>
        </p:spPr>
      </p:pic>
      <p:sp>
        <p:nvSpPr>
          <p:cNvPr id="7" name="Text 4"/>
          <p:cNvSpPr txBox="1"/>
          <p:nvPr/>
        </p:nvSpPr>
        <p:spPr>
          <a:xfrm>
            <a:off x="1737360" y="2057400"/>
            <a:ext cx="3977640" cy="146304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Dar el ejemplo</a:t>
            </a:r>
            <a:endParaRPr lang="en-US" sz="1900" dirty="0"/>
          </a:p>
          <a:p>
            <a:pPr indent="0" marL="0">
              <a:spcAft>
                <a:spcPts val="600"/>
              </a:spcAft>
              <a:buNone/>
            </a:pPr>
            <a:r>
              <a:rPr lang="en-US" sz="1500" dirty="0">
                <a:solidFill>
                  <a:schemeClr val="tx2"/>
                </a:solidFill>
              </a:rPr>
              <a:t>Si usted no usa el arnés, nadie lo usará.</a:t>
            </a:r>
            <a:endParaRPr lang="en-US" sz="1900" dirty="0"/>
          </a:p>
        </p:txBody>
      </p:sp>
      <p:sp>
        <p:nvSpPr>
          <p:cNvPr id="8" name="principio 2"/>
          <p:cNvSpPr/>
          <p:nvPr/>
        </p:nvSpPr>
        <p:spPr>
          <a:xfrm>
            <a:off x="6217920" y="1783080"/>
            <a:ext cx="5394960" cy="1920240"/>
          </a:xfrm>
          <a:prstGeom prst="roundRect">
            <a:avLst>
              <a:gd name="adj" fmla="val 5714"/>
            </a:avLst>
          </a:prstGeom>
          <a:solidFill>
            <a:schemeClr val="bg2"/>
          </a:solidFill>
          <a:ln/>
        </p:spPr>
      </p:sp>
      <p:sp>
        <p:nvSpPr>
          <p:cNvPr id="9" name="icono FaEye"/>
          <p:cNvSpPr/>
          <p:nvPr/>
        </p:nvSpPr>
        <p:spPr>
          <a:xfrm>
            <a:off x="6492240" y="2057400"/>
            <a:ext cx="685800" cy="685800"/>
          </a:xfrm>
          <a:prstGeom prst="ellipse">
            <a:avLst/>
          </a:prstGeom>
          <a:solidFill>
            <a:schemeClr val="accent1"/>
          </a:solidFill>
          <a:ln/>
        </p:spPr>
      </p:sp>
      <p:pic>
        <p:nvPicPr>
          <p:cNvPr id="10" name="Image 1" descr="FaEye">    </p:cNvPr>
          <p:cNvPicPr>
            <a:picLocks noChangeAspect="1"/>
          </p:cNvPicPr>
          <p:nvPr/>
        </p:nvPicPr>
        <p:blipFill>
          <a:blip r:embed="rId2"/>
          <a:stretch>
            <a:fillRect/>
          </a:stretch>
        </p:blipFill>
        <p:spPr>
          <a:xfrm>
            <a:off x="6656832" y="2221992"/>
            <a:ext cx="356616" cy="356616"/>
          </a:xfrm>
          <a:prstGeom prst="rect">
            <a:avLst/>
          </a:prstGeom>
        </p:spPr>
      </p:pic>
      <p:sp>
        <p:nvSpPr>
          <p:cNvPr id="11" name="Text 7"/>
          <p:cNvSpPr txBox="1"/>
          <p:nvPr/>
        </p:nvSpPr>
        <p:spPr>
          <a:xfrm>
            <a:off x="7406640" y="2057400"/>
            <a:ext cx="3977640" cy="146304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Lo que se tolera, se repite</a:t>
            </a:r>
            <a:endParaRPr lang="en-US" sz="1900" dirty="0"/>
          </a:p>
          <a:p>
            <a:pPr indent="0" marL="0">
              <a:spcAft>
                <a:spcPts val="600"/>
              </a:spcAft>
              <a:buNone/>
            </a:pPr>
            <a:r>
              <a:rPr lang="en-US" sz="1500" dirty="0">
                <a:solidFill>
                  <a:schemeClr val="tx2"/>
                </a:solidFill>
              </a:rPr>
              <a:t>Pasar por alto una conducta en riesgo es aprobarla.</a:t>
            </a:r>
            <a:endParaRPr lang="en-US" sz="1900" dirty="0"/>
          </a:p>
        </p:txBody>
      </p:sp>
      <p:sp>
        <p:nvSpPr>
          <p:cNvPr id="12" name="principio 3"/>
          <p:cNvSpPr/>
          <p:nvPr/>
        </p:nvSpPr>
        <p:spPr>
          <a:xfrm>
            <a:off x="548640" y="3977640"/>
            <a:ext cx="5394960" cy="1920240"/>
          </a:xfrm>
          <a:prstGeom prst="roundRect">
            <a:avLst>
              <a:gd name="adj" fmla="val 5714"/>
            </a:avLst>
          </a:prstGeom>
          <a:solidFill>
            <a:schemeClr val="bg2"/>
          </a:solidFill>
          <a:ln/>
        </p:spPr>
      </p:sp>
      <p:sp>
        <p:nvSpPr>
          <p:cNvPr id="13" name="icono FaComments"/>
          <p:cNvSpPr/>
          <p:nvPr/>
        </p:nvSpPr>
        <p:spPr>
          <a:xfrm>
            <a:off x="822960" y="4251960"/>
            <a:ext cx="685800" cy="685800"/>
          </a:xfrm>
          <a:prstGeom prst="ellipse">
            <a:avLst/>
          </a:prstGeom>
          <a:solidFill>
            <a:schemeClr val="accent1"/>
          </a:solidFill>
          <a:ln/>
        </p:spPr>
      </p:sp>
      <p:pic>
        <p:nvPicPr>
          <p:cNvPr id="14" name="Image 2" descr="FaComments">    </p:cNvPr>
          <p:cNvPicPr>
            <a:picLocks noChangeAspect="1"/>
          </p:cNvPicPr>
          <p:nvPr/>
        </p:nvPicPr>
        <p:blipFill>
          <a:blip r:embed="rId3"/>
          <a:stretch>
            <a:fillRect/>
          </a:stretch>
        </p:blipFill>
        <p:spPr>
          <a:xfrm>
            <a:off x="987552" y="4416552"/>
            <a:ext cx="356616" cy="356616"/>
          </a:xfrm>
          <a:prstGeom prst="rect">
            <a:avLst/>
          </a:prstGeom>
        </p:spPr>
      </p:pic>
      <p:sp>
        <p:nvSpPr>
          <p:cNvPr id="15" name="Text 10"/>
          <p:cNvSpPr txBox="1"/>
          <p:nvPr/>
        </p:nvSpPr>
        <p:spPr>
          <a:xfrm>
            <a:off x="1737360" y="4251960"/>
            <a:ext cx="3977640" cy="146304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Escuchar</a:t>
            </a:r>
            <a:endParaRPr lang="en-US" sz="1900" dirty="0"/>
          </a:p>
          <a:p>
            <a:pPr indent="0" marL="0">
              <a:spcAft>
                <a:spcPts val="600"/>
              </a:spcAft>
              <a:buNone/>
            </a:pPr>
            <a:r>
              <a:rPr lang="en-US" sz="1500" dirty="0">
                <a:solidFill>
                  <a:schemeClr val="tx2"/>
                </a:solidFill>
              </a:rPr>
              <a:t>El trabajador ve detalles de la tarea que el capataz no ve.</a:t>
            </a:r>
            <a:endParaRPr lang="en-US" sz="1900" dirty="0"/>
          </a:p>
        </p:txBody>
      </p:sp>
      <p:sp>
        <p:nvSpPr>
          <p:cNvPr id="16" name="principio 4"/>
          <p:cNvSpPr/>
          <p:nvPr/>
        </p:nvSpPr>
        <p:spPr>
          <a:xfrm>
            <a:off x="6217920" y="3977640"/>
            <a:ext cx="5394960" cy="1920240"/>
          </a:xfrm>
          <a:prstGeom prst="roundRect">
            <a:avLst>
              <a:gd name="adj" fmla="val 5714"/>
            </a:avLst>
          </a:prstGeom>
          <a:solidFill>
            <a:schemeClr val="bg2"/>
          </a:solidFill>
          <a:ln/>
        </p:spPr>
      </p:sp>
      <p:sp>
        <p:nvSpPr>
          <p:cNvPr id="17" name="icono FaShieldAlt"/>
          <p:cNvSpPr/>
          <p:nvPr/>
        </p:nvSpPr>
        <p:spPr>
          <a:xfrm>
            <a:off x="6492240" y="4251960"/>
            <a:ext cx="685800" cy="685800"/>
          </a:xfrm>
          <a:prstGeom prst="ellipse">
            <a:avLst/>
          </a:prstGeom>
          <a:solidFill>
            <a:schemeClr val="accent1"/>
          </a:solidFill>
          <a:ln/>
        </p:spPr>
      </p:sp>
      <p:pic>
        <p:nvPicPr>
          <p:cNvPr id="18" name="Image 3" descr="FaShieldAlt">    </p:cNvPr>
          <p:cNvPicPr>
            <a:picLocks noChangeAspect="1"/>
          </p:cNvPicPr>
          <p:nvPr/>
        </p:nvPicPr>
        <p:blipFill>
          <a:blip r:embed="rId4"/>
          <a:stretch>
            <a:fillRect/>
          </a:stretch>
        </p:blipFill>
        <p:spPr>
          <a:xfrm>
            <a:off x="6656832" y="4416552"/>
            <a:ext cx="356616" cy="356616"/>
          </a:xfrm>
          <a:prstGeom prst="rect">
            <a:avLst/>
          </a:prstGeom>
        </p:spPr>
      </p:pic>
      <p:sp>
        <p:nvSpPr>
          <p:cNvPr id="19" name="Text 13"/>
          <p:cNvSpPr txBox="1"/>
          <p:nvPr/>
        </p:nvSpPr>
        <p:spPr>
          <a:xfrm>
            <a:off x="7406640" y="4251960"/>
            <a:ext cx="3977640" cy="146304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Producción y seguridad no compiten</a:t>
            </a:r>
            <a:endParaRPr lang="en-US" sz="1900" dirty="0"/>
          </a:p>
          <a:p>
            <a:pPr indent="0" marL="0">
              <a:spcAft>
                <a:spcPts val="600"/>
              </a:spcAft>
              <a:buNone/>
            </a:pPr>
            <a:r>
              <a:rPr lang="en-US" sz="1500" dirty="0">
                <a:solidFill>
                  <a:schemeClr val="tx2"/>
                </a:solidFill>
              </a:rPr>
              <a:t>Un accidente detiene la obra mucho más que una pausa para corregir.</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5 · DETENCIÓN DEL TRABAJO</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Detener el trabajo es una obligación, no una falta</a:t>
            </a:r>
            <a:endParaRPr lang="en-US" sz="3400" dirty="0"/>
          </a:p>
        </p:txBody>
      </p:sp>
      <p:sp>
        <p:nvSpPr>
          <p:cNvPr id="4" name="Text 2"/>
          <p:cNvSpPr txBox="1"/>
          <p:nvPr/>
        </p:nvSpPr>
        <p:spPr>
          <a:xfrm>
            <a:off x="548640" y="1645920"/>
            <a:ext cx="11064240" cy="731520"/>
          </a:xfrm>
          <a:prstGeom prst="rect">
            <a:avLst/>
          </a:prstGeom>
          <a:noFill/>
          <a:ln/>
        </p:spPr>
        <p:txBody>
          <a:bodyPr wrap="square" lIns="0" tIns="0" rIns="0" bIns="0" rtlCol="0" anchor="t"/>
          <a:lstStyle/>
          <a:p>
            <a:pPr indent="0" marL="0">
              <a:buNone/>
            </a:pPr>
            <a:r>
              <a:rPr lang="en-US" sz="1600" dirty="0">
                <a:solidFill>
                  <a:schemeClr val="tx1"/>
                </a:solidFill>
              </a:rPr>
              <a:t>Detenga si falta un control crítico, cambian las condiciones (clima, iluminación, personal), aparece un peligro no evaluado o alguien no sabe cómo hacer la tarea.</a:t>
            </a:r>
            <a:endParaRPr lang="en-US" sz="1600" dirty="0"/>
          </a:p>
        </p:txBody>
      </p:sp>
      <p:sp>
        <p:nvSpPr>
          <p:cNvPr id="5" name="paso 1"/>
          <p:cNvSpPr/>
          <p:nvPr/>
        </p:nvSpPr>
        <p:spPr>
          <a:xfrm>
            <a:off x="548640" y="2514600"/>
            <a:ext cx="1993392" cy="1828800"/>
          </a:xfrm>
          <a:prstGeom prst="roundRect">
            <a:avLst>
              <a:gd name="adj" fmla="val 6000"/>
            </a:avLst>
          </a:prstGeom>
          <a:solidFill>
            <a:schemeClr val="bg2"/>
          </a:solidFill>
          <a:ln/>
        </p:spPr>
      </p:sp>
      <p:sp>
        <p:nvSpPr>
          <p:cNvPr id="6" name="numero 1"/>
          <p:cNvSpPr/>
          <p:nvPr/>
        </p:nvSpPr>
        <p:spPr>
          <a:xfrm>
            <a:off x="777240" y="2743200"/>
            <a:ext cx="502920" cy="502920"/>
          </a:xfrm>
          <a:prstGeom prst="ellipse">
            <a:avLst/>
          </a:prstGeom>
          <a:solidFill>
            <a:schemeClr val="accent2"/>
          </a:solidFill>
          <a:ln/>
        </p:spPr>
      </p:sp>
      <p:sp>
        <p:nvSpPr>
          <p:cNvPr id="7" name="Text 5"/>
          <p:cNvSpPr txBox="1"/>
          <p:nvPr/>
        </p:nvSpPr>
        <p:spPr>
          <a:xfrm>
            <a:off x="77724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777240" y="3429000"/>
            <a:ext cx="1536192" cy="731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Detener</a:t>
            </a:r>
            <a:endParaRPr lang="en-US" sz="1700" dirty="0"/>
          </a:p>
          <a:p>
            <a:pPr indent="0" marL="0">
              <a:spcAft>
                <a:spcPts val="600"/>
              </a:spcAft>
              <a:buNone/>
            </a:pPr>
            <a:r>
              <a:rPr lang="en-US" sz="1400" dirty="0">
                <a:solidFill>
                  <a:schemeClr val="tx2"/>
                </a:solidFill>
              </a:rPr>
              <a:t>la tarea de inmediato.</a:t>
            </a:r>
            <a:endParaRPr lang="en-US" sz="1700" dirty="0"/>
          </a:p>
        </p:txBody>
      </p:sp>
      <p:sp>
        <p:nvSpPr>
          <p:cNvPr id="9" name="paso 2"/>
          <p:cNvSpPr/>
          <p:nvPr/>
        </p:nvSpPr>
        <p:spPr>
          <a:xfrm>
            <a:off x="2816352" y="2514600"/>
            <a:ext cx="1993392" cy="1828800"/>
          </a:xfrm>
          <a:prstGeom prst="roundRect">
            <a:avLst>
              <a:gd name="adj" fmla="val 6000"/>
            </a:avLst>
          </a:prstGeom>
          <a:solidFill>
            <a:schemeClr val="bg2"/>
          </a:solidFill>
          <a:ln/>
        </p:spPr>
      </p:sp>
      <p:sp>
        <p:nvSpPr>
          <p:cNvPr id="10" name="numero 2"/>
          <p:cNvSpPr/>
          <p:nvPr/>
        </p:nvSpPr>
        <p:spPr>
          <a:xfrm>
            <a:off x="3044952" y="2743200"/>
            <a:ext cx="502920" cy="502920"/>
          </a:xfrm>
          <a:prstGeom prst="ellipse">
            <a:avLst/>
          </a:prstGeom>
          <a:solidFill>
            <a:schemeClr val="accent2"/>
          </a:solidFill>
          <a:ln/>
        </p:spPr>
      </p:sp>
      <p:sp>
        <p:nvSpPr>
          <p:cNvPr id="11" name="Text 9"/>
          <p:cNvSpPr txBox="1"/>
          <p:nvPr/>
        </p:nvSpPr>
        <p:spPr>
          <a:xfrm>
            <a:off x="3044952"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044952" y="3429000"/>
            <a:ext cx="1536192" cy="731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Asegurar</a:t>
            </a:r>
            <a:endParaRPr lang="en-US" sz="1700" dirty="0"/>
          </a:p>
          <a:p>
            <a:pPr indent="0" marL="0">
              <a:spcAft>
                <a:spcPts val="600"/>
              </a:spcAft>
              <a:buNone/>
            </a:pPr>
            <a:r>
              <a:rPr lang="en-US" sz="1400" dirty="0">
                <a:solidFill>
                  <a:schemeClr val="tx2"/>
                </a:solidFill>
              </a:rPr>
              <a:t>el área y a las personas.</a:t>
            </a:r>
            <a:endParaRPr lang="en-US" sz="1700" dirty="0"/>
          </a:p>
        </p:txBody>
      </p:sp>
      <p:sp>
        <p:nvSpPr>
          <p:cNvPr id="13" name="paso 3"/>
          <p:cNvSpPr/>
          <p:nvPr/>
        </p:nvSpPr>
        <p:spPr>
          <a:xfrm>
            <a:off x="5084064" y="2514600"/>
            <a:ext cx="1993392" cy="1828800"/>
          </a:xfrm>
          <a:prstGeom prst="roundRect">
            <a:avLst>
              <a:gd name="adj" fmla="val 6000"/>
            </a:avLst>
          </a:prstGeom>
          <a:solidFill>
            <a:schemeClr val="bg2"/>
          </a:solidFill>
          <a:ln/>
        </p:spPr>
      </p:sp>
      <p:sp>
        <p:nvSpPr>
          <p:cNvPr id="14" name="numero 3"/>
          <p:cNvSpPr/>
          <p:nvPr/>
        </p:nvSpPr>
        <p:spPr>
          <a:xfrm>
            <a:off x="5312664" y="2743200"/>
            <a:ext cx="502920" cy="502920"/>
          </a:xfrm>
          <a:prstGeom prst="ellipse">
            <a:avLst/>
          </a:prstGeom>
          <a:solidFill>
            <a:schemeClr val="accent2"/>
          </a:solidFill>
          <a:ln/>
        </p:spPr>
      </p:sp>
      <p:sp>
        <p:nvSpPr>
          <p:cNvPr id="15" name="Text 13"/>
          <p:cNvSpPr txBox="1"/>
          <p:nvPr/>
        </p:nvSpPr>
        <p:spPr>
          <a:xfrm>
            <a:off x="5312664"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5312664" y="3429000"/>
            <a:ext cx="1536192" cy="731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Informar</a:t>
            </a:r>
            <a:endParaRPr lang="en-US" sz="1700" dirty="0"/>
          </a:p>
          <a:p>
            <a:pPr indent="0" marL="0">
              <a:spcAft>
                <a:spcPts val="600"/>
              </a:spcAft>
              <a:buNone/>
            </a:pPr>
            <a:r>
              <a:rPr lang="en-US" sz="1400" dirty="0">
                <a:solidFill>
                  <a:schemeClr val="tx2"/>
                </a:solidFill>
              </a:rPr>
              <a:t>al supervisor y a prevención.</a:t>
            </a:r>
            <a:endParaRPr lang="en-US" sz="1700" dirty="0"/>
          </a:p>
        </p:txBody>
      </p:sp>
      <p:sp>
        <p:nvSpPr>
          <p:cNvPr id="17" name="paso 4"/>
          <p:cNvSpPr/>
          <p:nvPr/>
        </p:nvSpPr>
        <p:spPr>
          <a:xfrm>
            <a:off x="7351776" y="2514600"/>
            <a:ext cx="1993392" cy="1828800"/>
          </a:xfrm>
          <a:prstGeom prst="roundRect">
            <a:avLst>
              <a:gd name="adj" fmla="val 6000"/>
            </a:avLst>
          </a:prstGeom>
          <a:solidFill>
            <a:schemeClr val="bg2"/>
          </a:solidFill>
          <a:ln/>
        </p:spPr>
      </p:sp>
      <p:sp>
        <p:nvSpPr>
          <p:cNvPr id="18" name="numero 4"/>
          <p:cNvSpPr/>
          <p:nvPr/>
        </p:nvSpPr>
        <p:spPr>
          <a:xfrm>
            <a:off x="7580376" y="2743200"/>
            <a:ext cx="502920" cy="502920"/>
          </a:xfrm>
          <a:prstGeom prst="ellipse">
            <a:avLst/>
          </a:prstGeom>
          <a:solidFill>
            <a:schemeClr val="accent2"/>
          </a:solidFill>
          <a:ln/>
        </p:spPr>
      </p:sp>
      <p:sp>
        <p:nvSpPr>
          <p:cNvPr id="19" name="Text 17"/>
          <p:cNvSpPr txBox="1"/>
          <p:nvPr/>
        </p:nvSpPr>
        <p:spPr>
          <a:xfrm>
            <a:off x="7580376"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 18"/>
          <p:cNvSpPr txBox="1"/>
          <p:nvPr/>
        </p:nvSpPr>
        <p:spPr>
          <a:xfrm>
            <a:off x="7580376" y="3429000"/>
            <a:ext cx="1536192" cy="731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Corregir</a:t>
            </a:r>
            <a:endParaRPr lang="en-US" sz="1700" dirty="0"/>
          </a:p>
          <a:p>
            <a:pPr indent="0" marL="0">
              <a:spcAft>
                <a:spcPts val="600"/>
              </a:spcAft>
              <a:buNone/>
            </a:pPr>
            <a:r>
              <a:rPr lang="en-US" sz="1400" dirty="0">
                <a:solidFill>
                  <a:schemeClr val="tx2"/>
                </a:solidFill>
              </a:rPr>
              <a:t>y actualizar el ART.</a:t>
            </a:r>
            <a:endParaRPr lang="en-US" sz="1700" dirty="0"/>
          </a:p>
        </p:txBody>
      </p:sp>
      <p:sp>
        <p:nvSpPr>
          <p:cNvPr id="21" name="paso 5"/>
          <p:cNvSpPr/>
          <p:nvPr/>
        </p:nvSpPr>
        <p:spPr>
          <a:xfrm>
            <a:off x="9619488" y="2514600"/>
            <a:ext cx="1993392" cy="1828800"/>
          </a:xfrm>
          <a:prstGeom prst="roundRect">
            <a:avLst>
              <a:gd name="adj" fmla="val 6000"/>
            </a:avLst>
          </a:prstGeom>
          <a:solidFill>
            <a:schemeClr val="bg2"/>
          </a:solidFill>
          <a:ln/>
        </p:spPr>
      </p:sp>
      <p:sp>
        <p:nvSpPr>
          <p:cNvPr id="22" name="numero 5"/>
          <p:cNvSpPr/>
          <p:nvPr/>
        </p:nvSpPr>
        <p:spPr>
          <a:xfrm>
            <a:off x="9848088" y="2743200"/>
            <a:ext cx="502920" cy="502920"/>
          </a:xfrm>
          <a:prstGeom prst="ellipse">
            <a:avLst/>
          </a:prstGeom>
          <a:solidFill>
            <a:schemeClr val="accent2"/>
          </a:solidFill>
          <a:ln/>
        </p:spPr>
      </p:sp>
      <p:sp>
        <p:nvSpPr>
          <p:cNvPr id="23" name="Text 21"/>
          <p:cNvSpPr txBox="1"/>
          <p:nvPr/>
        </p:nvSpPr>
        <p:spPr>
          <a:xfrm>
            <a:off x="9848088"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Text 22"/>
          <p:cNvSpPr txBox="1"/>
          <p:nvPr/>
        </p:nvSpPr>
        <p:spPr>
          <a:xfrm>
            <a:off x="9848088" y="3429000"/>
            <a:ext cx="1536192" cy="73152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Reanudar</a:t>
            </a:r>
            <a:endParaRPr lang="en-US" sz="1700" dirty="0"/>
          </a:p>
          <a:p>
            <a:pPr indent="0" marL="0">
              <a:spcAft>
                <a:spcPts val="600"/>
              </a:spcAft>
              <a:buNone/>
            </a:pPr>
            <a:r>
              <a:rPr lang="en-US" sz="1400" dirty="0">
                <a:solidFill>
                  <a:schemeClr val="tx2"/>
                </a:solidFill>
              </a:rPr>
              <a:t>solo con todo controlado.</a:t>
            </a:r>
            <a:endParaRPr lang="en-US" sz="1700" dirty="0"/>
          </a:p>
        </p:txBody>
      </p:sp>
      <p:sp>
        <p:nvSpPr>
          <p:cNvPr id="25" name="recuadro actividad"/>
          <p:cNvSpPr/>
          <p:nvPr/>
        </p:nvSpPr>
        <p:spPr>
          <a:xfrm>
            <a:off x="548640" y="4617720"/>
            <a:ext cx="11064240" cy="1463040"/>
          </a:xfrm>
          <a:prstGeom prst="roundRect">
            <a:avLst>
              <a:gd name="adj" fmla="val 7500"/>
            </a:avLst>
          </a:prstGeom>
          <a:solidFill>
            <a:schemeClr val="accent6"/>
          </a:solidFill>
          <a:ln/>
        </p:spPr>
      </p:sp>
      <p:sp>
        <p:nvSpPr>
          <p:cNvPr id="26" name="icono FaUsers"/>
          <p:cNvSpPr/>
          <p:nvPr/>
        </p:nvSpPr>
        <p:spPr>
          <a:xfrm>
            <a:off x="777240" y="5052060"/>
            <a:ext cx="594360" cy="594360"/>
          </a:xfrm>
          <a:prstGeom prst="ellipse">
            <a:avLst/>
          </a:prstGeom>
          <a:solidFill>
            <a:schemeClr val="accent1"/>
          </a:solidFill>
          <a:ln/>
        </p:spPr>
      </p:sp>
      <p:pic>
        <p:nvPicPr>
          <p:cNvPr id="27" name="Image 0" descr="FaUsers">    </p:cNvPr>
          <p:cNvPicPr>
            <a:picLocks noChangeAspect="1"/>
          </p:cNvPicPr>
          <p:nvPr/>
        </p:nvPicPr>
        <p:blipFill>
          <a:blip r:embed="rId1"/>
          <a:stretch>
            <a:fillRect/>
          </a:stretch>
        </p:blipFill>
        <p:spPr>
          <a:xfrm>
            <a:off x="919886" y="5194706"/>
            <a:ext cx="309067" cy="309067"/>
          </a:xfrm>
          <a:prstGeom prst="rect">
            <a:avLst/>
          </a:prstGeom>
        </p:spPr>
      </p:pic>
      <p:sp>
        <p:nvSpPr>
          <p:cNvPr id="28" name="Text 25"/>
          <p:cNvSpPr txBox="1"/>
          <p:nvPr/>
        </p:nvSpPr>
        <p:spPr>
          <a:xfrm>
            <a:off x="1600200" y="4782312"/>
            <a:ext cx="9784080" cy="1188720"/>
          </a:xfrm>
          <a:prstGeom prst="rect">
            <a:avLst/>
          </a:prstGeom>
          <a:noFill/>
          <a:ln/>
        </p:spPr>
        <p:txBody>
          <a:bodyPr wrap="square" lIns="0" tIns="0" rIns="0" bIns="0" rtlCol="0" anchor="ctr"/>
          <a:lstStyle/>
          <a:p>
            <a:pPr indent="0" marL="0">
              <a:buNone/>
            </a:pPr>
            <a:r>
              <a:rPr lang="en-US" sz="1500" b="1" dirty="0">
                <a:solidFill>
                  <a:schemeClr val="tx1"/>
                </a:solidFill>
              </a:rPr>
              <a:t>Juego de roles · 10 min</a:t>
            </a:r>
            <a:endParaRPr lang="en-US" sz="1500" dirty="0"/>
          </a:p>
          <a:p>
            <a:pPr indent="0" marL="0">
              <a:buNone/>
            </a:pPr>
            <a:r>
              <a:rPr lang="en-US" sz="1400" dirty="0">
                <a:solidFill>
                  <a:schemeClr val="tx1"/>
                </a:solidFill>
              </a:rPr>
              <a:t>El jefe de terreno presiona para terminar un izaje con viento fuerte. El capataz debe detenerlo con argumentos claros y proponer una alternativa. Reconozca siempre a quien detiene un trabajo: nadie recibe represalias por hacerlo.</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MÓDULO 6 · INCIDENTES · 15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Qué hacer ante un incidente</a:t>
            </a:r>
            <a:endParaRPr lang="en-US" sz="3400" dirty="0"/>
          </a:p>
        </p:txBody>
      </p:sp>
      <p:sp>
        <p:nvSpPr>
          <p:cNvPr id="4" name="paso 1"/>
          <p:cNvSpPr/>
          <p:nvPr/>
        </p:nvSpPr>
        <p:spPr>
          <a:xfrm>
            <a:off x="548640" y="1783080"/>
            <a:ext cx="1993392" cy="2651760"/>
          </a:xfrm>
          <a:prstGeom prst="roundRect">
            <a:avLst>
              <a:gd name="adj" fmla="val 5505"/>
            </a:avLst>
          </a:prstGeom>
          <a:solidFill>
            <a:schemeClr val="bg2"/>
          </a:solidFill>
          <a:ln/>
        </p:spPr>
      </p:sp>
      <p:sp>
        <p:nvSpPr>
          <p:cNvPr id="5" name="numero 1"/>
          <p:cNvSpPr/>
          <p:nvPr/>
        </p:nvSpPr>
        <p:spPr>
          <a:xfrm>
            <a:off x="777240" y="2011680"/>
            <a:ext cx="502920" cy="502920"/>
          </a:xfrm>
          <a:prstGeom prst="ellipse">
            <a:avLst/>
          </a:prstGeom>
          <a:solidFill>
            <a:schemeClr val="accent1"/>
          </a:solidFill>
          <a:ln/>
        </p:spPr>
      </p:sp>
      <p:sp>
        <p:nvSpPr>
          <p:cNvPr id="6" name="Text 4"/>
          <p:cNvSpPr txBox="1"/>
          <p:nvPr/>
        </p:nvSpPr>
        <p:spPr>
          <a:xfrm>
            <a:off x="77724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777240" y="2697480"/>
            <a:ext cx="1536192" cy="15544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Controlar la escena</a:t>
            </a:r>
            <a:endParaRPr lang="en-US" sz="1700" dirty="0"/>
          </a:p>
          <a:p>
            <a:pPr indent="0" marL="0">
              <a:spcAft>
                <a:spcPts val="600"/>
              </a:spcAft>
              <a:buNone/>
            </a:pPr>
            <a:r>
              <a:rPr lang="en-US" sz="1400" dirty="0">
                <a:solidFill>
                  <a:schemeClr val="tx2"/>
                </a:solidFill>
              </a:rPr>
              <a:t>Detener equipos y evitar más lesionados.</a:t>
            </a:r>
            <a:endParaRPr lang="en-US" sz="1700" dirty="0"/>
          </a:p>
        </p:txBody>
      </p:sp>
      <p:sp>
        <p:nvSpPr>
          <p:cNvPr id="8" name="paso 2"/>
          <p:cNvSpPr/>
          <p:nvPr/>
        </p:nvSpPr>
        <p:spPr>
          <a:xfrm>
            <a:off x="2816352" y="1783080"/>
            <a:ext cx="1993392" cy="2651760"/>
          </a:xfrm>
          <a:prstGeom prst="roundRect">
            <a:avLst>
              <a:gd name="adj" fmla="val 5505"/>
            </a:avLst>
          </a:prstGeom>
          <a:solidFill>
            <a:schemeClr val="bg2"/>
          </a:solidFill>
          <a:ln/>
        </p:spPr>
      </p:sp>
      <p:sp>
        <p:nvSpPr>
          <p:cNvPr id="9" name="numero 2"/>
          <p:cNvSpPr/>
          <p:nvPr/>
        </p:nvSpPr>
        <p:spPr>
          <a:xfrm>
            <a:off x="3044952" y="2011680"/>
            <a:ext cx="502920" cy="502920"/>
          </a:xfrm>
          <a:prstGeom prst="ellipse">
            <a:avLst/>
          </a:prstGeom>
          <a:solidFill>
            <a:schemeClr val="accent1"/>
          </a:solidFill>
          <a:ln/>
        </p:spPr>
      </p:sp>
      <p:sp>
        <p:nvSpPr>
          <p:cNvPr id="10" name="Text 8"/>
          <p:cNvSpPr txBox="1"/>
          <p:nvPr/>
        </p:nvSpPr>
        <p:spPr>
          <a:xfrm>
            <a:off x="3044952"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9"/>
          <p:cNvSpPr txBox="1"/>
          <p:nvPr/>
        </p:nvSpPr>
        <p:spPr>
          <a:xfrm>
            <a:off x="3044952" y="2697480"/>
            <a:ext cx="1536192" cy="15544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Atender al lesionado</a:t>
            </a:r>
            <a:endParaRPr lang="en-US" sz="1700" dirty="0"/>
          </a:p>
          <a:p>
            <a:pPr indent="0" marL="0">
              <a:spcAft>
                <a:spcPts val="600"/>
              </a:spcAft>
              <a:buNone/>
            </a:pPr>
            <a:r>
              <a:rPr lang="en-US" sz="1400" dirty="0">
                <a:solidFill>
                  <a:schemeClr val="tx2"/>
                </a:solidFill>
              </a:rPr>
              <a:t>Activar emergencia; no mover si se sospecha lesión grave.</a:t>
            </a:r>
            <a:endParaRPr lang="en-US" sz="1700" dirty="0"/>
          </a:p>
        </p:txBody>
      </p:sp>
      <p:sp>
        <p:nvSpPr>
          <p:cNvPr id="12" name="paso 3"/>
          <p:cNvSpPr/>
          <p:nvPr/>
        </p:nvSpPr>
        <p:spPr>
          <a:xfrm>
            <a:off x="5084064" y="1783080"/>
            <a:ext cx="1993392" cy="2651760"/>
          </a:xfrm>
          <a:prstGeom prst="roundRect">
            <a:avLst>
              <a:gd name="adj" fmla="val 5505"/>
            </a:avLst>
          </a:prstGeom>
          <a:solidFill>
            <a:schemeClr val="bg2"/>
          </a:solidFill>
          <a:ln/>
        </p:spPr>
      </p:sp>
      <p:sp>
        <p:nvSpPr>
          <p:cNvPr id="13" name="numero 3"/>
          <p:cNvSpPr/>
          <p:nvPr/>
        </p:nvSpPr>
        <p:spPr>
          <a:xfrm>
            <a:off x="5312664" y="2011680"/>
            <a:ext cx="502920" cy="502920"/>
          </a:xfrm>
          <a:prstGeom prst="ellipse">
            <a:avLst/>
          </a:prstGeom>
          <a:solidFill>
            <a:schemeClr val="accent1"/>
          </a:solidFill>
          <a:ln/>
        </p:spPr>
      </p:sp>
      <p:sp>
        <p:nvSpPr>
          <p:cNvPr id="14" name="Text 12"/>
          <p:cNvSpPr txBox="1"/>
          <p:nvPr/>
        </p:nvSpPr>
        <p:spPr>
          <a:xfrm>
            <a:off x="5312664"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3"/>
          <p:cNvSpPr txBox="1"/>
          <p:nvPr/>
        </p:nvSpPr>
        <p:spPr>
          <a:xfrm>
            <a:off x="5312664" y="2697480"/>
            <a:ext cx="1536192" cy="15544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Avisar</a:t>
            </a:r>
            <a:endParaRPr lang="en-US" sz="1700" dirty="0"/>
          </a:p>
          <a:p>
            <a:pPr indent="0" marL="0">
              <a:spcAft>
                <a:spcPts val="600"/>
              </a:spcAft>
              <a:buNone/>
            </a:pPr>
            <a:r>
              <a:rPr lang="en-US" sz="1400" dirty="0">
                <a:solidFill>
                  <a:schemeClr val="tx2"/>
                </a:solidFill>
              </a:rPr>
              <a:t>De inmediato al supervisor y a prevención.</a:t>
            </a:r>
            <a:endParaRPr lang="en-US" sz="1700" dirty="0"/>
          </a:p>
        </p:txBody>
      </p:sp>
      <p:sp>
        <p:nvSpPr>
          <p:cNvPr id="16" name="paso 4"/>
          <p:cNvSpPr/>
          <p:nvPr/>
        </p:nvSpPr>
        <p:spPr>
          <a:xfrm>
            <a:off x="7351776" y="1783080"/>
            <a:ext cx="1993392" cy="2651760"/>
          </a:xfrm>
          <a:prstGeom prst="roundRect">
            <a:avLst>
              <a:gd name="adj" fmla="val 5505"/>
            </a:avLst>
          </a:prstGeom>
          <a:solidFill>
            <a:schemeClr val="bg2"/>
          </a:solidFill>
          <a:ln/>
        </p:spPr>
      </p:sp>
      <p:sp>
        <p:nvSpPr>
          <p:cNvPr id="17" name="numero 4"/>
          <p:cNvSpPr/>
          <p:nvPr/>
        </p:nvSpPr>
        <p:spPr>
          <a:xfrm>
            <a:off x="7580376" y="2011680"/>
            <a:ext cx="502920" cy="502920"/>
          </a:xfrm>
          <a:prstGeom prst="ellipse">
            <a:avLst/>
          </a:prstGeom>
          <a:solidFill>
            <a:schemeClr val="accent1"/>
          </a:solidFill>
          <a:ln/>
        </p:spPr>
      </p:sp>
      <p:sp>
        <p:nvSpPr>
          <p:cNvPr id="18" name="Text 16"/>
          <p:cNvSpPr txBox="1"/>
          <p:nvPr/>
        </p:nvSpPr>
        <p:spPr>
          <a:xfrm>
            <a:off x="7580376"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Text 17"/>
          <p:cNvSpPr txBox="1"/>
          <p:nvPr/>
        </p:nvSpPr>
        <p:spPr>
          <a:xfrm>
            <a:off x="7580376" y="2697480"/>
            <a:ext cx="1536192" cy="15544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Preservar</a:t>
            </a:r>
            <a:endParaRPr lang="en-US" sz="1700" dirty="0"/>
          </a:p>
          <a:p>
            <a:pPr indent="0" marL="0">
              <a:spcAft>
                <a:spcPts val="600"/>
              </a:spcAft>
              <a:buNone/>
            </a:pPr>
            <a:r>
              <a:rPr lang="en-US" sz="1400" dirty="0">
                <a:solidFill>
                  <a:schemeClr val="tx2"/>
                </a:solidFill>
              </a:rPr>
              <a:t>El lugar y las evidencias según el procedimiento.</a:t>
            </a:r>
            <a:endParaRPr lang="en-US" sz="1700" dirty="0"/>
          </a:p>
        </p:txBody>
      </p:sp>
      <p:sp>
        <p:nvSpPr>
          <p:cNvPr id="20" name="paso 5"/>
          <p:cNvSpPr/>
          <p:nvPr/>
        </p:nvSpPr>
        <p:spPr>
          <a:xfrm>
            <a:off x="9619488" y="1783080"/>
            <a:ext cx="1993392" cy="2651760"/>
          </a:xfrm>
          <a:prstGeom prst="roundRect">
            <a:avLst>
              <a:gd name="adj" fmla="val 5505"/>
            </a:avLst>
          </a:prstGeom>
          <a:solidFill>
            <a:schemeClr val="bg2"/>
          </a:solidFill>
          <a:ln/>
        </p:spPr>
      </p:sp>
      <p:sp>
        <p:nvSpPr>
          <p:cNvPr id="21" name="numero 5"/>
          <p:cNvSpPr/>
          <p:nvPr/>
        </p:nvSpPr>
        <p:spPr>
          <a:xfrm>
            <a:off x="9848088" y="2011680"/>
            <a:ext cx="502920" cy="502920"/>
          </a:xfrm>
          <a:prstGeom prst="ellipse">
            <a:avLst/>
          </a:prstGeom>
          <a:solidFill>
            <a:schemeClr val="accent1"/>
          </a:solidFill>
          <a:ln/>
        </p:spPr>
      </p:sp>
      <p:sp>
        <p:nvSpPr>
          <p:cNvPr id="22" name="Text 20"/>
          <p:cNvSpPr txBox="1"/>
          <p:nvPr/>
        </p:nvSpPr>
        <p:spPr>
          <a:xfrm>
            <a:off x="9848088"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3" name="Text 21"/>
          <p:cNvSpPr txBox="1"/>
          <p:nvPr/>
        </p:nvSpPr>
        <p:spPr>
          <a:xfrm>
            <a:off x="9848088" y="2697480"/>
            <a:ext cx="1536192" cy="155448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Investigar</a:t>
            </a:r>
            <a:endParaRPr lang="en-US" sz="1700" dirty="0"/>
          </a:p>
          <a:p>
            <a:pPr indent="0" marL="0">
              <a:spcAft>
                <a:spcPts val="600"/>
              </a:spcAft>
              <a:buNone/>
            </a:pPr>
            <a:r>
              <a:rPr lang="en-US" sz="1400" dirty="0">
                <a:solidFill>
                  <a:schemeClr val="tx2"/>
                </a:solidFill>
              </a:rPr>
              <a:t>Relatar los hechos; buscar causas, no culpables.</a:t>
            </a:r>
            <a:endParaRPr lang="en-US" sz="1700" dirty="0"/>
          </a:p>
        </p:txBody>
      </p:sp>
      <p:sp>
        <p:nvSpPr>
          <p:cNvPr id="24" name="recuadro actividad"/>
          <p:cNvSpPr/>
          <p:nvPr/>
        </p:nvSpPr>
        <p:spPr>
          <a:xfrm>
            <a:off x="548640" y="4709160"/>
            <a:ext cx="11064240" cy="1371600"/>
          </a:xfrm>
          <a:prstGeom prst="roundRect">
            <a:avLst>
              <a:gd name="adj" fmla="val 8000"/>
            </a:avLst>
          </a:prstGeom>
          <a:solidFill>
            <a:schemeClr val="accent6"/>
          </a:solidFill>
          <a:ln/>
        </p:spPr>
      </p:sp>
      <p:sp>
        <p:nvSpPr>
          <p:cNvPr id="25" name="icono FaSearch"/>
          <p:cNvSpPr/>
          <p:nvPr/>
        </p:nvSpPr>
        <p:spPr>
          <a:xfrm>
            <a:off x="777240" y="5097780"/>
            <a:ext cx="594360" cy="594360"/>
          </a:xfrm>
          <a:prstGeom prst="ellipse">
            <a:avLst/>
          </a:prstGeom>
          <a:solidFill>
            <a:schemeClr val="accent1"/>
          </a:solidFill>
          <a:ln/>
        </p:spPr>
      </p:sp>
      <p:pic>
        <p:nvPicPr>
          <p:cNvPr id="26" name="Image 0" descr="FaSearch">    </p:cNvPr>
          <p:cNvPicPr>
            <a:picLocks noChangeAspect="1"/>
          </p:cNvPicPr>
          <p:nvPr/>
        </p:nvPicPr>
        <p:blipFill>
          <a:blip r:embed="rId1"/>
          <a:stretch>
            <a:fillRect/>
          </a:stretch>
        </p:blipFill>
        <p:spPr>
          <a:xfrm>
            <a:off x="919886" y="5240426"/>
            <a:ext cx="309067" cy="309067"/>
          </a:xfrm>
          <a:prstGeom prst="rect">
            <a:avLst/>
          </a:prstGeom>
        </p:spPr>
      </p:pic>
      <p:sp>
        <p:nvSpPr>
          <p:cNvPr id="27" name="Text 24"/>
          <p:cNvSpPr txBox="1"/>
          <p:nvPr/>
        </p:nvSpPr>
        <p:spPr>
          <a:xfrm>
            <a:off x="1600200" y="4873752"/>
            <a:ext cx="9784080" cy="1097280"/>
          </a:xfrm>
          <a:prstGeom prst="rect">
            <a:avLst/>
          </a:prstGeom>
          <a:noFill/>
          <a:ln/>
        </p:spPr>
        <p:txBody>
          <a:bodyPr wrap="square" lIns="0" tIns="0" rIns="0" bIns="0" rtlCol="0" anchor="ctr"/>
          <a:lstStyle/>
          <a:p>
            <a:pPr indent="0" marL="0">
              <a:buNone/>
            </a:pPr>
            <a:r>
              <a:rPr lang="en-US" sz="1500" b="1" dirty="0">
                <a:solidFill>
                  <a:schemeClr val="tx1"/>
                </a:solidFill>
              </a:rPr>
              <a:t>Ejercicio: los 5 porqués</a:t>
            </a:r>
            <a:endParaRPr lang="en-US" sz="1500" dirty="0"/>
          </a:p>
          <a:p>
            <a:pPr indent="0" marL="0">
              <a:buNone/>
            </a:pPr>
            <a:r>
              <a:rPr lang="en-US" sz="1400" dirty="0">
                <a:solidFill>
                  <a:schemeClr val="tx1"/>
                </a:solidFill>
              </a:rPr>
              <a:t>Con un caso de la apertura, pregunte «¿por qué?» cinco veces hasta llegar a una causa que el capataz pueda corregir. Los cuasi accidentes también se reportan: son avisos gratuitos.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EVALUACIÓN · 10 MIN</a:t>
            </a:r>
            <a:endParaRPr lang="en-US" sz="1200" dirty="0"/>
          </a:p>
        </p:txBody>
      </p:sp>
      <p:sp>
        <p:nvSpPr>
          <p:cNvPr id="3" name="Text 0"/>
          <p:cNvSpPr/>
          <p:nvPr>
            <p:ph idx="101" type="title" hasCustomPrompt="1"/>
          </p:nvPr>
        </p:nvSpPr>
        <p:spPr>
          <a:xfrm>
            <a:off x="548640" y="658368"/>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Evaluación final</a:t>
            </a:r>
            <a:endParaRPr lang="en-US" sz="3400" dirty="0"/>
          </a:p>
        </p:txBody>
      </p:sp>
      <p:sp>
        <p:nvSpPr>
          <p:cNvPr id="4" name="paso 1"/>
          <p:cNvSpPr/>
          <p:nvPr/>
        </p:nvSpPr>
        <p:spPr>
          <a:xfrm>
            <a:off x="548640" y="1783080"/>
            <a:ext cx="3505200" cy="2011680"/>
          </a:xfrm>
          <a:prstGeom prst="roundRect">
            <a:avLst>
              <a:gd name="adj" fmla="val 5455"/>
            </a:avLst>
          </a:prstGeom>
          <a:solidFill>
            <a:schemeClr val="bg2"/>
          </a:solidFill>
          <a:ln/>
        </p:spPr>
      </p:sp>
      <p:sp>
        <p:nvSpPr>
          <p:cNvPr id="5" name="numero 1"/>
          <p:cNvSpPr/>
          <p:nvPr/>
        </p:nvSpPr>
        <p:spPr>
          <a:xfrm>
            <a:off x="777240" y="2011680"/>
            <a:ext cx="502920" cy="502920"/>
          </a:xfrm>
          <a:prstGeom prst="ellipse">
            <a:avLst/>
          </a:prstGeom>
          <a:solidFill>
            <a:schemeClr val="accent1"/>
          </a:solidFill>
          <a:ln/>
        </p:spPr>
      </p:sp>
      <p:sp>
        <p:nvSpPr>
          <p:cNvPr id="6" name="Text 4"/>
          <p:cNvSpPr txBox="1"/>
          <p:nvPr/>
        </p:nvSpPr>
        <p:spPr>
          <a:xfrm>
            <a:off x="77724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777240" y="2697480"/>
            <a:ext cx="3048000" cy="9144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10 preguntas</a:t>
            </a:r>
            <a:endParaRPr lang="en-US" sz="1700" dirty="0"/>
          </a:p>
          <a:p>
            <a:pPr indent="0" marL="0">
              <a:spcAft>
                <a:spcPts val="600"/>
              </a:spcAft>
              <a:buNone/>
            </a:pPr>
            <a:r>
              <a:rPr lang="en-US" sz="1400" dirty="0">
                <a:solidFill>
                  <a:schemeClr val="tx2"/>
                </a:solidFill>
              </a:rPr>
              <a:t>de selección múltiple sobre los seis módulos.</a:t>
            </a:r>
            <a:endParaRPr lang="en-US" sz="1700" dirty="0"/>
          </a:p>
        </p:txBody>
      </p:sp>
      <p:sp>
        <p:nvSpPr>
          <p:cNvPr id="8" name="paso 2"/>
          <p:cNvSpPr/>
          <p:nvPr/>
        </p:nvSpPr>
        <p:spPr>
          <a:xfrm>
            <a:off x="4328160" y="1783080"/>
            <a:ext cx="3505200" cy="2011680"/>
          </a:xfrm>
          <a:prstGeom prst="roundRect">
            <a:avLst>
              <a:gd name="adj" fmla="val 5455"/>
            </a:avLst>
          </a:prstGeom>
          <a:solidFill>
            <a:schemeClr val="bg2"/>
          </a:solidFill>
          <a:ln/>
        </p:spPr>
      </p:sp>
      <p:sp>
        <p:nvSpPr>
          <p:cNvPr id="9" name="numero 2"/>
          <p:cNvSpPr/>
          <p:nvPr/>
        </p:nvSpPr>
        <p:spPr>
          <a:xfrm>
            <a:off x="4556760" y="2011680"/>
            <a:ext cx="502920" cy="502920"/>
          </a:xfrm>
          <a:prstGeom prst="ellipse">
            <a:avLst/>
          </a:prstGeom>
          <a:solidFill>
            <a:schemeClr val="accent1"/>
          </a:solidFill>
          <a:ln/>
        </p:spPr>
      </p:sp>
      <p:sp>
        <p:nvSpPr>
          <p:cNvPr id="10" name="Text 8"/>
          <p:cNvSpPr txBox="1"/>
          <p:nvPr/>
        </p:nvSpPr>
        <p:spPr>
          <a:xfrm>
            <a:off x="455676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9"/>
          <p:cNvSpPr txBox="1"/>
          <p:nvPr/>
        </p:nvSpPr>
        <p:spPr>
          <a:xfrm>
            <a:off x="4556760" y="2697480"/>
            <a:ext cx="3048000" cy="9144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Aprobación</a:t>
            </a:r>
            <a:endParaRPr lang="en-US" sz="1700" dirty="0"/>
          </a:p>
          <a:p>
            <a:pPr indent="0" marL="0">
              <a:spcAft>
                <a:spcPts val="600"/>
              </a:spcAft>
              <a:buNone/>
            </a:pPr>
            <a:r>
              <a:rPr lang="en-US" sz="1400" dirty="0">
                <a:solidFill>
                  <a:schemeClr val="tx2"/>
                </a:solidFill>
              </a:rPr>
              <a:t>con 8 respuestas correctas o más.</a:t>
            </a:r>
            <a:endParaRPr lang="en-US" sz="1700" dirty="0"/>
          </a:p>
        </p:txBody>
      </p:sp>
      <p:sp>
        <p:nvSpPr>
          <p:cNvPr id="12" name="paso 3"/>
          <p:cNvSpPr/>
          <p:nvPr/>
        </p:nvSpPr>
        <p:spPr>
          <a:xfrm>
            <a:off x="8107680" y="1783080"/>
            <a:ext cx="3505200" cy="2011680"/>
          </a:xfrm>
          <a:prstGeom prst="roundRect">
            <a:avLst>
              <a:gd name="adj" fmla="val 5455"/>
            </a:avLst>
          </a:prstGeom>
          <a:solidFill>
            <a:schemeClr val="bg2"/>
          </a:solidFill>
          <a:ln/>
        </p:spPr>
      </p:sp>
      <p:sp>
        <p:nvSpPr>
          <p:cNvPr id="13" name="numero 3"/>
          <p:cNvSpPr/>
          <p:nvPr/>
        </p:nvSpPr>
        <p:spPr>
          <a:xfrm>
            <a:off x="8336280" y="2011680"/>
            <a:ext cx="502920" cy="502920"/>
          </a:xfrm>
          <a:prstGeom prst="ellipse">
            <a:avLst/>
          </a:prstGeom>
          <a:solidFill>
            <a:schemeClr val="accent1"/>
          </a:solidFill>
          <a:ln/>
        </p:spPr>
      </p:sp>
      <p:sp>
        <p:nvSpPr>
          <p:cNvPr id="14" name="Text 12"/>
          <p:cNvSpPr txBox="1"/>
          <p:nvPr/>
        </p:nvSpPr>
        <p:spPr>
          <a:xfrm>
            <a:off x="8336280" y="20116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3"/>
          <p:cNvSpPr txBox="1"/>
          <p:nvPr/>
        </p:nvSpPr>
        <p:spPr>
          <a:xfrm>
            <a:off x="8336280" y="2697480"/>
            <a:ext cx="3048000" cy="9144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Formato</a:t>
            </a:r>
            <a:endParaRPr lang="en-US" sz="1700" dirty="0"/>
          </a:p>
          <a:p>
            <a:pPr indent="0" marL="0">
              <a:spcAft>
                <a:spcPts val="600"/>
              </a:spcAft>
              <a:buNone/>
            </a:pPr>
            <a:r>
              <a:rPr lang="en-US" sz="1400" dirty="0">
                <a:solidFill>
                  <a:schemeClr val="tx2"/>
                </a:solidFill>
              </a:rPr>
              <a:t>digital (página del taller) o impreso.</a:t>
            </a:r>
            <a:endParaRPr lang="en-US" sz="1700" dirty="0"/>
          </a:p>
        </p:txBody>
      </p:sp>
      <p:sp>
        <p:nvSpPr>
          <p:cNvPr id="16" name="temas evaluados"/>
          <p:cNvSpPr/>
          <p:nvPr/>
        </p:nvSpPr>
        <p:spPr>
          <a:xfrm>
            <a:off x="548640" y="4069080"/>
            <a:ext cx="11064240" cy="2011680"/>
          </a:xfrm>
          <a:prstGeom prst="roundRect">
            <a:avLst>
              <a:gd name="adj" fmla="val 5455"/>
            </a:avLst>
          </a:prstGeom>
          <a:solidFill>
            <a:schemeClr val="bg2"/>
          </a:solidFill>
          <a:ln/>
        </p:spPr>
      </p:sp>
      <p:sp>
        <p:nvSpPr>
          <p:cNvPr id="17" name="icono FaPencilAlt"/>
          <p:cNvSpPr/>
          <p:nvPr/>
        </p:nvSpPr>
        <p:spPr>
          <a:xfrm>
            <a:off x="822960" y="4343400"/>
            <a:ext cx="640080" cy="640080"/>
          </a:xfrm>
          <a:prstGeom prst="ellipse">
            <a:avLst/>
          </a:prstGeom>
          <a:solidFill>
            <a:schemeClr val="accent1"/>
          </a:solidFill>
          <a:ln/>
        </p:spPr>
      </p:sp>
      <p:pic>
        <p:nvPicPr>
          <p:cNvPr id="18" name="Image 0" descr="FaPencilAlt">    </p:cNvPr>
          <p:cNvPicPr>
            <a:picLocks noChangeAspect="1"/>
          </p:cNvPicPr>
          <p:nvPr/>
        </p:nvPicPr>
        <p:blipFill>
          <a:blip r:embed="rId1"/>
          <a:stretch>
            <a:fillRect/>
          </a:stretch>
        </p:blipFill>
        <p:spPr>
          <a:xfrm>
            <a:off x="976579" y="4497019"/>
            <a:ext cx="332842" cy="332842"/>
          </a:xfrm>
          <a:prstGeom prst="rect">
            <a:avLst/>
          </a:prstGeom>
        </p:spPr>
      </p:pic>
      <p:sp>
        <p:nvSpPr>
          <p:cNvPr id="19" name="Text 16"/>
          <p:cNvSpPr txBox="1"/>
          <p:nvPr/>
        </p:nvSpPr>
        <p:spPr>
          <a:xfrm>
            <a:off x="1691640" y="4343400"/>
            <a:ext cx="5486400" cy="640080"/>
          </a:xfrm>
          <a:prstGeom prst="rect">
            <a:avLst/>
          </a:prstGeom>
          <a:noFill/>
          <a:ln/>
        </p:spPr>
        <p:txBody>
          <a:bodyPr wrap="square" lIns="0" tIns="0" rIns="0" bIns="0" rtlCol="0" anchor="ctr"/>
          <a:lstStyle/>
          <a:p>
            <a:pPr indent="0" marL="0">
              <a:buNone/>
            </a:pPr>
            <a:r>
              <a:rPr lang="en-US" sz="1800" b="1" dirty="0">
                <a:solidFill>
                  <a:schemeClr val="tx1"/>
                </a:solidFill>
              </a:rPr>
              <a:t>Temas evaluados</a:t>
            </a:r>
            <a:endParaRPr lang="en-US" sz="1800" dirty="0"/>
          </a:p>
        </p:txBody>
      </p:sp>
      <p:sp>
        <p:nvSpPr>
          <p:cNvPr id="20" name="Text 17"/>
          <p:cNvSpPr txBox="1"/>
          <p:nvPr/>
        </p:nvSpPr>
        <p:spPr>
          <a:xfrm>
            <a:off x="822960" y="5120640"/>
            <a:ext cx="10515600" cy="822960"/>
          </a:xfrm>
          <a:prstGeom prst="rect">
            <a:avLst/>
          </a:prstGeom>
          <a:noFill/>
          <a:ln/>
        </p:spPr>
        <p:txBody>
          <a:bodyPr wrap="square" lIns="0" tIns="0" rIns="0" bIns="0" rtlCol="0" anchor="t"/>
          <a:lstStyle/>
          <a:p>
            <a:pPr indent="0" marL="0">
              <a:buNone/>
            </a:pPr>
            <a:r>
              <a:rPr lang="en-US" sz="1500" dirty="0">
                <a:solidFill>
                  <a:schemeClr val="tx1"/>
                </a:solidFill>
              </a:rPr>
              <a:t>Jerarquía de controles · controles críticos · ART · trabajo en altura · izaje · lista pre-uso · observación de conducta · cuasi accidentes · art. 184 bis · respuesta ante un accidente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320040"/>
          </a:xfrm>
          <a:prstGeom prst="rect">
            <a:avLst/>
          </a:prstGeom>
          <a:noFill/>
          <a:ln/>
        </p:spPr>
        <p:txBody>
          <a:bodyPr wrap="square" lIns="0" tIns="0" rIns="0" bIns="0" rtlCol="0" anchor="t"/>
          <a:lstStyle/>
          <a:p>
            <a:pPr indent="0" marL="0">
              <a:buNone/>
            </a:pPr>
            <a:r>
              <a:rPr lang="en-US" sz="1200" b="1" dirty="0">
                <a:solidFill>
                  <a:schemeClr val="accent1"/>
                </a:solidFill>
              </a:rPr>
              <a:t>CIERRE · MI COMPROMISO</a:t>
            </a:r>
            <a:endParaRPr lang="en-US" sz="1200" dirty="0"/>
          </a:p>
        </p:txBody>
      </p:sp>
      <p:sp>
        <p:nvSpPr>
          <p:cNvPr id="3" name="Text 0"/>
          <p:cNvSpPr/>
          <p:nvPr>
            <p:ph idx="101" type="title" hasCustomPrompt="1"/>
          </p:nvPr>
        </p:nvSpPr>
        <p:spPr>
          <a:xfrm>
            <a:off x="548640" y="1463040"/>
            <a:ext cx="6949440" cy="2377440"/>
          </a:xfrm>
          <a:prstGeom prst="rect">
            <a:avLst/>
          </a:prstGeom>
          <a:noFill/>
          <a:ln/>
        </p:spPr>
        <p:txBody>
          <a:bodyPr wrap="square" lIns="0" tIns="0" rIns="0" bIns="0" rtlCol="0" anchor="t"/>
          <a:lstStyle/>
          <a:p>
            <a:pPr algn="l" indent="0" marL="0">
              <a:buNone/>
            </a:pPr>
            <a:r>
              <a:rPr lang="en-US" sz="4000" b="1" dirty="0">
                <a:solidFill>
                  <a:schemeClr val="bg1"/>
                </a:solidFill>
              </a:rPr>
              <a:t>¿Qué hará distinto el lunes?</a:t>
            </a:r>
            <a:endParaRPr lang="en-US" sz="4000" dirty="0"/>
          </a:p>
        </p:txBody>
      </p:sp>
      <p:sp>
        <p:nvSpPr>
          <p:cNvPr id="4" name="Text 2"/>
          <p:cNvSpPr txBox="1"/>
          <p:nvPr/>
        </p:nvSpPr>
        <p:spPr>
          <a:xfrm>
            <a:off x="548640" y="2743200"/>
            <a:ext cx="6949440" cy="2560320"/>
          </a:xfrm>
          <a:prstGeom prst="rect">
            <a:avLst/>
          </a:prstGeom>
          <a:noFill/>
          <a:ln/>
        </p:spPr>
        <p:txBody>
          <a:bodyPr wrap="square" lIns="0" tIns="0" rIns="0" bIns="0" rtlCol="0" anchor="t"/>
          <a:lstStyle/>
          <a:p>
            <a:pPr indent="0" marL="0">
              <a:spcAft>
                <a:spcPts val="1200"/>
              </a:spcAft>
              <a:buNone/>
            </a:pPr>
            <a:r>
              <a:rPr lang="en-US" sz="1800" dirty="0">
                <a:solidFill>
                  <a:schemeClr val="bg1"/>
                </a:solidFill>
              </a:rPr>
              <a:t>Cada capataz escribe y comparte en voz alta un compromiso concreto para la próxima semana.</a:t>
            </a:r>
            <a:endParaRPr lang="en-US" sz="1800" dirty="0"/>
          </a:p>
          <a:p>
            <a:pPr indent="0" marL="0">
              <a:spcAft>
                <a:spcPts val="1200"/>
              </a:spcAft>
              <a:buNone/>
            </a:pPr>
            <a:r>
              <a:rPr lang="en-US" sz="1600" i="1" dirty="0">
                <a:solidFill>
                  <a:schemeClr val="accent1"/>
                </a:solidFill>
              </a:rPr>
              <a:t>«Haré la charla diaria en el frente de trabajo y terminaré con una pregunta.»</a:t>
            </a:r>
            <a:endParaRPr lang="en-US" sz="1800" dirty="0"/>
          </a:p>
          <a:p>
            <a:pPr indent="0" marL="0">
              <a:spcAft>
                <a:spcPts val="1200"/>
              </a:spcAft>
              <a:buNone/>
            </a:pPr>
            <a:r>
              <a:rPr lang="en-US" sz="1600" i="1" dirty="0">
                <a:solidFill>
                  <a:schemeClr val="accent1"/>
                </a:solidFill>
              </a:rPr>
              <a:t>«Realizaré dos observaciones de conducta por semana y las registraré.»</a:t>
            </a:r>
            <a:endParaRPr lang="en-US" sz="1800" dirty="0"/>
          </a:p>
        </p:txBody>
      </p:sp>
      <p:sp>
        <p:nvSpPr>
          <p:cNvPr id="5" name="icono FaHandshake"/>
          <p:cNvSpPr/>
          <p:nvPr/>
        </p:nvSpPr>
        <p:spPr>
          <a:xfrm>
            <a:off x="8321040" y="1737360"/>
            <a:ext cx="3017520" cy="3017520"/>
          </a:xfrm>
          <a:prstGeom prst="ellipse">
            <a:avLst/>
          </a:prstGeom>
          <a:solidFill>
            <a:schemeClr val="accent1"/>
          </a:solidFill>
          <a:ln/>
        </p:spPr>
      </p:sp>
      <p:pic>
        <p:nvPicPr>
          <p:cNvPr id="6" name="Image 0" descr="FaHandshake">    </p:cNvPr>
          <p:cNvPicPr>
            <a:picLocks noChangeAspect="1"/>
          </p:cNvPicPr>
          <p:nvPr/>
        </p:nvPicPr>
        <p:blipFill>
          <a:blip r:embed="rId1"/>
          <a:stretch>
            <a:fillRect/>
          </a:stretch>
        </p:blipFill>
        <p:spPr>
          <a:xfrm>
            <a:off x="9045245" y="2461565"/>
            <a:ext cx="1569110" cy="156911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revención Terreno">
  <a:themeElements>
    <a:clrScheme name="Prevención Terreno">
      <a:dk1>
        <a:srgbClr val="1F2933"/>
      </a:dk1>
      <a:lt1>
        <a:srgbClr val="FFFFFF"/>
      </a:lt1>
      <a:dk2>
        <a:srgbClr val="475569"/>
      </a:dk2>
      <a:lt2>
        <a:srgbClr val="F1F5F9"/>
      </a:lt2>
      <a:accent1>
        <a:srgbClr val="F59E0B"/>
      </a:accent1>
      <a:accent2>
        <a:srgbClr val="DC2626"/>
      </a:accent2>
      <a:accent3>
        <a:srgbClr val="059669"/>
      </a:accent3>
      <a:accent4>
        <a:srgbClr val="0F172A"/>
      </a:accent4>
      <a:accent5>
        <a:srgbClr val="94A3B8"/>
      </a:accent5>
      <a:accent6>
        <a:srgbClr val="FEF3C7"/>
      </a:accent6>
      <a:hlink>
        <a:srgbClr val="B45309"/>
      </a:hlink>
      <a:folHlink>
        <a:srgbClr val="92400E"/>
      </a:folHlink>
    </a:clrScheme>
    <a:fontScheme name="Prevención Terren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de Prevención de Riesgos para Capataces</dc:title>
  <dc:subject>PptxGenJS Presentation</dc:subject>
  <dc:creator>Prevención de Riesgos</dc:creator>
  <cp:lastModifiedBy>Prevención de Riesgos</cp:lastModifiedBy>
  <cp:revision>1</cp:revision>
  <dcterms:created xsi:type="dcterms:W3CDTF">2026-10-22T21:44:01Z</dcterms:created>
  <dcterms:modified xsi:type="dcterms:W3CDTF">2026-10-22T21:44:01Z</dcterms:modified>
</cp:coreProperties>
</file>